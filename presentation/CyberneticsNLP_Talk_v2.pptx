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3129"/>
  </p:normalViewPr>
  <p:slideViewPr>
    <p:cSldViewPr snapToGrid="0" snapToObjects="1">
      <p:cViewPr varScale="1">
        <p:scale>
          <a:sx n="140" d="100"/>
          <a:sy n="140" d="100"/>
        </p:scale>
        <p:origin x="1384" y="19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2C7017ED-2D8C-4973-B524-FD7C29B480D6}" type="datetimeFigureOut">
              <a:t>4/14/26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D5ECA9D7-41BA-4B16-81E9-1C2E4446407D}" type="slidenum">
              <a:t>‹#›</a:t>
            </a:fld>
            <a:endParaRPr lang="en-US"/>
          </a:p>
        </p:txBody>
      </p:sp>
    </p:spTree>
    <p:extLst>
      <p:ext uri="{BB962C8B-B14F-4D97-AF65-F5344CB8AC3E}">
        <p14:creationId xmlns:p14="http://schemas.microsoft.com/office/powerpoint/2010/main" val="3037688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https://v0-typoglycemia-tool.vercel.app/</a:t>
            </a:r>
            <a:endParaRPr lang="en-US" dirty="0"/>
          </a:p>
          <a:p>
            <a:endParaRPr lang="en-US" dirty="0"/>
          </a:p>
          <a:p>
            <a:endParaRPr lang="en-US" dirty="0"/>
          </a:p>
          <a:p>
            <a:r>
              <a:rPr lang="en-US" dirty="0" err="1"/>
              <a:t>Typoglycemia</a:t>
            </a:r>
            <a:r>
              <a:rPr lang="en-US" dirty="0"/>
              <a:t xml:space="preserve"> tricks the brain because we don't read every letter sequentially. Instead, our brains use pattern recognition to process familiar word shapes and key letter positions (especially first and last letters). This allows us to read quickly and even understand text when the interior letters are scrambled or contain typos.</a:t>
            </a:r>
          </a:p>
        </p:txBody>
      </p:sp>
      <p:sp>
        <p:nvSpPr>
          <p:cNvPr id="4" name="Slide Number Placeholder 3"/>
          <p:cNvSpPr>
            <a:spLocks noGrp="1"/>
          </p:cNvSpPr>
          <p:nvPr>
            <p:ph type="sldNum" sz="quarter" idx="5"/>
          </p:nvPr>
        </p:nvSpPr>
        <p:spPr/>
        <p:txBody>
          <a:bodyPr/>
          <a:lstStyle/>
          <a:p>
            <a:fld id="{D5ECA9D7-41BA-4B16-81E9-1C2E4446407D}" type="slidenum">
              <a:rPr lang="en-AU" smtClean="0"/>
              <a:t>24</a:t>
            </a:fld>
            <a:endParaRPr lang="en-AU"/>
          </a:p>
        </p:txBody>
      </p:sp>
    </p:spTree>
    <p:extLst>
      <p:ext uri="{BB962C8B-B14F-4D97-AF65-F5344CB8AC3E}">
        <p14:creationId xmlns:p14="http://schemas.microsoft.com/office/powerpoint/2010/main" val="2664667775"/>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E4B"/>
        </a:solidFill>
        <a:effectLst/>
      </p:bgPr>
    </p:bg>
    <p:spTree>
      <p:nvGrpSpPr>
        <p:cNvPr id="1" name=""/>
        <p:cNvGrpSpPr/>
        <p:nvPr/>
      </p:nvGrpSpPr>
      <p:grpSpPr>
        <a:xfrm>
          <a:off x="0" y="0"/>
          <a:ext cx="0" cy="0"/>
          <a:chOff x="0" y="0"/>
          <a:chExt cx="0" cy="0"/>
        </a:xfrm>
      </p:grpSpPr>
      <p:sp>
        <p:nvSpPr>
          <p:cNvPr id="2" name="Shape 0"/>
          <p:cNvSpPr/>
          <p:nvPr/>
        </p:nvSpPr>
        <p:spPr>
          <a:xfrm>
            <a:off x="5303520" y="182880"/>
            <a:ext cx="91440" cy="91440"/>
          </a:xfrm>
          <a:prstGeom prst="ellipse">
            <a:avLst/>
          </a:prstGeom>
          <a:solidFill>
            <a:srgbClr val="0D9488">
              <a:alpha val="35000"/>
            </a:srgbClr>
          </a:solidFill>
          <a:ln/>
        </p:spPr>
        <p:txBody>
          <a:bodyPr/>
          <a:lstStyle/>
          <a:p>
            <a:endParaRPr lang="en-US"/>
          </a:p>
        </p:txBody>
      </p:sp>
      <p:sp>
        <p:nvSpPr>
          <p:cNvPr id="3" name="Shape 1"/>
          <p:cNvSpPr/>
          <p:nvPr/>
        </p:nvSpPr>
        <p:spPr>
          <a:xfrm>
            <a:off x="5760720" y="182880"/>
            <a:ext cx="91440" cy="91440"/>
          </a:xfrm>
          <a:prstGeom prst="ellipse">
            <a:avLst/>
          </a:prstGeom>
          <a:solidFill>
            <a:srgbClr val="0D9488">
              <a:alpha val="35000"/>
            </a:srgbClr>
          </a:solidFill>
          <a:ln/>
        </p:spPr>
        <p:txBody>
          <a:bodyPr/>
          <a:lstStyle/>
          <a:p>
            <a:endParaRPr lang="en-US"/>
          </a:p>
        </p:txBody>
      </p:sp>
      <p:sp>
        <p:nvSpPr>
          <p:cNvPr id="4" name="Shape 2"/>
          <p:cNvSpPr/>
          <p:nvPr/>
        </p:nvSpPr>
        <p:spPr>
          <a:xfrm>
            <a:off x="6217920" y="182880"/>
            <a:ext cx="91440" cy="91440"/>
          </a:xfrm>
          <a:prstGeom prst="ellipse">
            <a:avLst/>
          </a:prstGeom>
          <a:solidFill>
            <a:srgbClr val="0D9488">
              <a:alpha val="35000"/>
            </a:srgbClr>
          </a:solidFill>
          <a:ln/>
        </p:spPr>
        <p:txBody>
          <a:bodyPr/>
          <a:lstStyle/>
          <a:p>
            <a:endParaRPr lang="en-US"/>
          </a:p>
        </p:txBody>
      </p:sp>
      <p:sp>
        <p:nvSpPr>
          <p:cNvPr id="5" name="Shape 3"/>
          <p:cNvSpPr/>
          <p:nvPr/>
        </p:nvSpPr>
        <p:spPr>
          <a:xfrm>
            <a:off x="6675120" y="182880"/>
            <a:ext cx="91440" cy="91440"/>
          </a:xfrm>
          <a:prstGeom prst="ellipse">
            <a:avLst/>
          </a:prstGeom>
          <a:solidFill>
            <a:srgbClr val="0D9488">
              <a:alpha val="35000"/>
            </a:srgbClr>
          </a:solidFill>
          <a:ln/>
        </p:spPr>
        <p:txBody>
          <a:bodyPr/>
          <a:lstStyle/>
          <a:p>
            <a:endParaRPr lang="en-US"/>
          </a:p>
        </p:txBody>
      </p:sp>
      <p:sp>
        <p:nvSpPr>
          <p:cNvPr id="6" name="Shape 4"/>
          <p:cNvSpPr/>
          <p:nvPr/>
        </p:nvSpPr>
        <p:spPr>
          <a:xfrm>
            <a:off x="7132320" y="182880"/>
            <a:ext cx="91440" cy="91440"/>
          </a:xfrm>
          <a:prstGeom prst="ellipse">
            <a:avLst/>
          </a:prstGeom>
          <a:solidFill>
            <a:srgbClr val="0D9488">
              <a:alpha val="35000"/>
            </a:srgbClr>
          </a:solidFill>
          <a:ln/>
        </p:spPr>
        <p:txBody>
          <a:bodyPr/>
          <a:lstStyle/>
          <a:p>
            <a:endParaRPr lang="en-US"/>
          </a:p>
        </p:txBody>
      </p:sp>
      <p:sp>
        <p:nvSpPr>
          <p:cNvPr id="7" name="Shape 5"/>
          <p:cNvSpPr/>
          <p:nvPr/>
        </p:nvSpPr>
        <p:spPr>
          <a:xfrm>
            <a:off x="7589520" y="182880"/>
            <a:ext cx="91440" cy="91440"/>
          </a:xfrm>
          <a:prstGeom prst="ellipse">
            <a:avLst/>
          </a:prstGeom>
          <a:solidFill>
            <a:srgbClr val="0D9488">
              <a:alpha val="35000"/>
            </a:srgbClr>
          </a:solidFill>
          <a:ln/>
        </p:spPr>
        <p:txBody>
          <a:bodyPr/>
          <a:lstStyle/>
          <a:p>
            <a:endParaRPr lang="en-US"/>
          </a:p>
        </p:txBody>
      </p:sp>
      <p:sp>
        <p:nvSpPr>
          <p:cNvPr id="8" name="Shape 6"/>
          <p:cNvSpPr/>
          <p:nvPr/>
        </p:nvSpPr>
        <p:spPr>
          <a:xfrm>
            <a:off x="8046720" y="182880"/>
            <a:ext cx="91440" cy="91440"/>
          </a:xfrm>
          <a:prstGeom prst="ellipse">
            <a:avLst/>
          </a:prstGeom>
          <a:solidFill>
            <a:srgbClr val="0D9488">
              <a:alpha val="35000"/>
            </a:srgbClr>
          </a:solidFill>
          <a:ln/>
        </p:spPr>
        <p:txBody>
          <a:bodyPr/>
          <a:lstStyle/>
          <a:p>
            <a:endParaRPr lang="en-US"/>
          </a:p>
        </p:txBody>
      </p:sp>
      <p:sp>
        <p:nvSpPr>
          <p:cNvPr id="9" name="Shape 7"/>
          <p:cNvSpPr/>
          <p:nvPr/>
        </p:nvSpPr>
        <p:spPr>
          <a:xfrm>
            <a:off x="5303520" y="640080"/>
            <a:ext cx="91440" cy="91440"/>
          </a:xfrm>
          <a:prstGeom prst="ellipse">
            <a:avLst/>
          </a:prstGeom>
          <a:solidFill>
            <a:srgbClr val="0D9488">
              <a:alpha val="35000"/>
            </a:srgbClr>
          </a:solidFill>
          <a:ln/>
        </p:spPr>
        <p:txBody>
          <a:bodyPr/>
          <a:lstStyle/>
          <a:p>
            <a:endParaRPr lang="en-US"/>
          </a:p>
        </p:txBody>
      </p:sp>
      <p:sp>
        <p:nvSpPr>
          <p:cNvPr id="10" name="Shape 8"/>
          <p:cNvSpPr/>
          <p:nvPr/>
        </p:nvSpPr>
        <p:spPr>
          <a:xfrm>
            <a:off x="5760720" y="640080"/>
            <a:ext cx="91440" cy="91440"/>
          </a:xfrm>
          <a:prstGeom prst="ellipse">
            <a:avLst/>
          </a:prstGeom>
          <a:solidFill>
            <a:srgbClr val="0D9488">
              <a:alpha val="35000"/>
            </a:srgbClr>
          </a:solidFill>
          <a:ln/>
        </p:spPr>
        <p:txBody>
          <a:bodyPr/>
          <a:lstStyle/>
          <a:p>
            <a:endParaRPr lang="en-US"/>
          </a:p>
        </p:txBody>
      </p:sp>
      <p:sp>
        <p:nvSpPr>
          <p:cNvPr id="11" name="Shape 9"/>
          <p:cNvSpPr/>
          <p:nvPr/>
        </p:nvSpPr>
        <p:spPr>
          <a:xfrm>
            <a:off x="6217920" y="640080"/>
            <a:ext cx="91440" cy="91440"/>
          </a:xfrm>
          <a:prstGeom prst="ellipse">
            <a:avLst/>
          </a:prstGeom>
          <a:solidFill>
            <a:srgbClr val="0D9488">
              <a:alpha val="35000"/>
            </a:srgbClr>
          </a:solidFill>
          <a:ln/>
        </p:spPr>
        <p:txBody>
          <a:bodyPr/>
          <a:lstStyle/>
          <a:p>
            <a:endParaRPr lang="en-US"/>
          </a:p>
        </p:txBody>
      </p:sp>
      <p:sp>
        <p:nvSpPr>
          <p:cNvPr id="12" name="Shape 10"/>
          <p:cNvSpPr/>
          <p:nvPr/>
        </p:nvSpPr>
        <p:spPr>
          <a:xfrm>
            <a:off x="6675120" y="640080"/>
            <a:ext cx="91440" cy="91440"/>
          </a:xfrm>
          <a:prstGeom prst="ellipse">
            <a:avLst/>
          </a:prstGeom>
          <a:solidFill>
            <a:srgbClr val="0D9488">
              <a:alpha val="35000"/>
            </a:srgbClr>
          </a:solidFill>
          <a:ln/>
        </p:spPr>
        <p:txBody>
          <a:bodyPr/>
          <a:lstStyle/>
          <a:p>
            <a:endParaRPr lang="en-US"/>
          </a:p>
        </p:txBody>
      </p:sp>
      <p:sp>
        <p:nvSpPr>
          <p:cNvPr id="13" name="Shape 11"/>
          <p:cNvSpPr/>
          <p:nvPr/>
        </p:nvSpPr>
        <p:spPr>
          <a:xfrm>
            <a:off x="7132320" y="640080"/>
            <a:ext cx="91440" cy="91440"/>
          </a:xfrm>
          <a:prstGeom prst="ellipse">
            <a:avLst/>
          </a:prstGeom>
          <a:solidFill>
            <a:srgbClr val="0D9488">
              <a:alpha val="35000"/>
            </a:srgbClr>
          </a:solidFill>
          <a:ln/>
        </p:spPr>
        <p:txBody>
          <a:bodyPr/>
          <a:lstStyle/>
          <a:p>
            <a:endParaRPr lang="en-US"/>
          </a:p>
        </p:txBody>
      </p:sp>
      <p:sp>
        <p:nvSpPr>
          <p:cNvPr id="14" name="Shape 12"/>
          <p:cNvSpPr/>
          <p:nvPr/>
        </p:nvSpPr>
        <p:spPr>
          <a:xfrm>
            <a:off x="7589520" y="640080"/>
            <a:ext cx="91440" cy="91440"/>
          </a:xfrm>
          <a:prstGeom prst="ellipse">
            <a:avLst/>
          </a:prstGeom>
          <a:solidFill>
            <a:srgbClr val="0D9488">
              <a:alpha val="35000"/>
            </a:srgbClr>
          </a:solidFill>
          <a:ln/>
        </p:spPr>
        <p:txBody>
          <a:bodyPr/>
          <a:lstStyle/>
          <a:p>
            <a:endParaRPr lang="en-US"/>
          </a:p>
        </p:txBody>
      </p:sp>
      <p:sp>
        <p:nvSpPr>
          <p:cNvPr id="15" name="Shape 13"/>
          <p:cNvSpPr/>
          <p:nvPr/>
        </p:nvSpPr>
        <p:spPr>
          <a:xfrm>
            <a:off x="8046720" y="640080"/>
            <a:ext cx="91440" cy="91440"/>
          </a:xfrm>
          <a:prstGeom prst="ellipse">
            <a:avLst/>
          </a:prstGeom>
          <a:solidFill>
            <a:srgbClr val="0D9488">
              <a:alpha val="35000"/>
            </a:srgbClr>
          </a:solidFill>
          <a:ln/>
        </p:spPr>
        <p:txBody>
          <a:bodyPr/>
          <a:lstStyle/>
          <a:p>
            <a:endParaRPr lang="en-US"/>
          </a:p>
        </p:txBody>
      </p:sp>
      <p:sp>
        <p:nvSpPr>
          <p:cNvPr id="16" name="Shape 14"/>
          <p:cNvSpPr/>
          <p:nvPr/>
        </p:nvSpPr>
        <p:spPr>
          <a:xfrm>
            <a:off x="5303520" y="1097280"/>
            <a:ext cx="91440" cy="91440"/>
          </a:xfrm>
          <a:prstGeom prst="ellipse">
            <a:avLst/>
          </a:prstGeom>
          <a:solidFill>
            <a:srgbClr val="0D9488">
              <a:alpha val="35000"/>
            </a:srgbClr>
          </a:solidFill>
          <a:ln/>
        </p:spPr>
        <p:txBody>
          <a:bodyPr/>
          <a:lstStyle/>
          <a:p>
            <a:endParaRPr lang="en-US"/>
          </a:p>
        </p:txBody>
      </p:sp>
      <p:sp>
        <p:nvSpPr>
          <p:cNvPr id="17" name="Shape 15"/>
          <p:cNvSpPr/>
          <p:nvPr/>
        </p:nvSpPr>
        <p:spPr>
          <a:xfrm>
            <a:off x="5760720" y="1097280"/>
            <a:ext cx="91440" cy="91440"/>
          </a:xfrm>
          <a:prstGeom prst="ellipse">
            <a:avLst/>
          </a:prstGeom>
          <a:solidFill>
            <a:srgbClr val="0D9488">
              <a:alpha val="35000"/>
            </a:srgbClr>
          </a:solidFill>
          <a:ln/>
        </p:spPr>
        <p:txBody>
          <a:bodyPr/>
          <a:lstStyle/>
          <a:p>
            <a:endParaRPr lang="en-US"/>
          </a:p>
        </p:txBody>
      </p:sp>
      <p:sp>
        <p:nvSpPr>
          <p:cNvPr id="18" name="Shape 16"/>
          <p:cNvSpPr/>
          <p:nvPr/>
        </p:nvSpPr>
        <p:spPr>
          <a:xfrm>
            <a:off x="6217920" y="1097280"/>
            <a:ext cx="91440" cy="91440"/>
          </a:xfrm>
          <a:prstGeom prst="ellipse">
            <a:avLst/>
          </a:prstGeom>
          <a:solidFill>
            <a:srgbClr val="0D9488">
              <a:alpha val="35000"/>
            </a:srgbClr>
          </a:solidFill>
          <a:ln/>
        </p:spPr>
        <p:txBody>
          <a:bodyPr/>
          <a:lstStyle/>
          <a:p>
            <a:endParaRPr lang="en-US"/>
          </a:p>
        </p:txBody>
      </p:sp>
      <p:sp>
        <p:nvSpPr>
          <p:cNvPr id="19" name="Shape 17"/>
          <p:cNvSpPr/>
          <p:nvPr/>
        </p:nvSpPr>
        <p:spPr>
          <a:xfrm>
            <a:off x="6675120" y="1097280"/>
            <a:ext cx="91440" cy="91440"/>
          </a:xfrm>
          <a:prstGeom prst="ellipse">
            <a:avLst/>
          </a:prstGeom>
          <a:solidFill>
            <a:srgbClr val="0D9488">
              <a:alpha val="35000"/>
            </a:srgbClr>
          </a:solidFill>
          <a:ln/>
        </p:spPr>
        <p:txBody>
          <a:bodyPr/>
          <a:lstStyle/>
          <a:p>
            <a:endParaRPr lang="en-US"/>
          </a:p>
        </p:txBody>
      </p:sp>
      <p:sp>
        <p:nvSpPr>
          <p:cNvPr id="20" name="Shape 18"/>
          <p:cNvSpPr/>
          <p:nvPr/>
        </p:nvSpPr>
        <p:spPr>
          <a:xfrm>
            <a:off x="7132320" y="1097280"/>
            <a:ext cx="91440" cy="91440"/>
          </a:xfrm>
          <a:prstGeom prst="ellipse">
            <a:avLst/>
          </a:prstGeom>
          <a:solidFill>
            <a:srgbClr val="0D9488">
              <a:alpha val="35000"/>
            </a:srgbClr>
          </a:solidFill>
          <a:ln/>
        </p:spPr>
        <p:txBody>
          <a:bodyPr/>
          <a:lstStyle/>
          <a:p>
            <a:endParaRPr lang="en-US"/>
          </a:p>
        </p:txBody>
      </p:sp>
      <p:sp>
        <p:nvSpPr>
          <p:cNvPr id="21" name="Shape 19"/>
          <p:cNvSpPr/>
          <p:nvPr/>
        </p:nvSpPr>
        <p:spPr>
          <a:xfrm>
            <a:off x="7589520" y="1097280"/>
            <a:ext cx="91440" cy="91440"/>
          </a:xfrm>
          <a:prstGeom prst="ellipse">
            <a:avLst/>
          </a:prstGeom>
          <a:solidFill>
            <a:srgbClr val="0D9488">
              <a:alpha val="35000"/>
            </a:srgbClr>
          </a:solidFill>
          <a:ln/>
        </p:spPr>
        <p:txBody>
          <a:bodyPr/>
          <a:lstStyle/>
          <a:p>
            <a:endParaRPr lang="en-US"/>
          </a:p>
        </p:txBody>
      </p:sp>
      <p:sp>
        <p:nvSpPr>
          <p:cNvPr id="22" name="Shape 20"/>
          <p:cNvSpPr/>
          <p:nvPr/>
        </p:nvSpPr>
        <p:spPr>
          <a:xfrm>
            <a:off x="8046720" y="1097280"/>
            <a:ext cx="91440" cy="91440"/>
          </a:xfrm>
          <a:prstGeom prst="ellipse">
            <a:avLst/>
          </a:prstGeom>
          <a:solidFill>
            <a:srgbClr val="0D9488">
              <a:alpha val="35000"/>
            </a:srgbClr>
          </a:solidFill>
          <a:ln/>
        </p:spPr>
        <p:txBody>
          <a:bodyPr/>
          <a:lstStyle/>
          <a:p>
            <a:endParaRPr lang="en-US"/>
          </a:p>
        </p:txBody>
      </p:sp>
      <p:sp>
        <p:nvSpPr>
          <p:cNvPr id="23" name="Shape 21"/>
          <p:cNvSpPr/>
          <p:nvPr/>
        </p:nvSpPr>
        <p:spPr>
          <a:xfrm>
            <a:off x="5303520" y="1554480"/>
            <a:ext cx="91440" cy="91440"/>
          </a:xfrm>
          <a:prstGeom prst="ellipse">
            <a:avLst/>
          </a:prstGeom>
          <a:solidFill>
            <a:srgbClr val="0D9488">
              <a:alpha val="35000"/>
            </a:srgbClr>
          </a:solidFill>
          <a:ln/>
        </p:spPr>
        <p:txBody>
          <a:bodyPr/>
          <a:lstStyle/>
          <a:p>
            <a:endParaRPr lang="en-US"/>
          </a:p>
        </p:txBody>
      </p:sp>
      <p:sp>
        <p:nvSpPr>
          <p:cNvPr id="24" name="Shape 22"/>
          <p:cNvSpPr/>
          <p:nvPr/>
        </p:nvSpPr>
        <p:spPr>
          <a:xfrm>
            <a:off x="5760720" y="1554480"/>
            <a:ext cx="91440" cy="91440"/>
          </a:xfrm>
          <a:prstGeom prst="ellipse">
            <a:avLst/>
          </a:prstGeom>
          <a:solidFill>
            <a:srgbClr val="0D9488">
              <a:alpha val="35000"/>
            </a:srgbClr>
          </a:solidFill>
          <a:ln/>
        </p:spPr>
        <p:txBody>
          <a:bodyPr/>
          <a:lstStyle/>
          <a:p>
            <a:endParaRPr lang="en-US"/>
          </a:p>
        </p:txBody>
      </p:sp>
      <p:sp>
        <p:nvSpPr>
          <p:cNvPr id="25" name="Shape 23"/>
          <p:cNvSpPr/>
          <p:nvPr/>
        </p:nvSpPr>
        <p:spPr>
          <a:xfrm>
            <a:off x="6217920" y="1554480"/>
            <a:ext cx="91440" cy="91440"/>
          </a:xfrm>
          <a:prstGeom prst="ellipse">
            <a:avLst/>
          </a:prstGeom>
          <a:solidFill>
            <a:srgbClr val="0D9488">
              <a:alpha val="35000"/>
            </a:srgbClr>
          </a:solidFill>
          <a:ln/>
        </p:spPr>
        <p:txBody>
          <a:bodyPr/>
          <a:lstStyle/>
          <a:p>
            <a:endParaRPr lang="en-US"/>
          </a:p>
        </p:txBody>
      </p:sp>
      <p:sp>
        <p:nvSpPr>
          <p:cNvPr id="26" name="Shape 24"/>
          <p:cNvSpPr/>
          <p:nvPr/>
        </p:nvSpPr>
        <p:spPr>
          <a:xfrm>
            <a:off x="6675120" y="1554480"/>
            <a:ext cx="91440" cy="91440"/>
          </a:xfrm>
          <a:prstGeom prst="ellipse">
            <a:avLst/>
          </a:prstGeom>
          <a:solidFill>
            <a:srgbClr val="0D9488">
              <a:alpha val="35000"/>
            </a:srgbClr>
          </a:solidFill>
          <a:ln/>
        </p:spPr>
        <p:txBody>
          <a:bodyPr/>
          <a:lstStyle/>
          <a:p>
            <a:endParaRPr lang="en-US"/>
          </a:p>
        </p:txBody>
      </p:sp>
      <p:sp>
        <p:nvSpPr>
          <p:cNvPr id="27" name="Shape 25"/>
          <p:cNvSpPr/>
          <p:nvPr/>
        </p:nvSpPr>
        <p:spPr>
          <a:xfrm>
            <a:off x="7132320" y="1554480"/>
            <a:ext cx="91440" cy="91440"/>
          </a:xfrm>
          <a:prstGeom prst="ellipse">
            <a:avLst/>
          </a:prstGeom>
          <a:solidFill>
            <a:srgbClr val="0D9488">
              <a:alpha val="35000"/>
            </a:srgbClr>
          </a:solidFill>
          <a:ln/>
        </p:spPr>
        <p:txBody>
          <a:bodyPr/>
          <a:lstStyle/>
          <a:p>
            <a:endParaRPr lang="en-US"/>
          </a:p>
        </p:txBody>
      </p:sp>
      <p:sp>
        <p:nvSpPr>
          <p:cNvPr id="28" name="Shape 26"/>
          <p:cNvSpPr/>
          <p:nvPr/>
        </p:nvSpPr>
        <p:spPr>
          <a:xfrm>
            <a:off x="7589520" y="1554480"/>
            <a:ext cx="91440" cy="91440"/>
          </a:xfrm>
          <a:prstGeom prst="ellipse">
            <a:avLst/>
          </a:prstGeom>
          <a:solidFill>
            <a:srgbClr val="0D9488">
              <a:alpha val="35000"/>
            </a:srgbClr>
          </a:solidFill>
          <a:ln/>
        </p:spPr>
        <p:txBody>
          <a:bodyPr/>
          <a:lstStyle/>
          <a:p>
            <a:endParaRPr lang="en-US"/>
          </a:p>
        </p:txBody>
      </p:sp>
      <p:sp>
        <p:nvSpPr>
          <p:cNvPr id="29" name="Shape 27"/>
          <p:cNvSpPr/>
          <p:nvPr/>
        </p:nvSpPr>
        <p:spPr>
          <a:xfrm>
            <a:off x="8046720" y="1554480"/>
            <a:ext cx="91440" cy="91440"/>
          </a:xfrm>
          <a:prstGeom prst="ellipse">
            <a:avLst/>
          </a:prstGeom>
          <a:solidFill>
            <a:srgbClr val="0D9488">
              <a:alpha val="35000"/>
            </a:srgbClr>
          </a:solidFill>
          <a:ln/>
        </p:spPr>
        <p:txBody>
          <a:bodyPr/>
          <a:lstStyle/>
          <a:p>
            <a:endParaRPr lang="en-US"/>
          </a:p>
        </p:txBody>
      </p:sp>
      <p:sp>
        <p:nvSpPr>
          <p:cNvPr id="30" name="Shape 28"/>
          <p:cNvSpPr/>
          <p:nvPr/>
        </p:nvSpPr>
        <p:spPr>
          <a:xfrm>
            <a:off x="5303520" y="2011680"/>
            <a:ext cx="91440" cy="91440"/>
          </a:xfrm>
          <a:prstGeom prst="ellipse">
            <a:avLst/>
          </a:prstGeom>
          <a:solidFill>
            <a:srgbClr val="0D9488">
              <a:alpha val="35000"/>
            </a:srgbClr>
          </a:solidFill>
          <a:ln/>
        </p:spPr>
        <p:txBody>
          <a:bodyPr/>
          <a:lstStyle/>
          <a:p>
            <a:endParaRPr lang="en-US"/>
          </a:p>
        </p:txBody>
      </p:sp>
      <p:sp>
        <p:nvSpPr>
          <p:cNvPr id="31" name="Shape 29"/>
          <p:cNvSpPr/>
          <p:nvPr/>
        </p:nvSpPr>
        <p:spPr>
          <a:xfrm>
            <a:off x="5760720" y="2011680"/>
            <a:ext cx="91440" cy="91440"/>
          </a:xfrm>
          <a:prstGeom prst="ellipse">
            <a:avLst/>
          </a:prstGeom>
          <a:solidFill>
            <a:srgbClr val="0D9488">
              <a:alpha val="35000"/>
            </a:srgbClr>
          </a:solidFill>
          <a:ln/>
        </p:spPr>
        <p:txBody>
          <a:bodyPr/>
          <a:lstStyle/>
          <a:p>
            <a:endParaRPr lang="en-US"/>
          </a:p>
        </p:txBody>
      </p:sp>
      <p:sp>
        <p:nvSpPr>
          <p:cNvPr id="32" name="Shape 30"/>
          <p:cNvSpPr/>
          <p:nvPr/>
        </p:nvSpPr>
        <p:spPr>
          <a:xfrm>
            <a:off x="6217920" y="2011680"/>
            <a:ext cx="91440" cy="91440"/>
          </a:xfrm>
          <a:prstGeom prst="ellipse">
            <a:avLst/>
          </a:prstGeom>
          <a:solidFill>
            <a:srgbClr val="0D9488">
              <a:alpha val="35000"/>
            </a:srgbClr>
          </a:solidFill>
          <a:ln/>
        </p:spPr>
        <p:txBody>
          <a:bodyPr/>
          <a:lstStyle/>
          <a:p>
            <a:endParaRPr lang="en-US"/>
          </a:p>
        </p:txBody>
      </p:sp>
      <p:sp>
        <p:nvSpPr>
          <p:cNvPr id="33" name="Shape 31"/>
          <p:cNvSpPr/>
          <p:nvPr/>
        </p:nvSpPr>
        <p:spPr>
          <a:xfrm>
            <a:off x="6675120" y="2011680"/>
            <a:ext cx="91440" cy="91440"/>
          </a:xfrm>
          <a:prstGeom prst="ellipse">
            <a:avLst/>
          </a:prstGeom>
          <a:solidFill>
            <a:srgbClr val="0D9488">
              <a:alpha val="35000"/>
            </a:srgbClr>
          </a:solidFill>
          <a:ln/>
        </p:spPr>
        <p:txBody>
          <a:bodyPr/>
          <a:lstStyle/>
          <a:p>
            <a:endParaRPr lang="en-US"/>
          </a:p>
        </p:txBody>
      </p:sp>
      <p:sp>
        <p:nvSpPr>
          <p:cNvPr id="34" name="Shape 32"/>
          <p:cNvSpPr/>
          <p:nvPr/>
        </p:nvSpPr>
        <p:spPr>
          <a:xfrm>
            <a:off x="7132320" y="2011680"/>
            <a:ext cx="91440" cy="91440"/>
          </a:xfrm>
          <a:prstGeom prst="ellipse">
            <a:avLst/>
          </a:prstGeom>
          <a:solidFill>
            <a:srgbClr val="0D9488">
              <a:alpha val="35000"/>
            </a:srgbClr>
          </a:solidFill>
          <a:ln/>
        </p:spPr>
        <p:txBody>
          <a:bodyPr/>
          <a:lstStyle/>
          <a:p>
            <a:endParaRPr lang="en-US"/>
          </a:p>
        </p:txBody>
      </p:sp>
      <p:sp>
        <p:nvSpPr>
          <p:cNvPr id="35" name="Shape 33"/>
          <p:cNvSpPr/>
          <p:nvPr/>
        </p:nvSpPr>
        <p:spPr>
          <a:xfrm>
            <a:off x="7589520" y="2011680"/>
            <a:ext cx="91440" cy="91440"/>
          </a:xfrm>
          <a:prstGeom prst="ellipse">
            <a:avLst/>
          </a:prstGeom>
          <a:solidFill>
            <a:srgbClr val="0D9488">
              <a:alpha val="35000"/>
            </a:srgbClr>
          </a:solidFill>
          <a:ln/>
        </p:spPr>
        <p:txBody>
          <a:bodyPr/>
          <a:lstStyle/>
          <a:p>
            <a:endParaRPr lang="en-US"/>
          </a:p>
        </p:txBody>
      </p:sp>
      <p:sp>
        <p:nvSpPr>
          <p:cNvPr id="36" name="Shape 34"/>
          <p:cNvSpPr/>
          <p:nvPr/>
        </p:nvSpPr>
        <p:spPr>
          <a:xfrm>
            <a:off x="8046720" y="2011680"/>
            <a:ext cx="91440" cy="91440"/>
          </a:xfrm>
          <a:prstGeom prst="ellipse">
            <a:avLst/>
          </a:prstGeom>
          <a:solidFill>
            <a:srgbClr val="0D9488">
              <a:alpha val="35000"/>
            </a:srgbClr>
          </a:solidFill>
          <a:ln/>
        </p:spPr>
        <p:txBody>
          <a:bodyPr/>
          <a:lstStyle/>
          <a:p>
            <a:endParaRPr lang="en-US"/>
          </a:p>
        </p:txBody>
      </p:sp>
      <p:sp>
        <p:nvSpPr>
          <p:cNvPr id="37" name="Shape 35"/>
          <p:cNvSpPr/>
          <p:nvPr/>
        </p:nvSpPr>
        <p:spPr>
          <a:xfrm>
            <a:off x="457200" y="1188720"/>
            <a:ext cx="82296" cy="2743200"/>
          </a:xfrm>
          <a:prstGeom prst="rect">
            <a:avLst/>
          </a:prstGeom>
          <a:solidFill>
            <a:srgbClr val="0D9488"/>
          </a:solidFill>
          <a:ln/>
        </p:spPr>
        <p:txBody>
          <a:bodyPr/>
          <a:lstStyle/>
          <a:p>
            <a:endParaRPr lang="en-US"/>
          </a:p>
        </p:txBody>
      </p:sp>
      <p:sp>
        <p:nvSpPr>
          <p:cNvPr id="38" name="Text 36"/>
          <p:cNvSpPr/>
          <p:nvPr/>
        </p:nvSpPr>
        <p:spPr>
          <a:xfrm>
            <a:off x="713232" y="1188720"/>
            <a:ext cx="7955280" cy="9144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The Informetrics of Cybernetics</a:t>
            </a:r>
            <a:endParaRPr lang="en-US" sz="3600" dirty="0"/>
          </a:p>
        </p:txBody>
      </p:sp>
      <p:sp>
        <p:nvSpPr>
          <p:cNvPr id="39" name="Text 37"/>
          <p:cNvSpPr/>
          <p:nvPr/>
        </p:nvSpPr>
        <p:spPr>
          <a:xfrm>
            <a:off x="713232" y="2148840"/>
            <a:ext cx="7955280" cy="502920"/>
          </a:xfrm>
          <a:prstGeom prst="rect">
            <a:avLst/>
          </a:prstGeom>
          <a:noFill/>
          <a:ln/>
        </p:spPr>
        <p:txBody>
          <a:bodyPr wrap="square" rtlCol="0" anchor="ctr"/>
          <a:lstStyle/>
          <a:p>
            <a:pPr marL="0" indent="0">
              <a:buNone/>
            </a:pPr>
            <a:r>
              <a:rPr lang="en-US" sz="2200" i="1" dirty="0">
                <a:solidFill>
                  <a:srgbClr val="CCEFED"/>
                </a:solidFill>
                <a:latin typeface="Georgia" pitchFamily="34" charset="0"/>
                <a:ea typeface="Georgia" pitchFamily="34" charset="-122"/>
                <a:cs typeface="Georgia" pitchFamily="34" charset="-120"/>
              </a:rPr>
              <a:t>(or When Nerds Meet Cool Kids)</a:t>
            </a:r>
            <a:endParaRPr lang="en-US" sz="2200" dirty="0"/>
          </a:p>
        </p:txBody>
      </p:sp>
      <p:sp>
        <p:nvSpPr>
          <p:cNvPr id="40" name="Shape 38"/>
          <p:cNvSpPr/>
          <p:nvPr/>
        </p:nvSpPr>
        <p:spPr>
          <a:xfrm>
            <a:off x="457200" y="2834640"/>
            <a:ext cx="8229600" cy="36576"/>
          </a:xfrm>
          <a:prstGeom prst="rect">
            <a:avLst/>
          </a:prstGeom>
          <a:solidFill>
            <a:srgbClr val="0D9488">
              <a:alpha val="50000"/>
            </a:srgbClr>
          </a:solidFill>
          <a:ln/>
        </p:spPr>
        <p:txBody>
          <a:bodyPr/>
          <a:lstStyle/>
          <a:p>
            <a:endParaRPr lang="en-US"/>
          </a:p>
        </p:txBody>
      </p:sp>
      <p:sp>
        <p:nvSpPr>
          <p:cNvPr id="41" name="Text 39"/>
          <p:cNvSpPr/>
          <p:nvPr/>
        </p:nvSpPr>
        <p:spPr>
          <a:xfrm>
            <a:off x="713232" y="3017520"/>
            <a:ext cx="6400800" cy="320040"/>
          </a:xfrm>
          <a:prstGeom prst="rect">
            <a:avLst/>
          </a:prstGeom>
          <a:noFill/>
          <a:ln/>
        </p:spPr>
        <p:txBody>
          <a:bodyPr wrap="square" rtlCol="0" anchor="ctr"/>
          <a:lstStyle/>
          <a:p>
            <a:pPr marL="0" indent="0">
              <a:buNone/>
            </a:pPr>
            <a:r>
              <a:rPr lang="en-US" sz="1400" dirty="0">
                <a:solidFill>
                  <a:srgbClr val="CCEFED"/>
                </a:solidFill>
                <a:latin typeface="Calibri" pitchFamily="34" charset="0"/>
                <a:ea typeface="Calibri" pitchFamily="34" charset="-122"/>
                <a:cs typeface="Calibri" pitchFamily="34" charset="-120"/>
              </a:rPr>
              <a:t>Paul Wong  ·  School of Cybernetics, ANU</a:t>
            </a:r>
            <a:endParaRPr lang="en-US" sz="1400" dirty="0"/>
          </a:p>
        </p:txBody>
      </p:sp>
      <p:sp>
        <p:nvSpPr>
          <p:cNvPr id="42" name="Text 40"/>
          <p:cNvSpPr/>
          <p:nvPr/>
        </p:nvSpPr>
        <p:spPr>
          <a:xfrm>
            <a:off x="713232" y="3383280"/>
            <a:ext cx="6400800" cy="274320"/>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With Claude Sonnet 4.6 (Anthropic)  ·  Work in Progress</a:t>
            </a:r>
            <a:endParaRPr lang="en-US" sz="1200" dirty="0"/>
          </a:p>
        </p:txBody>
      </p:sp>
      <p:sp>
        <p:nvSpPr>
          <p:cNvPr id="43" name="Text 41"/>
          <p:cNvSpPr/>
          <p:nvPr/>
        </p:nvSpPr>
        <p:spPr>
          <a:xfrm>
            <a:off x="7315200" y="3383280"/>
            <a:ext cx="1371600" cy="274320"/>
          </a:xfrm>
          <a:prstGeom prst="rect">
            <a:avLst/>
          </a:prstGeom>
          <a:noFill/>
          <a:ln/>
        </p:spPr>
        <p:txBody>
          <a:bodyPr wrap="square" rtlCol="0" anchor="ctr"/>
          <a:lstStyle/>
          <a:p>
            <a:pPr marL="0" indent="0" algn="r">
              <a:buNone/>
            </a:pPr>
            <a:r>
              <a:rPr lang="en-US" sz="1200" dirty="0">
                <a:solidFill>
                  <a:srgbClr val="64748B"/>
                </a:solidFill>
                <a:latin typeface="Calibri" pitchFamily="34" charset="0"/>
                <a:ea typeface="Calibri" pitchFamily="34" charset="-122"/>
                <a:cs typeface="Calibri" pitchFamily="34" charset="-120"/>
              </a:rPr>
              <a:t>April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marL="0" indent="0">
              <a:buNone/>
            </a:pPr>
            <a:r>
              <a:rPr lang="en-US" sz="3000" b="1" dirty="0">
                <a:solidFill>
                  <a:srgbClr val="1B2E4B"/>
                </a:solidFill>
                <a:latin typeface="Georgia" pitchFamily="34" charset="0"/>
                <a:ea typeface="Georgia" pitchFamily="34" charset="-122"/>
                <a:cs typeface="Georgia" pitchFamily="34" charset="-120"/>
              </a:rPr>
              <a:t>About the Speaker</a:t>
            </a:r>
            <a:endParaRPr lang="en-US" sz="3000" dirty="0"/>
          </a:p>
        </p:txBody>
      </p:sp>
      <p:sp>
        <p:nvSpPr>
          <p:cNvPr id="3" name="Shape 1"/>
          <p:cNvSpPr/>
          <p:nvPr/>
        </p:nvSpPr>
        <p:spPr>
          <a:xfrm>
            <a:off x="457200" y="914400"/>
            <a:ext cx="2926080" cy="3840480"/>
          </a:xfrm>
          <a:prstGeom prst="rect">
            <a:avLst/>
          </a:prstGeom>
          <a:solidFill>
            <a:srgbClr val="1B2E4B"/>
          </a:solidFill>
          <a:ln/>
          <a:effectLst>
            <a:outerShdw blurRad="101600" dist="25400" dir="8100000" algn="bl" rotWithShape="0">
              <a:srgbClr val="000000">
                <a:alpha val="11000"/>
              </a:srgbClr>
            </a:outerShdw>
          </a:effectLst>
        </p:spPr>
        <p:txBody>
          <a:bodyPr/>
          <a:lstStyle/>
          <a:p>
            <a:endParaRPr lang="en-US"/>
          </a:p>
        </p:txBody>
      </p:sp>
      <p:sp>
        <p:nvSpPr>
          <p:cNvPr id="4" name="Text 2"/>
          <p:cNvSpPr/>
          <p:nvPr/>
        </p:nvSpPr>
        <p:spPr>
          <a:xfrm>
            <a:off x="594360" y="1051560"/>
            <a:ext cx="2651760" cy="411480"/>
          </a:xfrm>
          <a:prstGeom prst="rect">
            <a:avLst/>
          </a:prstGeom>
          <a:noFill/>
          <a:ln/>
        </p:spPr>
        <p:txBody>
          <a:bodyPr wrap="square"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Paul Wong</a:t>
            </a:r>
            <a:endParaRPr lang="en-US" sz="1800" dirty="0"/>
          </a:p>
        </p:txBody>
      </p:sp>
      <p:sp>
        <p:nvSpPr>
          <p:cNvPr id="5" name="Text 3"/>
          <p:cNvSpPr/>
          <p:nvPr/>
        </p:nvSpPr>
        <p:spPr>
          <a:xfrm>
            <a:off x="594360" y="1481328"/>
            <a:ext cx="2651760" cy="347472"/>
          </a:xfrm>
          <a:prstGeom prst="rect">
            <a:avLst/>
          </a:prstGeom>
          <a:noFill/>
          <a:ln/>
        </p:spPr>
        <p:txBody>
          <a:bodyPr wrap="square" rtlCol="0" anchor="ctr"/>
          <a:lstStyle/>
          <a:p>
            <a:pPr marL="0" indent="0">
              <a:buNone/>
            </a:pPr>
            <a:r>
              <a:rPr lang="en-US" sz="1100" i="1" dirty="0">
                <a:solidFill>
                  <a:srgbClr val="9FD8D4"/>
                </a:solidFill>
                <a:latin typeface="Calibri" pitchFamily="34" charset="0"/>
                <a:ea typeface="Calibri" pitchFamily="34" charset="-122"/>
                <a:cs typeface="Calibri" pitchFamily="34" charset="-120"/>
              </a:rPr>
              <a:t>aka Wong Man  ·  aka School Fairy</a:t>
            </a:r>
            <a:endParaRPr lang="en-US" sz="1100" dirty="0"/>
          </a:p>
        </p:txBody>
      </p:sp>
      <p:sp>
        <p:nvSpPr>
          <p:cNvPr id="6" name="Text 4"/>
          <p:cNvSpPr/>
          <p:nvPr/>
        </p:nvSpPr>
        <p:spPr>
          <a:xfrm>
            <a:off x="594360" y="2075688"/>
            <a:ext cx="2651760" cy="310896"/>
          </a:xfrm>
          <a:prstGeom prst="rect">
            <a:avLst/>
          </a:prstGeom>
          <a:noFill/>
          <a:ln/>
        </p:spPr>
        <p:txBody>
          <a:bodyPr wrap="square" rtlCol="0" anchor="ctr"/>
          <a:lstStyle/>
          <a:p>
            <a:pPr marL="0" indent="0">
              <a:buNone/>
            </a:pPr>
            <a:r>
              <a:rPr lang="en-US" sz="1050" dirty="0">
                <a:solidFill>
                  <a:srgbClr val="E2E8F0"/>
                </a:solidFill>
                <a:latin typeface="Calibri" pitchFamily="34" charset="0"/>
                <a:ea typeface="Calibri" pitchFamily="34" charset="-122"/>
                <a:cs typeface="Calibri" pitchFamily="34" charset="-120"/>
              </a:rPr>
              <a:t>·  Deviant logician (with pride)</a:t>
            </a:r>
            <a:endParaRPr lang="en-US" sz="1050" dirty="0"/>
          </a:p>
        </p:txBody>
      </p:sp>
      <p:sp>
        <p:nvSpPr>
          <p:cNvPr id="7" name="Text 5"/>
          <p:cNvSpPr/>
          <p:nvPr/>
        </p:nvSpPr>
        <p:spPr>
          <a:xfrm>
            <a:off x="594360" y="2423160"/>
            <a:ext cx="2651760" cy="310896"/>
          </a:xfrm>
          <a:prstGeom prst="rect">
            <a:avLst/>
          </a:prstGeom>
          <a:noFill/>
          <a:ln/>
        </p:spPr>
        <p:txBody>
          <a:bodyPr wrap="square" rtlCol="0" anchor="ctr"/>
          <a:lstStyle/>
          <a:p>
            <a:pPr marL="0" indent="0">
              <a:buNone/>
            </a:pPr>
            <a:r>
              <a:rPr lang="en-US" sz="1050" dirty="0">
                <a:solidFill>
                  <a:srgbClr val="E2E8F0"/>
                </a:solidFill>
                <a:latin typeface="Calibri" pitchFamily="34" charset="0"/>
                <a:ea typeface="Calibri" pitchFamily="34" charset="-122"/>
                <a:cs typeface="Calibri" pitchFamily="34" charset="-120"/>
              </a:rPr>
              <a:t>·  PhD: Automated Reasoning, ANU</a:t>
            </a:r>
            <a:endParaRPr lang="en-US" sz="1050" dirty="0"/>
          </a:p>
        </p:txBody>
      </p:sp>
      <p:sp>
        <p:nvSpPr>
          <p:cNvPr id="8" name="Text 6"/>
          <p:cNvSpPr/>
          <p:nvPr/>
        </p:nvSpPr>
        <p:spPr>
          <a:xfrm>
            <a:off x="594360" y="2770632"/>
            <a:ext cx="2651760" cy="310896"/>
          </a:xfrm>
          <a:prstGeom prst="rect">
            <a:avLst/>
          </a:prstGeom>
          <a:noFill/>
          <a:ln/>
        </p:spPr>
        <p:txBody>
          <a:bodyPr wrap="square" rtlCol="0" anchor="ctr"/>
          <a:lstStyle/>
          <a:p>
            <a:pPr marL="0" indent="0">
              <a:buNone/>
            </a:pPr>
            <a:r>
              <a:rPr lang="en-US" sz="1050" dirty="0">
                <a:solidFill>
                  <a:srgbClr val="E2E8F0"/>
                </a:solidFill>
                <a:latin typeface="Calibri" pitchFamily="34" charset="0"/>
                <a:ea typeface="Calibri" pitchFamily="34" charset="-122"/>
                <a:cs typeface="Calibri" pitchFamily="34" charset="-120"/>
              </a:rPr>
              <a:t>·  Public service → DSTO → ANU</a:t>
            </a:r>
            <a:endParaRPr lang="en-US" sz="1050" dirty="0"/>
          </a:p>
        </p:txBody>
      </p:sp>
      <p:sp>
        <p:nvSpPr>
          <p:cNvPr id="9" name="Text 7"/>
          <p:cNvSpPr/>
          <p:nvPr/>
        </p:nvSpPr>
        <p:spPr>
          <a:xfrm>
            <a:off x="594360" y="3118104"/>
            <a:ext cx="2651760" cy="310896"/>
          </a:xfrm>
          <a:prstGeom prst="rect">
            <a:avLst/>
          </a:prstGeom>
          <a:noFill/>
          <a:ln/>
        </p:spPr>
        <p:txBody>
          <a:bodyPr wrap="square" rtlCol="0" anchor="ctr"/>
          <a:lstStyle/>
          <a:p>
            <a:pPr marL="0" indent="0">
              <a:buNone/>
            </a:pPr>
            <a:r>
              <a:rPr lang="en-US" sz="1050" dirty="0">
                <a:solidFill>
                  <a:srgbClr val="E2E8F0"/>
                </a:solidFill>
                <a:latin typeface="Calibri" pitchFamily="34" charset="0"/>
                <a:ea typeface="Calibri" pitchFamily="34" charset="-122"/>
                <a:cs typeface="Calibri" pitchFamily="34" charset="-120"/>
              </a:rPr>
              <a:t>·  Senior Lecturer, School of Cybernetics</a:t>
            </a:r>
            <a:endParaRPr lang="en-US" sz="1050" dirty="0"/>
          </a:p>
        </p:txBody>
      </p:sp>
      <p:sp>
        <p:nvSpPr>
          <p:cNvPr id="10" name="Text 8"/>
          <p:cNvSpPr/>
          <p:nvPr/>
        </p:nvSpPr>
        <p:spPr>
          <a:xfrm>
            <a:off x="594360" y="3465576"/>
            <a:ext cx="2651760" cy="310896"/>
          </a:xfrm>
          <a:prstGeom prst="rect">
            <a:avLst/>
          </a:prstGeom>
          <a:noFill/>
          <a:ln/>
        </p:spPr>
        <p:txBody>
          <a:bodyPr wrap="square" rtlCol="0" anchor="ctr"/>
          <a:lstStyle/>
          <a:p>
            <a:pPr marL="0" indent="0">
              <a:buNone/>
            </a:pPr>
            <a:r>
              <a:rPr lang="en-US" sz="1050" dirty="0">
                <a:solidFill>
                  <a:srgbClr val="E2E8F0"/>
                </a:solidFill>
                <a:latin typeface="Calibri" pitchFamily="34" charset="0"/>
                <a:ea typeface="Calibri" pitchFamily="34" charset="-122"/>
                <a:cs typeface="Calibri" pitchFamily="34" charset="-120"/>
              </a:rPr>
              <a:t>·  Consultant: Chief Scientist, DFAT, Qatar Foundation</a:t>
            </a:r>
            <a:endParaRPr lang="en-US" sz="1050" dirty="0"/>
          </a:p>
        </p:txBody>
      </p:sp>
      <p:sp>
        <p:nvSpPr>
          <p:cNvPr id="11" name="Text 9"/>
          <p:cNvSpPr/>
          <p:nvPr/>
        </p:nvSpPr>
        <p:spPr>
          <a:xfrm>
            <a:off x="594360" y="3813048"/>
            <a:ext cx="2651760" cy="310896"/>
          </a:xfrm>
          <a:prstGeom prst="rect">
            <a:avLst/>
          </a:prstGeom>
          <a:noFill/>
          <a:ln/>
        </p:spPr>
        <p:txBody>
          <a:bodyPr wrap="square" rtlCol="0" anchor="ctr"/>
          <a:lstStyle/>
          <a:p>
            <a:pPr marL="0" indent="0">
              <a:buNone/>
            </a:pPr>
            <a:r>
              <a:rPr lang="en-US" sz="1050" dirty="0">
                <a:solidFill>
                  <a:srgbClr val="E2E8F0"/>
                </a:solidFill>
                <a:latin typeface="Calibri" pitchFamily="34" charset="0"/>
                <a:ea typeface="Calibri" pitchFamily="34" charset="-122"/>
                <a:cs typeface="Calibri" pitchFamily="34" charset="-120"/>
              </a:rPr>
              <a:t>·  Playback Theatre practitioner</a:t>
            </a:r>
            <a:endParaRPr lang="en-US" sz="1050" dirty="0"/>
          </a:p>
        </p:txBody>
      </p:sp>
      <p:sp>
        <p:nvSpPr>
          <p:cNvPr id="12" name="Text 10"/>
          <p:cNvSpPr/>
          <p:nvPr/>
        </p:nvSpPr>
        <p:spPr>
          <a:xfrm>
            <a:off x="594360" y="4160520"/>
            <a:ext cx="2651760" cy="310896"/>
          </a:xfrm>
          <a:prstGeom prst="rect">
            <a:avLst/>
          </a:prstGeom>
          <a:noFill/>
          <a:ln/>
        </p:spPr>
        <p:txBody>
          <a:bodyPr wrap="square" rtlCol="0" anchor="ctr"/>
          <a:lstStyle/>
          <a:p>
            <a:pPr marL="0" indent="0">
              <a:buNone/>
            </a:pPr>
            <a:r>
              <a:rPr lang="en-US" sz="1050" dirty="0">
                <a:solidFill>
                  <a:srgbClr val="E2E8F0"/>
                </a:solidFill>
                <a:latin typeface="Calibri" pitchFamily="34" charset="0"/>
                <a:ea typeface="Calibri" pitchFamily="34" charset="-122"/>
                <a:cs typeface="Calibri" pitchFamily="34" charset="-120"/>
              </a:rPr>
              <a:t>·  Experimental / improvised musician</a:t>
            </a:r>
            <a:endParaRPr lang="en-US" sz="1050" dirty="0"/>
          </a:p>
        </p:txBody>
      </p:sp>
      <p:sp>
        <p:nvSpPr>
          <p:cNvPr id="13" name="Shape 11"/>
          <p:cNvSpPr/>
          <p:nvPr/>
        </p:nvSpPr>
        <p:spPr>
          <a:xfrm>
            <a:off x="3566160" y="914400"/>
            <a:ext cx="5120640" cy="182880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4" name="Shape 12"/>
          <p:cNvSpPr/>
          <p:nvPr/>
        </p:nvSpPr>
        <p:spPr>
          <a:xfrm>
            <a:off x="3566160" y="914400"/>
            <a:ext cx="5120640" cy="64008"/>
          </a:xfrm>
          <a:prstGeom prst="rect">
            <a:avLst/>
          </a:prstGeom>
          <a:solidFill>
            <a:srgbClr val="0D9488"/>
          </a:solidFill>
          <a:ln/>
        </p:spPr>
        <p:txBody>
          <a:bodyPr/>
          <a:lstStyle/>
          <a:p>
            <a:endParaRPr lang="en-US"/>
          </a:p>
        </p:txBody>
      </p:sp>
      <p:sp>
        <p:nvSpPr>
          <p:cNvPr id="15" name="Text 13"/>
          <p:cNvSpPr/>
          <p:nvPr/>
        </p:nvSpPr>
        <p:spPr>
          <a:xfrm>
            <a:off x="3703320" y="1097280"/>
            <a:ext cx="4800600" cy="777240"/>
          </a:xfrm>
          <a:prstGeom prst="rect">
            <a:avLst/>
          </a:prstGeom>
          <a:noFill/>
          <a:ln/>
        </p:spPr>
        <p:txBody>
          <a:bodyPr wrap="square" rtlCol="0" anchor="ctr"/>
          <a:lstStyle/>
          <a:p>
            <a:pPr marL="0" indent="0" algn="ctr">
              <a:buNone/>
            </a:pPr>
            <a:r>
              <a:rPr lang="en-US" sz="1800" b="1" i="1" dirty="0">
                <a:solidFill>
                  <a:srgbClr val="1B2E4B"/>
                </a:solidFill>
                <a:latin typeface="Georgia" pitchFamily="34" charset="0"/>
                <a:ea typeface="Georgia" pitchFamily="34" charset="-122"/>
                <a:cs typeface="Georgia" pitchFamily="34" charset="-120"/>
              </a:rPr>
              <a:t>"disobedient · impolite · hyperactive</a:t>
            </a:r>
            <a:endParaRPr lang="en-US" sz="1800" dirty="0"/>
          </a:p>
          <a:p>
            <a:pPr marL="0" indent="0" algn="ctr">
              <a:buNone/>
            </a:pPr>
            <a:r>
              <a:rPr lang="en-US" sz="1800" b="1" i="1" dirty="0">
                <a:solidFill>
                  <a:srgbClr val="1B2E4B"/>
                </a:solidFill>
                <a:latin typeface="Georgia" pitchFamily="34" charset="0"/>
                <a:ea typeface="Georgia" pitchFamily="34" charset="-122"/>
                <a:cs typeface="Georgia" pitchFamily="34" charset="-120"/>
              </a:rPr>
              <a:t>talkative · inattentive"</a:t>
            </a:r>
            <a:endParaRPr lang="en-US" sz="1800" dirty="0"/>
          </a:p>
        </p:txBody>
      </p:sp>
      <p:sp>
        <p:nvSpPr>
          <p:cNvPr id="16" name="Text 14"/>
          <p:cNvSpPr/>
          <p:nvPr/>
        </p:nvSpPr>
        <p:spPr>
          <a:xfrm>
            <a:off x="3703320" y="1938528"/>
            <a:ext cx="4800600" cy="548640"/>
          </a:xfrm>
          <a:prstGeom prst="rect">
            <a:avLst/>
          </a:prstGeom>
          <a:noFill/>
          <a:ln/>
        </p:spPr>
        <p:txBody>
          <a:bodyPr wrap="square"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 Elementary school report card  (wears this as a badge of honour)</a:t>
            </a:r>
            <a:endParaRPr lang="en-US" sz="1100" dirty="0"/>
          </a:p>
        </p:txBody>
      </p:sp>
      <p:sp>
        <p:nvSpPr>
          <p:cNvPr id="17" name="Shape 15"/>
          <p:cNvSpPr/>
          <p:nvPr/>
        </p:nvSpPr>
        <p:spPr>
          <a:xfrm>
            <a:off x="3566160" y="2880360"/>
            <a:ext cx="5120640" cy="187452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8" name="Shape 16"/>
          <p:cNvSpPr/>
          <p:nvPr/>
        </p:nvSpPr>
        <p:spPr>
          <a:xfrm>
            <a:off x="3566160" y="2880360"/>
            <a:ext cx="5120640" cy="64008"/>
          </a:xfrm>
          <a:prstGeom prst="rect">
            <a:avLst/>
          </a:prstGeom>
          <a:solidFill>
            <a:srgbClr val="0D9488"/>
          </a:solidFill>
          <a:ln/>
        </p:spPr>
        <p:txBody>
          <a:bodyPr/>
          <a:lstStyle/>
          <a:p>
            <a:endParaRPr lang="en-US"/>
          </a:p>
        </p:txBody>
      </p:sp>
      <p:sp>
        <p:nvSpPr>
          <p:cNvPr id="19" name="Text 17"/>
          <p:cNvSpPr/>
          <p:nvPr/>
        </p:nvSpPr>
        <p:spPr>
          <a:xfrm>
            <a:off x="3703320" y="2999232"/>
            <a:ext cx="4846320" cy="347472"/>
          </a:xfrm>
          <a:prstGeom prst="rect">
            <a:avLst/>
          </a:prstGeom>
          <a:noFill/>
          <a:ln/>
        </p:spPr>
        <p:txBody>
          <a:bodyPr wrap="square" rtlCol="0" anchor="ctr"/>
          <a:lstStyle/>
          <a:p>
            <a:pPr marL="0" indent="0">
              <a:buNone/>
            </a:pPr>
            <a:r>
              <a:rPr lang="en-US" sz="1400" b="1" dirty="0">
                <a:solidFill>
                  <a:srgbClr val="1B2E4B"/>
                </a:solidFill>
                <a:latin typeface="Georgia" pitchFamily="34" charset="0"/>
                <a:ea typeface="Georgia" pitchFamily="34" charset="-122"/>
                <a:cs typeface="Georgia" pitchFamily="34" charset="-120"/>
              </a:rPr>
              <a:t>Today's Talk</a:t>
            </a:r>
            <a:endParaRPr lang="en-US" sz="1400" dirty="0"/>
          </a:p>
        </p:txBody>
      </p:sp>
      <p:sp>
        <p:nvSpPr>
          <p:cNvPr id="20" name="Text 18"/>
          <p:cNvSpPr/>
          <p:nvPr/>
        </p:nvSpPr>
        <p:spPr>
          <a:xfrm>
            <a:off x="3703320" y="3410712"/>
            <a:ext cx="4846320" cy="2743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1.  What is Informetrics?</a:t>
            </a:r>
            <a:endParaRPr lang="en-US" sz="1200" dirty="0"/>
          </a:p>
        </p:txBody>
      </p:sp>
      <p:sp>
        <p:nvSpPr>
          <p:cNvPr id="21" name="Text 19"/>
          <p:cNvSpPr/>
          <p:nvPr/>
        </p:nvSpPr>
        <p:spPr>
          <a:xfrm>
            <a:off x="3703320" y="3712464"/>
            <a:ext cx="4846320" cy="2743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2.  CyberneticsNLP — the pipeline &amp; findings</a:t>
            </a:r>
            <a:endParaRPr lang="en-US" sz="1200" dirty="0"/>
          </a:p>
        </p:txBody>
      </p:sp>
      <p:sp>
        <p:nvSpPr>
          <p:cNvPr id="22" name="Text 20"/>
          <p:cNvSpPr/>
          <p:nvPr/>
        </p:nvSpPr>
        <p:spPr>
          <a:xfrm>
            <a:off x="3703320" y="4014216"/>
            <a:ext cx="4846320" cy="2743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3.  CyberneticsAR — the extension</a:t>
            </a:r>
            <a:endParaRPr lang="en-US" sz="1200" dirty="0"/>
          </a:p>
        </p:txBody>
      </p:sp>
      <p:sp>
        <p:nvSpPr>
          <p:cNvPr id="23" name="Text 21"/>
          <p:cNvSpPr/>
          <p:nvPr/>
        </p:nvSpPr>
        <p:spPr>
          <a:xfrm>
            <a:off x="3703320" y="4315968"/>
            <a:ext cx="4846320" cy="2743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4.  AI–Human teaming as a research agenda</a:t>
            </a:r>
            <a:endParaRPr lang="en-US" sz="1200" dirty="0"/>
          </a:p>
        </p:txBody>
      </p:sp>
      <p:pic>
        <p:nvPicPr>
          <p:cNvPr id="24" name="Picture 23">
            <a:extLst>
              <a:ext uri="{FF2B5EF4-FFF2-40B4-BE49-F238E27FC236}">
                <a16:creationId xmlns:a16="http://schemas.microsoft.com/office/drawing/2014/main" id="{1751FD9A-E57A-DE50-691A-DB8B4AF13022}"/>
              </a:ext>
            </a:extLst>
          </p:cNvPr>
          <p:cNvPicPr>
            <a:picLocks noChangeAspect="1"/>
          </p:cNvPicPr>
          <p:nvPr/>
        </p:nvPicPr>
        <p:blipFill>
          <a:blip r:embed="rId3"/>
          <a:stretch>
            <a:fillRect/>
          </a:stretch>
        </p:blipFill>
        <p:spPr>
          <a:xfrm>
            <a:off x="7258796" y="3120306"/>
            <a:ext cx="1246632" cy="13849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marL="0" indent="0">
              <a:buNone/>
            </a:pPr>
            <a:r>
              <a:rPr lang="en-US" sz="3000" b="1" dirty="0">
                <a:solidFill>
                  <a:srgbClr val="1B2E4B"/>
                </a:solidFill>
                <a:latin typeface="Georgia" pitchFamily="34" charset="0"/>
                <a:ea typeface="Georgia" pitchFamily="34" charset="-122"/>
                <a:cs typeface="Georgia" pitchFamily="34" charset="-120"/>
              </a:rPr>
              <a:t>What is Informetrics?</a:t>
            </a:r>
            <a:endParaRPr lang="en-US" sz="3000" dirty="0"/>
          </a:p>
        </p:txBody>
      </p:sp>
      <p:sp>
        <p:nvSpPr>
          <p:cNvPr id="3" name="Shape 1"/>
          <p:cNvSpPr/>
          <p:nvPr/>
        </p:nvSpPr>
        <p:spPr>
          <a:xfrm>
            <a:off x="457200" y="914400"/>
            <a:ext cx="8229600" cy="100584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4" name="Shape 2"/>
          <p:cNvSpPr/>
          <p:nvPr/>
        </p:nvSpPr>
        <p:spPr>
          <a:xfrm>
            <a:off x="457200" y="914400"/>
            <a:ext cx="8229600" cy="64008"/>
          </a:xfrm>
          <a:prstGeom prst="rect">
            <a:avLst/>
          </a:prstGeom>
          <a:solidFill>
            <a:srgbClr val="0D9488"/>
          </a:solidFill>
          <a:ln/>
        </p:spPr>
        <p:txBody>
          <a:bodyPr/>
          <a:lstStyle/>
          <a:p>
            <a:endParaRPr lang="en-US"/>
          </a:p>
        </p:txBody>
      </p:sp>
      <p:sp>
        <p:nvSpPr>
          <p:cNvPr id="5" name="Text 3"/>
          <p:cNvSpPr/>
          <p:nvPr/>
        </p:nvSpPr>
        <p:spPr>
          <a:xfrm>
            <a:off x="594360" y="1024128"/>
            <a:ext cx="7863840" cy="77724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Informetrics is the statistical and quantitative analysis of information-theoretic phenomena applied to social processes, knowledge systems, and scholarly activities. It treats information itself as a measurable object of study.</a:t>
            </a:r>
            <a:endParaRPr lang="en-US" sz="1300" dirty="0"/>
          </a:p>
        </p:txBody>
      </p:sp>
      <p:sp>
        <p:nvSpPr>
          <p:cNvPr id="6" name="Shape 4"/>
          <p:cNvSpPr/>
          <p:nvPr/>
        </p:nvSpPr>
        <p:spPr>
          <a:xfrm>
            <a:off x="457200" y="2103120"/>
            <a:ext cx="2651760" cy="274320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7" name="Shape 5"/>
          <p:cNvSpPr/>
          <p:nvPr/>
        </p:nvSpPr>
        <p:spPr>
          <a:xfrm>
            <a:off x="457200" y="2103120"/>
            <a:ext cx="2651760" cy="457200"/>
          </a:xfrm>
          <a:prstGeom prst="rect">
            <a:avLst/>
          </a:prstGeom>
          <a:solidFill>
            <a:srgbClr val="0D9488"/>
          </a:solidFill>
          <a:ln/>
        </p:spPr>
        <p:txBody>
          <a:bodyPr/>
          <a:lstStyle/>
          <a:p>
            <a:endParaRPr lang="en-US"/>
          </a:p>
        </p:txBody>
      </p:sp>
      <p:sp>
        <p:nvSpPr>
          <p:cNvPr id="8" name="Text 6"/>
          <p:cNvSpPr/>
          <p:nvPr/>
        </p:nvSpPr>
        <p:spPr>
          <a:xfrm>
            <a:off x="530352" y="2103120"/>
            <a:ext cx="2505456"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Bibliometrics</a:t>
            </a:r>
            <a:endParaRPr lang="en-US" sz="1300" dirty="0"/>
          </a:p>
        </p:txBody>
      </p:sp>
      <p:sp>
        <p:nvSpPr>
          <p:cNvPr id="9" name="Text 7"/>
          <p:cNvSpPr/>
          <p:nvPr/>
        </p:nvSpPr>
        <p:spPr>
          <a:xfrm>
            <a:off x="548640" y="2633472"/>
            <a:ext cx="2468880" cy="14173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The scholarly practice of attribution through bibliographies — citation analysis, reference patterns, h-index, journal impact</a:t>
            </a:r>
            <a:endParaRPr lang="en-US" sz="1100" dirty="0"/>
          </a:p>
        </p:txBody>
      </p:sp>
      <p:sp>
        <p:nvSpPr>
          <p:cNvPr id="10" name="Text 8"/>
          <p:cNvSpPr/>
          <p:nvPr/>
        </p:nvSpPr>
        <p:spPr>
          <a:xfrm>
            <a:off x="548640" y="4096512"/>
            <a:ext cx="2468880" cy="594360"/>
          </a:xfrm>
          <a:prstGeom prst="rect">
            <a:avLst/>
          </a:prstGeom>
          <a:noFill/>
          <a:ln/>
        </p:spPr>
        <p:txBody>
          <a:bodyPr wrap="square" rtlCol="0" anchor="ctr"/>
          <a:lstStyle/>
          <a:p>
            <a:pPr marL="0" indent="0">
              <a:buNone/>
            </a:pPr>
            <a:r>
              <a:rPr lang="en-US" sz="1050" i="1" dirty="0">
                <a:solidFill>
                  <a:srgbClr val="0D9488"/>
                </a:solidFill>
                <a:latin typeface="Calibri" pitchFamily="34" charset="0"/>
                <a:ea typeface="Calibri" pitchFamily="34" charset="-122"/>
                <a:cs typeface="Calibri" pitchFamily="34" charset="-120"/>
              </a:rPr>
              <a:t>Who cites whom? How do ideas propagate?</a:t>
            </a:r>
            <a:endParaRPr lang="en-US" sz="1050" dirty="0"/>
          </a:p>
        </p:txBody>
      </p:sp>
      <p:sp>
        <p:nvSpPr>
          <p:cNvPr id="11" name="Shape 9"/>
          <p:cNvSpPr/>
          <p:nvPr/>
        </p:nvSpPr>
        <p:spPr>
          <a:xfrm>
            <a:off x="3337560" y="2103120"/>
            <a:ext cx="2651760" cy="274320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2" name="Shape 10"/>
          <p:cNvSpPr/>
          <p:nvPr/>
        </p:nvSpPr>
        <p:spPr>
          <a:xfrm>
            <a:off x="3337560" y="2103120"/>
            <a:ext cx="2651760" cy="457200"/>
          </a:xfrm>
          <a:prstGeom prst="rect">
            <a:avLst/>
          </a:prstGeom>
          <a:solidFill>
            <a:srgbClr val="1D4ED8"/>
          </a:solidFill>
          <a:ln/>
        </p:spPr>
        <p:txBody>
          <a:bodyPr/>
          <a:lstStyle/>
          <a:p>
            <a:endParaRPr lang="en-US"/>
          </a:p>
        </p:txBody>
      </p:sp>
      <p:sp>
        <p:nvSpPr>
          <p:cNvPr id="13" name="Text 11"/>
          <p:cNvSpPr/>
          <p:nvPr/>
        </p:nvSpPr>
        <p:spPr>
          <a:xfrm>
            <a:off x="3410712" y="2103120"/>
            <a:ext cx="2505456"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Scientometrics</a:t>
            </a:r>
            <a:endParaRPr lang="en-US" sz="1300" dirty="0"/>
          </a:p>
        </p:txBody>
      </p:sp>
      <p:sp>
        <p:nvSpPr>
          <p:cNvPr id="14" name="Text 12"/>
          <p:cNvSpPr/>
          <p:nvPr/>
        </p:nvSpPr>
        <p:spPr>
          <a:xfrm>
            <a:off x="3429000" y="2633472"/>
            <a:ext cx="2468880" cy="14173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Quantitative study of scientific practice — output, collaboration networks, institutional productivity, field growth</a:t>
            </a:r>
            <a:endParaRPr lang="en-US" sz="1100" dirty="0"/>
          </a:p>
        </p:txBody>
      </p:sp>
      <p:sp>
        <p:nvSpPr>
          <p:cNvPr id="15" name="Text 13"/>
          <p:cNvSpPr/>
          <p:nvPr/>
        </p:nvSpPr>
        <p:spPr>
          <a:xfrm>
            <a:off x="3429000" y="4096512"/>
            <a:ext cx="2468880" cy="594360"/>
          </a:xfrm>
          <a:prstGeom prst="rect">
            <a:avLst/>
          </a:prstGeom>
          <a:noFill/>
          <a:ln/>
        </p:spPr>
        <p:txBody>
          <a:bodyPr wrap="square" rtlCol="0" anchor="ctr"/>
          <a:lstStyle/>
          <a:p>
            <a:pPr marL="0" indent="0">
              <a:buNone/>
            </a:pPr>
            <a:r>
              <a:rPr lang="en-US" sz="1050" i="1" dirty="0">
                <a:solidFill>
                  <a:srgbClr val="1D4ED8"/>
                </a:solidFill>
                <a:latin typeface="Calibri" pitchFamily="34" charset="0"/>
                <a:ea typeface="Calibri" pitchFamily="34" charset="-122"/>
                <a:cs typeface="Calibri" pitchFamily="34" charset="-120"/>
              </a:rPr>
              <a:t>How does science evolve as a social enterprise?</a:t>
            </a:r>
            <a:endParaRPr lang="en-US" sz="1050" dirty="0"/>
          </a:p>
        </p:txBody>
      </p:sp>
      <p:sp>
        <p:nvSpPr>
          <p:cNvPr id="16" name="Shape 14"/>
          <p:cNvSpPr/>
          <p:nvPr/>
        </p:nvSpPr>
        <p:spPr>
          <a:xfrm>
            <a:off x="6217920" y="2103120"/>
            <a:ext cx="2651760" cy="274320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7" name="Shape 15"/>
          <p:cNvSpPr/>
          <p:nvPr/>
        </p:nvSpPr>
        <p:spPr>
          <a:xfrm>
            <a:off x="6217920" y="2103120"/>
            <a:ext cx="2651760" cy="457200"/>
          </a:xfrm>
          <a:prstGeom prst="rect">
            <a:avLst/>
          </a:prstGeom>
          <a:solidFill>
            <a:srgbClr val="7C3AED"/>
          </a:solidFill>
          <a:ln/>
        </p:spPr>
        <p:txBody>
          <a:bodyPr/>
          <a:lstStyle/>
          <a:p>
            <a:endParaRPr lang="en-US"/>
          </a:p>
        </p:txBody>
      </p:sp>
      <p:sp>
        <p:nvSpPr>
          <p:cNvPr id="18" name="Text 16"/>
          <p:cNvSpPr/>
          <p:nvPr/>
        </p:nvSpPr>
        <p:spPr>
          <a:xfrm>
            <a:off x="6291072" y="2103120"/>
            <a:ext cx="2505456"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Computational Informetrics</a:t>
            </a:r>
            <a:endParaRPr lang="en-US" sz="1300" dirty="0"/>
          </a:p>
        </p:txBody>
      </p:sp>
      <p:sp>
        <p:nvSpPr>
          <p:cNvPr id="19" name="Text 17"/>
          <p:cNvSpPr/>
          <p:nvPr/>
        </p:nvSpPr>
        <p:spPr>
          <a:xfrm>
            <a:off x="6309360" y="2633472"/>
            <a:ext cx="2468880" cy="14173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NLP, topic modelling, network analysis, machine learning — extracting structure from large text corpora at scale</a:t>
            </a:r>
            <a:endParaRPr lang="en-US" sz="1100" dirty="0"/>
          </a:p>
        </p:txBody>
      </p:sp>
      <p:sp>
        <p:nvSpPr>
          <p:cNvPr id="20" name="Text 18"/>
          <p:cNvSpPr/>
          <p:nvPr/>
        </p:nvSpPr>
        <p:spPr>
          <a:xfrm>
            <a:off x="6309360" y="4096512"/>
            <a:ext cx="2468880" cy="594360"/>
          </a:xfrm>
          <a:prstGeom prst="rect">
            <a:avLst/>
          </a:prstGeom>
          <a:noFill/>
          <a:ln/>
        </p:spPr>
        <p:txBody>
          <a:bodyPr wrap="square" rtlCol="0" anchor="ctr"/>
          <a:lstStyle/>
          <a:p>
            <a:pPr marL="0" indent="0">
              <a:buNone/>
            </a:pPr>
            <a:r>
              <a:rPr lang="en-US" sz="1050" i="1" dirty="0">
                <a:solidFill>
                  <a:srgbClr val="7C3AED"/>
                </a:solidFill>
                <a:latin typeface="Calibri" pitchFamily="34" charset="0"/>
                <a:ea typeface="Calibri" pitchFamily="34" charset="-122"/>
                <a:cs typeface="Calibri" pitchFamily="34" charset="-120"/>
              </a:rPr>
              <a:t>What does 700 cybernetics books look like as a map?</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marL="0" indent="0">
              <a:buNone/>
            </a:pPr>
            <a:r>
              <a:rPr lang="en-US" sz="3000" b="1" dirty="0">
                <a:solidFill>
                  <a:srgbClr val="1B2E4B"/>
                </a:solidFill>
                <a:latin typeface="Georgia" pitchFamily="34" charset="0"/>
                <a:ea typeface="Georgia" pitchFamily="34" charset="-122"/>
                <a:cs typeface="Georgia" pitchFamily="34" charset="-120"/>
              </a:rPr>
              <a:t>The Cybernetic Bookshelf</a:t>
            </a:r>
            <a:endParaRPr lang="en-US" sz="3000" dirty="0"/>
          </a:p>
        </p:txBody>
      </p:sp>
      <p:sp>
        <p:nvSpPr>
          <p:cNvPr id="3" name="Shape 1"/>
          <p:cNvSpPr/>
          <p:nvPr/>
        </p:nvSpPr>
        <p:spPr>
          <a:xfrm>
            <a:off x="457200" y="960120"/>
            <a:ext cx="1920240" cy="1463040"/>
          </a:xfrm>
          <a:prstGeom prst="rect">
            <a:avLst/>
          </a:prstGeom>
          <a:solidFill>
            <a:srgbClr val="1B2E4B"/>
          </a:solidFill>
          <a:ln/>
          <a:effectLst>
            <a:outerShdw blurRad="101600" dist="25400" dir="8100000" algn="bl" rotWithShape="0">
              <a:srgbClr val="000000">
                <a:alpha val="11000"/>
              </a:srgbClr>
            </a:outerShdw>
          </a:effectLst>
        </p:spPr>
        <p:txBody>
          <a:bodyPr/>
          <a:lstStyle/>
          <a:p>
            <a:endParaRPr lang="en-US"/>
          </a:p>
        </p:txBody>
      </p:sp>
      <p:sp>
        <p:nvSpPr>
          <p:cNvPr id="4" name="Text 2"/>
          <p:cNvSpPr/>
          <p:nvPr/>
        </p:nvSpPr>
        <p:spPr>
          <a:xfrm>
            <a:off x="457200" y="1005840"/>
            <a:ext cx="1920240" cy="777240"/>
          </a:xfrm>
          <a:prstGeom prst="rect">
            <a:avLst/>
          </a:prstGeom>
          <a:noFill/>
          <a:ln/>
        </p:spPr>
        <p:txBody>
          <a:bodyPr wrap="square" lIns="0" tIns="0" rIns="0" bIns="0" rtlCol="0" anchor="ctr"/>
          <a:lstStyle/>
          <a:p>
            <a:pPr marL="0" indent="0" algn="ctr">
              <a:buNone/>
            </a:pPr>
            <a:r>
              <a:rPr lang="en-US" sz="4000" b="1" dirty="0">
                <a:solidFill>
                  <a:srgbClr val="0D9488"/>
                </a:solidFill>
                <a:latin typeface="Georgia" pitchFamily="34" charset="0"/>
                <a:ea typeface="Georgia" pitchFamily="34" charset="-122"/>
                <a:cs typeface="Georgia" pitchFamily="34" charset="-120"/>
              </a:rPr>
              <a:t>695</a:t>
            </a:r>
            <a:endParaRPr lang="en-US" sz="4000" dirty="0"/>
          </a:p>
        </p:txBody>
      </p:sp>
      <p:sp>
        <p:nvSpPr>
          <p:cNvPr id="5" name="Text 3"/>
          <p:cNvSpPr/>
          <p:nvPr/>
        </p:nvSpPr>
        <p:spPr>
          <a:xfrm>
            <a:off x="457200" y="1755648"/>
            <a:ext cx="1920240" cy="59436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Books</a:t>
            </a:r>
            <a:endParaRPr lang="en-US" sz="1200" dirty="0"/>
          </a:p>
        </p:txBody>
      </p:sp>
      <p:sp>
        <p:nvSpPr>
          <p:cNvPr id="6" name="Shape 4"/>
          <p:cNvSpPr/>
          <p:nvPr/>
        </p:nvSpPr>
        <p:spPr>
          <a:xfrm>
            <a:off x="2606040" y="960120"/>
            <a:ext cx="1920240" cy="1463040"/>
          </a:xfrm>
          <a:prstGeom prst="rect">
            <a:avLst/>
          </a:prstGeom>
          <a:solidFill>
            <a:srgbClr val="1B2E4B"/>
          </a:solidFill>
          <a:ln/>
          <a:effectLst>
            <a:outerShdw blurRad="101600" dist="25400" dir="8100000" algn="bl" rotWithShape="0">
              <a:srgbClr val="000000">
                <a:alpha val="11000"/>
              </a:srgbClr>
            </a:outerShdw>
          </a:effectLst>
        </p:spPr>
        <p:txBody>
          <a:bodyPr/>
          <a:lstStyle/>
          <a:p>
            <a:endParaRPr lang="en-US"/>
          </a:p>
        </p:txBody>
      </p:sp>
      <p:sp>
        <p:nvSpPr>
          <p:cNvPr id="7" name="Text 5"/>
          <p:cNvSpPr/>
          <p:nvPr/>
        </p:nvSpPr>
        <p:spPr>
          <a:xfrm>
            <a:off x="2606040" y="1005840"/>
            <a:ext cx="1920240" cy="777240"/>
          </a:xfrm>
          <a:prstGeom prst="rect">
            <a:avLst/>
          </a:prstGeom>
          <a:noFill/>
          <a:ln/>
        </p:spPr>
        <p:txBody>
          <a:bodyPr wrap="square" lIns="0" tIns="0" rIns="0" bIns="0" rtlCol="0" anchor="ctr"/>
          <a:lstStyle/>
          <a:p>
            <a:pPr marL="0" indent="0" algn="ctr">
              <a:buNone/>
            </a:pPr>
            <a:r>
              <a:rPr lang="en-US" sz="4000" b="1" dirty="0">
                <a:solidFill>
                  <a:srgbClr val="0D9488"/>
                </a:solidFill>
                <a:latin typeface="Georgia" pitchFamily="34" charset="0"/>
                <a:ea typeface="Georgia" pitchFamily="34" charset="-122"/>
                <a:cs typeface="Georgia" pitchFamily="34" charset="-120"/>
              </a:rPr>
              <a:t>7,349</a:t>
            </a:r>
            <a:endParaRPr lang="en-US" sz="4000" dirty="0"/>
          </a:p>
        </p:txBody>
      </p:sp>
      <p:sp>
        <p:nvSpPr>
          <p:cNvPr id="8" name="Text 6"/>
          <p:cNvSpPr/>
          <p:nvPr/>
        </p:nvSpPr>
        <p:spPr>
          <a:xfrm>
            <a:off x="2606040" y="1755648"/>
            <a:ext cx="1920240" cy="59436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Chapters</a:t>
            </a:r>
            <a:endParaRPr lang="en-US" sz="1200" dirty="0"/>
          </a:p>
        </p:txBody>
      </p:sp>
      <p:sp>
        <p:nvSpPr>
          <p:cNvPr id="9" name="Shape 7"/>
          <p:cNvSpPr/>
          <p:nvPr/>
        </p:nvSpPr>
        <p:spPr>
          <a:xfrm>
            <a:off x="4754880" y="960120"/>
            <a:ext cx="1920240" cy="1463040"/>
          </a:xfrm>
          <a:prstGeom prst="rect">
            <a:avLst/>
          </a:prstGeom>
          <a:solidFill>
            <a:srgbClr val="1B2E4B"/>
          </a:solidFill>
          <a:ln/>
          <a:effectLst>
            <a:outerShdw blurRad="101600" dist="25400" dir="8100000" algn="bl" rotWithShape="0">
              <a:srgbClr val="000000">
                <a:alpha val="11000"/>
              </a:srgbClr>
            </a:outerShdw>
          </a:effectLst>
        </p:spPr>
        <p:txBody>
          <a:bodyPr/>
          <a:lstStyle/>
          <a:p>
            <a:endParaRPr lang="en-US"/>
          </a:p>
        </p:txBody>
      </p:sp>
      <p:sp>
        <p:nvSpPr>
          <p:cNvPr id="10" name="Text 8"/>
          <p:cNvSpPr/>
          <p:nvPr/>
        </p:nvSpPr>
        <p:spPr>
          <a:xfrm>
            <a:off x="4754880" y="1005840"/>
            <a:ext cx="1920240" cy="777240"/>
          </a:xfrm>
          <a:prstGeom prst="rect">
            <a:avLst/>
          </a:prstGeom>
          <a:noFill/>
          <a:ln/>
        </p:spPr>
        <p:txBody>
          <a:bodyPr wrap="square" lIns="0" tIns="0" rIns="0" bIns="0" rtlCol="0" anchor="ctr"/>
          <a:lstStyle/>
          <a:p>
            <a:pPr marL="0" indent="0" algn="ctr">
              <a:buNone/>
            </a:pPr>
            <a:r>
              <a:rPr lang="en-US" sz="4000" b="1" dirty="0">
                <a:solidFill>
                  <a:srgbClr val="0D9488"/>
                </a:solidFill>
                <a:latin typeface="Georgia" pitchFamily="34" charset="0"/>
                <a:ea typeface="Georgia" pitchFamily="34" charset="-122"/>
                <a:cs typeface="Georgia" pitchFamily="34" charset="-120"/>
              </a:rPr>
              <a:t>70+</a:t>
            </a:r>
            <a:endParaRPr lang="en-US" sz="4000" dirty="0"/>
          </a:p>
        </p:txBody>
      </p:sp>
      <p:sp>
        <p:nvSpPr>
          <p:cNvPr id="11" name="Text 9"/>
          <p:cNvSpPr/>
          <p:nvPr/>
        </p:nvSpPr>
        <p:spPr>
          <a:xfrm>
            <a:off x="4754880" y="1755648"/>
            <a:ext cx="1920240" cy="59436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Years</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1954–2025</a:t>
            </a:r>
            <a:endParaRPr lang="en-US" sz="1200" dirty="0"/>
          </a:p>
        </p:txBody>
      </p:sp>
      <p:sp>
        <p:nvSpPr>
          <p:cNvPr id="12" name="Shape 10"/>
          <p:cNvSpPr/>
          <p:nvPr/>
        </p:nvSpPr>
        <p:spPr>
          <a:xfrm>
            <a:off x="6903720" y="960120"/>
            <a:ext cx="1920240" cy="1463040"/>
          </a:xfrm>
          <a:prstGeom prst="rect">
            <a:avLst/>
          </a:prstGeom>
          <a:solidFill>
            <a:srgbClr val="1B2E4B"/>
          </a:solidFill>
          <a:ln/>
          <a:effectLst>
            <a:outerShdw blurRad="101600" dist="25400" dir="8100000" algn="bl" rotWithShape="0">
              <a:srgbClr val="000000">
                <a:alpha val="11000"/>
              </a:srgbClr>
            </a:outerShdw>
          </a:effectLst>
        </p:spPr>
        <p:txBody>
          <a:bodyPr/>
          <a:lstStyle/>
          <a:p>
            <a:endParaRPr lang="en-US"/>
          </a:p>
        </p:txBody>
      </p:sp>
      <p:sp>
        <p:nvSpPr>
          <p:cNvPr id="13" name="Text 11"/>
          <p:cNvSpPr/>
          <p:nvPr/>
        </p:nvSpPr>
        <p:spPr>
          <a:xfrm>
            <a:off x="6903720" y="1005840"/>
            <a:ext cx="1920240" cy="777240"/>
          </a:xfrm>
          <a:prstGeom prst="rect">
            <a:avLst/>
          </a:prstGeom>
          <a:noFill/>
          <a:ln/>
        </p:spPr>
        <p:txBody>
          <a:bodyPr wrap="square" lIns="0" tIns="0" rIns="0" bIns="0" rtlCol="0" anchor="ctr"/>
          <a:lstStyle/>
          <a:p>
            <a:pPr marL="0" indent="0" algn="ctr">
              <a:buNone/>
            </a:pPr>
            <a:r>
              <a:rPr lang="en-US" sz="4000" b="1" dirty="0">
                <a:solidFill>
                  <a:srgbClr val="0D9488"/>
                </a:solidFill>
                <a:latin typeface="Georgia" pitchFamily="34" charset="0"/>
                <a:ea typeface="Georgia" pitchFamily="34" charset="-122"/>
                <a:cs typeface="Georgia" pitchFamily="34" charset="-120"/>
              </a:rPr>
              <a:t>OCR</a:t>
            </a:r>
            <a:endParaRPr lang="en-US" sz="4000" dirty="0"/>
          </a:p>
        </p:txBody>
      </p:sp>
      <p:sp>
        <p:nvSpPr>
          <p:cNvPr id="14" name="Text 12"/>
          <p:cNvSpPr/>
          <p:nvPr/>
        </p:nvSpPr>
        <p:spPr>
          <a:xfrm>
            <a:off x="6903720" y="1755648"/>
            <a:ext cx="1920240" cy="59436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Text source</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(Calibre)</a:t>
            </a:r>
            <a:endParaRPr lang="en-US" sz="1200" dirty="0"/>
          </a:p>
        </p:txBody>
      </p:sp>
      <p:sp>
        <p:nvSpPr>
          <p:cNvPr id="15" name="Shape 13"/>
          <p:cNvSpPr/>
          <p:nvPr/>
        </p:nvSpPr>
        <p:spPr>
          <a:xfrm>
            <a:off x="457200" y="2606040"/>
            <a:ext cx="8229600" cy="224028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6" name="Shape 14"/>
          <p:cNvSpPr/>
          <p:nvPr/>
        </p:nvSpPr>
        <p:spPr>
          <a:xfrm>
            <a:off x="457200" y="2606040"/>
            <a:ext cx="8229600" cy="64008"/>
          </a:xfrm>
          <a:prstGeom prst="rect">
            <a:avLst/>
          </a:prstGeom>
          <a:solidFill>
            <a:srgbClr val="0D9488"/>
          </a:solidFill>
          <a:ln/>
        </p:spPr>
        <p:txBody>
          <a:bodyPr/>
          <a:lstStyle/>
          <a:p>
            <a:endParaRPr lang="en-US"/>
          </a:p>
        </p:txBody>
      </p:sp>
      <p:sp>
        <p:nvSpPr>
          <p:cNvPr id="17" name="Shape 15"/>
          <p:cNvSpPr/>
          <p:nvPr/>
        </p:nvSpPr>
        <p:spPr>
          <a:xfrm>
            <a:off x="457200" y="2606040"/>
            <a:ext cx="82296" cy="2240280"/>
          </a:xfrm>
          <a:prstGeom prst="rect">
            <a:avLst/>
          </a:prstGeom>
          <a:solidFill>
            <a:srgbClr val="0D9488"/>
          </a:solidFill>
          <a:ln/>
        </p:spPr>
        <p:txBody>
          <a:bodyPr/>
          <a:lstStyle/>
          <a:p>
            <a:endParaRPr lang="en-US"/>
          </a:p>
        </p:txBody>
      </p:sp>
      <p:sp>
        <p:nvSpPr>
          <p:cNvPr id="18" name="Text 16"/>
          <p:cNvSpPr/>
          <p:nvPr/>
        </p:nvSpPr>
        <p:spPr>
          <a:xfrm>
            <a:off x="685800" y="2724912"/>
            <a:ext cx="7863840" cy="438912"/>
          </a:xfrm>
          <a:prstGeom prst="rect">
            <a:avLst/>
          </a:prstGeom>
          <a:noFill/>
          <a:ln/>
        </p:spPr>
        <p:txBody>
          <a:bodyPr wrap="square"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 xml:space="preserve">1940s–60s  </a:t>
            </a:r>
            <a:r>
              <a:rPr lang="en-US" sz="1200" dirty="0">
                <a:solidFill>
                  <a:srgbClr val="1E293B"/>
                </a:solidFill>
                <a:latin typeface="Calibri" pitchFamily="34" charset="0"/>
                <a:ea typeface="Calibri" pitchFamily="34" charset="-122"/>
                <a:cs typeface="Calibri" pitchFamily="34" charset="-120"/>
              </a:rPr>
              <a:t>Foundational works — Wiener, Ashby, Beer, Shannon, McCulloch &amp; Pitts</a:t>
            </a:r>
            <a:endParaRPr lang="en-US" sz="1200" dirty="0"/>
          </a:p>
        </p:txBody>
      </p:sp>
      <p:sp>
        <p:nvSpPr>
          <p:cNvPr id="19" name="Text 17"/>
          <p:cNvSpPr/>
          <p:nvPr/>
        </p:nvSpPr>
        <p:spPr>
          <a:xfrm>
            <a:off x="685800" y="3209544"/>
            <a:ext cx="7863840" cy="438912"/>
          </a:xfrm>
          <a:prstGeom prst="rect">
            <a:avLst/>
          </a:prstGeom>
          <a:noFill/>
          <a:ln/>
        </p:spPr>
        <p:txBody>
          <a:bodyPr wrap="square"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 xml:space="preserve">1960s–70s  </a:t>
            </a:r>
            <a:r>
              <a:rPr lang="en-US" sz="1200" dirty="0">
                <a:solidFill>
                  <a:srgbClr val="1E293B"/>
                </a:solidFill>
                <a:latin typeface="Calibri" pitchFamily="34" charset="0"/>
                <a:ea typeface="Calibri" pitchFamily="34" charset="-122"/>
                <a:cs typeface="Calibri" pitchFamily="34" charset="-120"/>
              </a:rPr>
              <a:t>Second-order cybernetics — von Foerster, Maturana, Varela, Bateson</a:t>
            </a:r>
            <a:endParaRPr lang="en-US" sz="1200" dirty="0"/>
          </a:p>
        </p:txBody>
      </p:sp>
      <p:sp>
        <p:nvSpPr>
          <p:cNvPr id="20" name="Text 18"/>
          <p:cNvSpPr/>
          <p:nvPr/>
        </p:nvSpPr>
        <p:spPr>
          <a:xfrm>
            <a:off x="685800" y="3694176"/>
            <a:ext cx="7863840" cy="438912"/>
          </a:xfrm>
          <a:prstGeom prst="rect">
            <a:avLst/>
          </a:prstGeom>
          <a:noFill/>
          <a:ln/>
        </p:spPr>
        <p:txBody>
          <a:bodyPr wrap="square"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 xml:space="preserve">1950s–90s*  </a:t>
            </a:r>
            <a:r>
              <a:rPr lang="en-US" sz="1200" dirty="0">
                <a:solidFill>
                  <a:srgbClr val="1E293B"/>
                </a:solidFill>
                <a:latin typeface="Calibri" pitchFamily="34" charset="0"/>
                <a:ea typeface="Calibri" pitchFamily="34" charset="-122"/>
                <a:cs typeface="Calibri" pitchFamily="34" charset="-120"/>
              </a:rPr>
              <a:t>General Systems Theory (Bertalanffy 1950s+), management cybernetics, biosemiotics</a:t>
            </a:r>
            <a:endParaRPr lang="en-US" sz="1200" dirty="0"/>
          </a:p>
        </p:txBody>
      </p:sp>
      <p:sp>
        <p:nvSpPr>
          <p:cNvPr id="21" name="Text 19"/>
          <p:cNvSpPr/>
          <p:nvPr/>
        </p:nvSpPr>
        <p:spPr>
          <a:xfrm>
            <a:off x="685800" y="4178808"/>
            <a:ext cx="7863840" cy="438912"/>
          </a:xfrm>
          <a:prstGeom prst="rect">
            <a:avLst/>
          </a:prstGeom>
          <a:noFill/>
          <a:ln/>
        </p:spPr>
        <p:txBody>
          <a:bodyPr wrap="square"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 xml:space="preserve">1990s–now  </a:t>
            </a:r>
            <a:r>
              <a:rPr lang="en-US" sz="1200" dirty="0">
                <a:solidFill>
                  <a:srgbClr val="1E293B"/>
                </a:solidFill>
                <a:latin typeface="Calibri" pitchFamily="34" charset="0"/>
                <a:ea typeface="Calibri" pitchFamily="34" charset="-122"/>
                <a:cs typeface="Calibri" pitchFamily="34" charset="-120"/>
              </a:rPr>
              <a:t>Complexity, enactivism, digital humanities, ANU School of Cybernetics</a:t>
            </a:r>
            <a:endParaRPr lang="en-US" sz="1200" dirty="0"/>
          </a:p>
        </p:txBody>
      </p:sp>
      <p:sp>
        <p:nvSpPr>
          <p:cNvPr id="22" name="Text 20"/>
          <p:cNvSpPr/>
          <p:nvPr/>
        </p:nvSpPr>
        <p:spPr>
          <a:xfrm>
            <a:off x="457200" y="4681728"/>
            <a:ext cx="8229600" cy="246888"/>
          </a:xfrm>
          <a:prstGeom prst="rect">
            <a:avLst/>
          </a:prstGeom>
          <a:noFill/>
          <a:ln/>
        </p:spPr>
        <p:txBody>
          <a:bodyPr wrap="square"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 GST dates from the 1950s; corpus coverage of that period may be incomplete.  Findings are provisional — the collection is not exhaustive.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marL="0" indent="0">
              <a:buNone/>
            </a:pPr>
            <a:r>
              <a:rPr lang="en-US" sz="3000" b="1" dirty="0">
                <a:solidFill>
                  <a:srgbClr val="1B2E4B"/>
                </a:solidFill>
                <a:latin typeface="Georgia" pitchFamily="34" charset="0"/>
                <a:ea typeface="Georgia" pitchFamily="34" charset="-122"/>
                <a:cs typeface="Georgia" pitchFamily="34" charset="-120"/>
              </a:rPr>
              <a:t>What Are We Trying to Find Out?</a:t>
            </a:r>
            <a:endParaRPr lang="en-US" sz="3000" dirty="0"/>
          </a:p>
        </p:txBody>
      </p:sp>
      <p:sp>
        <p:nvSpPr>
          <p:cNvPr id="3" name="Shape 1"/>
          <p:cNvSpPr/>
          <p:nvPr/>
        </p:nvSpPr>
        <p:spPr>
          <a:xfrm>
            <a:off x="457200" y="987552"/>
            <a:ext cx="8229600" cy="694944"/>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wrap="square" rtlCol="0" anchor="ctr"/>
          <a:lstStyle/>
          <a:p>
            <a:pPr marL="114300" indent="0">
              <a:buNone/>
            </a:pPr>
            <a:r>
              <a:rPr lang="en-US" sz="1200" i="1" dirty="0">
                <a:solidFill>
                  <a:srgbClr val="475569"/>
                </a:solidFill>
                <a:latin typeface="Calibri" pitchFamily="34" charset="0"/>
                <a:ea typeface="Calibri" pitchFamily="34" charset="-122"/>
                <a:cs typeface="Calibri" pitchFamily="34" charset="-120"/>
              </a:rPr>
              <a:t>Reading one book vs. reading 695 books over 70 years is not just a difference of scale — it is a difference in epistemic access. The questions below are only askable at corpus scale.</a:t>
            </a:r>
            <a:endParaRPr lang="en-US" sz="1200" dirty="0"/>
          </a:p>
        </p:txBody>
      </p:sp>
      <p:sp>
        <p:nvSpPr>
          <p:cNvPr id="4" name="Shape 2"/>
          <p:cNvSpPr/>
          <p:nvPr/>
        </p:nvSpPr>
        <p:spPr>
          <a:xfrm>
            <a:off x="457200" y="987552"/>
            <a:ext cx="82296" cy="694944"/>
          </a:xfrm>
          <a:prstGeom prst="rect">
            <a:avLst/>
          </a:prstGeom>
          <a:solidFill>
            <a:srgbClr val="0D9488"/>
          </a:solidFill>
          <a:ln/>
        </p:spPr>
        <p:txBody>
          <a:bodyPr/>
          <a:lstStyle/>
          <a:p>
            <a:endParaRPr lang="en-US"/>
          </a:p>
        </p:txBody>
      </p:sp>
      <p:sp>
        <p:nvSpPr>
          <p:cNvPr id="5" name="Shape 3"/>
          <p:cNvSpPr/>
          <p:nvPr/>
        </p:nvSpPr>
        <p:spPr>
          <a:xfrm>
            <a:off x="621792" y="1152144"/>
            <a:ext cx="365760" cy="365760"/>
          </a:xfrm>
          <a:prstGeom prst="ellipse">
            <a:avLst/>
          </a:prstGeom>
          <a:solidFill>
            <a:srgbClr val="0D9488"/>
          </a:solidFill>
          <a:ln/>
        </p:spPr>
        <p:txBody>
          <a:bodyPr/>
          <a:lstStyle/>
          <a:p>
            <a:endParaRPr lang="en-US"/>
          </a:p>
        </p:txBody>
      </p:sp>
      <p:sp>
        <p:nvSpPr>
          <p:cNvPr id="6" name="Text 4"/>
          <p:cNvSpPr/>
          <p:nvPr/>
        </p:nvSpPr>
        <p:spPr>
          <a:xfrm>
            <a:off x="621792" y="115214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7" name="Text 5"/>
          <p:cNvSpPr/>
          <p:nvPr/>
        </p:nvSpPr>
        <p:spPr>
          <a:xfrm>
            <a:off x="1115568" y="1097280"/>
            <a:ext cx="6309360" cy="475488"/>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What are the major intellectual ideas within cybernetics?</a:t>
            </a:r>
            <a:endParaRPr lang="en-US" sz="1400" dirty="0"/>
          </a:p>
        </p:txBody>
      </p:sp>
      <p:sp>
        <p:nvSpPr>
          <p:cNvPr id="8" name="Shape 6"/>
          <p:cNvSpPr/>
          <p:nvPr/>
        </p:nvSpPr>
        <p:spPr>
          <a:xfrm>
            <a:off x="7516368" y="1188720"/>
            <a:ext cx="1005840" cy="301752"/>
          </a:xfrm>
          <a:prstGeom prst="rect">
            <a:avLst/>
          </a:prstGeom>
          <a:solidFill>
            <a:srgbClr val="0D9488">
              <a:alpha val="20000"/>
            </a:srgbClr>
          </a:solidFill>
          <a:ln/>
        </p:spPr>
        <p:txBody>
          <a:bodyPr/>
          <a:lstStyle/>
          <a:p>
            <a:endParaRPr lang="en-US"/>
          </a:p>
        </p:txBody>
      </p:sp>
      <p:sp>
        <p:nvSpPr>
          <p:cNvPr id="9" name="Text 7"/>
          <p:cNvSpPr/>
          <p:nvPr/>
        </p:nvSpPr>
        <p:spPr>
          <a:xfrm>
            <a:off x="7516368" y="1188720"/>
            <a:ext cx="1005840" cy="301752"/>
          </a:xfrm>
          <a:prstGeom prst="rect">
            <a:avLst/>
          </a:prstGeom>
          <a:noFill/>
          <a:ln/>
        </p:spPr>
        <p:txBody>
          <a:bodyPr wrap="square" lIns="0" tIns="0" rIns="0" bIns="0"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Topics</a:t>
            </a:r>
            <a:endParaRPr lang="en-US" sz="1000" dirty="0"/>
          </a:p>
        </p:txBody>
      </p:sp>
      <p:sp>
        <p:nvSpPr>
          <p:cNvPr id="10" name="Shape 8"/>
          <p:cNvSpPr/>
          <p:nvPr/>
        </p:nvSpPr>
        <p:spPr>
          <a:xfrm>
            <a:off x="457200" y="1792224"/>
            <a:ext cx="8229600" cy="694944"/>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1" name="Shape 9"/>
          <p:cNvSpPr/>
          <p:nvPr/>
        </p:nvSpPr>
        <p:spPr>
          <a:xfrm>
            <a:off x="457200" y="1792224"/>
            <a:ext cx="82296" cy="694944"/>
          </a:xfrm>
          <a:prstGeom prst="rect">
            <a:avLst/>
          </a:prstGeom>
          <a:solidFill>
            <a:srgbClr val="1D4ED8"/>
          </a:solidFill>
          <a:ln/>
        </p:spPr>
        <p:txBody>
          <a:bodyPr/>
          <a:lstStyle/>
          <a:p>
            <a:endParaRPr lang="en-US"/>
          </a:p>
        </p:txBody>
      </p:sp>
      <p:sp>
        <p:nvSpPr>
          <p:cNvPr id="12" name="Shape 10"/>
          <p:cNvSpPr/>
          <p:nvPr/>
        </p:nvSpPr>
        <p:spPr>
          <a:xfrm>
            <a:off x="621792" y="1956816"/>
            <a:ext cx="365760" cy="365760"/>
          </a:xfrm>
          <a:prstGeom prst="ellipse">
            <a:avLst/>
          </a:prstGeom>
          <a:solidFill>
            <a:srgbClr val="0D9488"/>
          </a:solidFill>
          <a:ln/>
        </p:spPr>
        <p:txBody>
          <a:bodyPr/>
          <a:lstStyle/>
          <a:p>
            <a:endParaRPr lang="en-US"/>
          </a:p>
        </p:txBody>
      </p:sp>
      <p:sp>
        <p:nvSpPr>
          <p:cNvPr id="13" name="Text 11"/>
          <p:cNvSpPr/>
          <p:nvPr/>
        </p:nvSpPr>
        <p:spPr>
          <a:xfrm>
            <a:off x="621792" y="195681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4" name="Text 12"/>
          <p:cNvSpPr/>
          <p:nvPr/>
        </p:nvSpPr>
        <p:spPr>
          <a:xfrm>
            <a:off x="1115568" y="1901952"/>
            <a:ext cx="6309360" cy="475488"/>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How has the field evolved since the 1950s — who and what has driven change?</a:t>
            </a:r>
            <a:endParaRPr lang="en-US" sz="1400" dirty="0"/>
          </a:p>
        </p:txBody>
      </p:sp>
      <p:sp>
        <p:nvSpPr>
          <p:cNvPr id="15" name="Shape 13"/>
          <p:cNvSpPr/>
          <p:nvPr/>
        </p:nvSpPr>
        <p:spPr>
          <a:xfrm>
            <a:off x="7516368" y="1993392"/>
            <a:ext cx="1005840" cy="301752"/>
          </a:xfrm>
          <a:prstGeom prst="rect">
            <a:avLst/>
          </a:prstGeom>
          <a:solidFill>
            <a:srgbClr val="1D4ED8">
              <a:alpha val="20000"/>
            </a:srgbClr>
          </a:solidFill>
          <a:ln/>
        </p:spPr>
        <p:txBody>
          <a:bodyPr/>
          <a:lstStyle/>
          <a:p>
            <a:endParaRPr lang="en-US"/>
          </a:p>
        </p:txBody>
      </p:sp>
      <p:sp>
        <p:nvSpPr>
          <p:cNvPr id="16" name="Text 14"/>
          <p:cNvSpPr/>
          <p:nvPr/>
        </p:nvSpPr>
        <p:spPr>
          <a:xfrm>
            <a:off x="7516368" y="1993392"/>
            <a:ext cx="1005840" cy="301752"/>
          </a:xfrm>
          <a:prstGeom prst="rect">
            <a:avLst/>
          </a:prstGeom>
          <a:noFill/>
          <a:ln/>
        </p:spPr>
        <p:txBody>
          <a:bodyPr wrap="square" lIns="0" tIns="0" rIns="0" bIns="0" rtlCol="0" anchor="ctr"/>
          <a:lstStyle/>
          <a:p>
            <a:pPr marL="0" indent="0" algn="ctr">
              <a:buNone/>
            </a:pPr>
            <a:r>
              <a:rPr lang="en-US" sz="1000" b="1" dirty="0">
                <a:solidFill>
                  <a:srgbClr val="1D4ED8"/>
                </a:solidFill>
                <a:latin typeface="Calibri" pitchFamily="34" charset="0"/>
                <a:ea typeface="Calibri" pitchFamily="34" charset="-122"/>
                <a:cs typeface="Calibri" pitchFamily="34" charset="-120"/>
              </a:rPr>
              <a:t>Temporal</a:t>
            </a:r>
            <a:endParaRPr lang="en-US" sz="1000" dirty="0"/>
          </a:p>
        </p:txBody>
      </p:sp>
      <p:sp>
        <p:nvSpPr>
          <p:cNvPr id="17" name="Shape 15"/>
          <p:cNvSpPr/>
          <p:nvPr/>
        </p:nvSpPr>
        <p:spPr>
          <a:xfrm>
            <a:off x="457200" y="2596896"/>
            <a:ext cx="8229600" cy="694944"/>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8" name="Shape 16"/>
          <p:cNvSpPr/>
          <p:nvPr/>
        </p:nvSpPr>
        <p:spPr>
          <a:xfrm>
            <a:off x="457200" y="2596896"/>
            <a:ext cx="82296" cy="694944"/>
          </a:xfrm>
          <a:prstGeom prst="rect">
            <a:avLst/>
          </a:prstGeom>
          <a:solidFill>
            <a:srgbClr val="7C3AED"/>
          </a:solidFill>
          <a:ln/>
        </p:spPr>
        <p:txBody>
          <a:bodyPr/>
          <a:lstStyle/>
          <a:p>
            <a:endParaRPr lang="en-US"/>
          </a:p>
        </p:txBody>
      </p:sp>
      <p:sp>
        <p:nvSpPr>
          <p:cNvPr id="19" name="Shape 17"/>
          <p:cNvSpPr/>
          <p:nvPr/>
        </p:nvSpPr>
        <p:spPr>
          <a:xfrm>
            <a:off x="621792" y="2761488"/>
            <a:ext cx="365760" cy="365760"/>
          </a:xfrm>
          <a:prstGeom prst="ellipse">
            <a:avLst/>
          </a:prstGeom>
          <a:solidFill>
            <a:srgbClr val="0D9488"/>
          </a:solidFill>
          <a:ln/>
        </p:spPr>
        <p:txBody>
          <a:bodyPr/>
          <a:lstStyle/>
          <a:p>
            <a:endParaRPr lang="en-US"/>
          </a:p>
        </p:txBody>
      </p:sp>
      <p:sp>
        <p:nvSpPr>
          <p:cNvPr id="20" name="Text 18"/>
          <p:cNvSpPr/>
          <p:nvPr/>
        </p:nvSpPr>
        <p:spPr>
          <a:xfrm>
            <a:off x="621792" y="276148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21" name="Text 19"/>
          <p:cNvSpPr/>
          <p:nvPr/>
        </p:nvSpPr>
        <p:spPr>
          <a:xfrm>
            <a:off x="1115568" y="2706624"/>
            <a:ext cx="6309360" cy="475488"/>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Which concepts and persons are most central across the literature?</a:t>
            </a:r>
            <a:endParaRPr lang="en-US" sz="1400" dirty="0"/>
          </a:p>
        </p:txBody>
      </p:sp>
      <p:sp>
        <p:nvSpPr>
          <p:cNvPr id="22" name="Shape 20"/>
          <p:cNvSpPr/>
          <p:nvPr/>
        </p:nvSpPr>
        <p:spPr>
          <a:xfrm>
            <a:off x="7516368" y="2798064"/>
            <a:ext cx="1005840" cy="301752"/>
          </a:xfrm>
          <a:prstGeom prst="rect">
            <a:avLst/>
          </a:prstGeom>
          <a:solidFill>
            <a:srgbClr val="7C3AED">
              <a:alpha val="20000"/>
            </a:srgbClr>
          </a:solidFill>
          <a:ln/>
        </p:spPr>
        <p:txBody>
          <a:bodyPr/>
          <a:lstStyle/>
          <a:p>
            <a:endParaRPr lang="en-US"/>
          </a:p>
        </p:txBody>
      </p:sp>
      <p:sp>
        <p:nvSpPr>
          <p:cNvPr id="23" name="Text 21"/>
          <p:cNvSpPr/>
          <p:nvPr/>
        </p:nvSpPr>
        <p:spPr>
          <a:xfrm>
            <a:off x="7516368" y="2798064"/>
            <a:ext cx="1005840" cy="301752"/>
          </a:xfrm>
          <a:prstGeom prst="rect">
            <a:avLst/>
          </a:prstGeom>
          <a:noFill/>
          <a:ln/>
        </p:spPr>
        <p:txBody>
          <a:bodyPr wrap="square" lIns="0" tIns="0" rIns="0" bIns="0" rtlCol="0" anchor="ctr"/>
          <a:lstStyle/>
          <a:p>
            <a:pPr marL="0" indent="0" algn="ctr">
              <a:buNone/>
            </a:pPr>
            <a:r>
              <a:rPr lang="en-US" sz="1000" b="1" dirty="0">
                <a:solidFill>
                  <a:srgbClr val="7C3AED"/>
                </a:solidFill>
                <a:latin typeface="Calibri" pitchFamily="34" charset="0"/>
                <a:ea typeface="Calibri" pitchFamily="34" charset="-122"/>
                <a:cs typeface="Calibri" pitchFamily="34" charset="-120"/>
              </a:rPr>
              <a:t>Network</a:t>
            </a:r>
            <a:endParaRPr lang="en-US" sz="1000" dirty="0"/>
          </a:p>
        </p:txBody>
      </p:sp>
      <p:sp>
        <p:nvSpPr>
          <p:cNvPr id="24" name="Shape 22"/>
          <p:cNvSpPr/>
          <p:nvPr/>
        </p:nvSpPr>
        <p:spPr>
          <a:xfrm>
            <a:off x="457200" y="3401568"/>
            <a:ext cx="8229600" cy="694944"/>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25" name="Shape 23"/>
          <p:cNvSpPr/>
          <p:nvPr/>
        </p:nvSpPr>
        <p:spPr>
          <a:xfrm>
            <a:off x="457200" y="3401568"/>
            <a:ext cx="82296" cy="694944"/>
          </a:xfrm>
          <a:prstGeom prst="rect">
            <a:avLst/>
          </a:prstGeom>
          <a:solidFill>
            <a:srgbClr val="DB2777"/>
          </a:solidFill>
          <a:ln/>
        </p:spPr>
        <p:txBody>
          <a:bodyPr/>
          <a:lstStyle/>
          <a:p>
            <a:endParaRPr lang="en-US"/>
          </a:p>
        </p:txBody>
      </p:sp>
      <p:sp>
        <p:nvSpPr>
          <p:cNvPr id="26" name="Shape 24"/>
          <p:cNvSpPr/>
          <p:nvPr/>
        </p:nvSpPr>
        <p:spPr>
          <a:xfrm>
            <a:off x="621792" y="3566160"/>
            <a:ext cx="365760" cy="365760"/>
          </a:xfrm>
          <a:prstGeom prst="ellipse">
            <a:avLst/>
          </a:prstGeom>
          <a:solidFill>
            <a:srgbClr val="0D9488"/>
          </a:solidFill>
          <a:ln/>
        </p:spPr>
        <p:txBody>
          <a:bodyPr/>
          <a:lstStyle/>
          <a:p>
            <a:endParaRPr lang="en-US"/>
          </a:p>
        </p:txBody>
      </p:sp>
      <p:sp>
        <p:nvSpPr>
          <p:cNvPr id="27" name="Text 25"/>
          <p:cNvSpPr/>
          <p:nvPr/>
        </p:nvSpPr>
        <p:spPr>
          <a:xfrm>
            <a:off x="621792" y="35661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8" name="Text 26"/>
          <p:cNvSpPr/>
          <p:nvPr/>
        </p:nvSpPr>
        <p:spPr>
          <a:xfrm>
            <a:off x="1115568" y="3511296"/>
            <a:ext cx="6309360" cy="475488"/>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How do key terms migrate between subdisciplines over time?</a:t>
            </a:r>
            <a:endParaRPr lang="en-US" sz="1400" dirty="0"/>
          </a:p>
        </p:txBody>
      </p:sp>
      <p:sp>
        <p:nvSpPr>
          <p:cNvPr id="29" name="Shape 27"/>
          <p:cNvSpPr/>
          <p:nvPr/>
        </p:nvSpPr>
        <p:spPr>
          <a:xfrm>
            <a:off x="7516368" y="3602736"/>
            <a:ext cx="1005840" cy="301752"/>
          </a:xfrm>
          <a:prstGeom prst="rect">
            <a:avLst/>
          </a:prstGeom>
          <a:solidFill>
            <a:srgbClr val="DB2777">
              <a:alpha val="20000"/>
            </a:srgbClr>
          </a:solidFill>
          <a:ln/>
        </p:spPr>
        <p:txBody>
          <a:bodyPr/>
          <a:lstStyle/>
          <a:p>
            <a:endParaRPr lang="en-US"/>
          </a:p>
        </p:txBody>
      </p:sp>
      <p:sp>
        <p:nvSpPr>
          <p:cNvPr id="30" name="Text 28"/>
          <p:cNvSpPr/>
          <p:nvPr/>
        </p:nvSpPr>
        <p:spPr>
          <a:xfrm>
            <a:off x="7516368" y="3602736"/>
            <a:ext cx="1005840" cy="301752"/>
          </a:xfrm>
          <a:prstGeom prst="rect">
            <a:avLst/>
          </a:prstGeom>
          <a:noFill/>
          <a:ln/>
        </p:spPr>
        <p:txBody>
          <a:bodyPr wrap="square" lIns="0" tIns="0" rIns="0" bIns="0" rtlCol="0" anchor="ctr"/>
          <a:lstStyle/>
          <a:p>
            <a:pPr marL="0" indent="0" algn="ctr">
              <a:buNone/>
            </a:pPr>
            <a:r>
              <a:rPr lang="en-US" sz="1000" b="1" dirty="0">
                <a:solidFill>
                  <a:srgbClr val="DB2777"/>
                </a:solidFill>
                <a:latin typeface="Calibri" pitchFamily="34" charset="0"/>
                <a:ea typeface="Calibri" pitchFamily="34" charset="-122"/>
                <a:cs typeface="Calibri" pitchFamily="34" charset="-120"/>
              </a:rPr>
              <a:t>Velocity</a:t>
            </a:r>
            <a:endParaRPr lang="en-US" sz="1000" dirty="0"/>
          </a:p>
        </p:txBody>
      </p:sp>
      <p:sp>
        <p:nvSpPr>
          <p:cNvPr id="31" name="Shape 29"/>
          <p:cNvSpPr/>
          <p:nvPr/>
        </p:nvSpPr>
        <p:spPr>
          <a:xfrm>
            <a:off x="457200" y="4206240"/>
            <a:ext cx="8229600" cy="694944"/>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32" name="Shape 30"/>
          <p:cNvSpPr/>
          <p:nvPr/>
        </p:nvSpPr>
        <p:spPr>
          <a:xfrm>
            <a:off x="457200" y="4206240"/>
            <a:ext cx="82296" cy="694944"/>
          </a:xfrm>
          <a:prstGeom prst="rect">
            <a:avLst/>
          </a:prstGeom>
          <a:solidFill>
            <a:srgbClr val="EA580C"/>
          </a:solidFill>
          <a:ln/>
        </p:spPr>
        <p:txBody>
          <a:bodyPr/>
          <a:lstStyle/>
          <a:p>
            <a:endParaRPr lang="en-US"/>
          </a:p>
        </p:txBody>
      </p:sp>
      <p:sp>
        <p:nvSpPr>
          <p:cNvPr id="33" name="Shape 31"/>
          <p:cNvSpPr/>
          <p:nvPr/>
        </p:nvSpPr>
        <p:spPr>
          <a:xfrm>
            <a:off x="621792" y="4370832"/>
            <a:ext cx="365760" cy="365760"/>
          </a:xfrm>
          <a:prstGeom prst="ellipse">
            <a:avLst/>
          </a:prstGeom>
          <a:solidFill>
            <a:srgbClr val="0D9488"/>
          </a:solidFill>
          <a:ln/>
        </p:spPr>
        <p:txBody>
          <a:bodyPr/>
          <a:lstStyle/>
          <a:p>
            <a:endParaRPr lang="en-US"/>
          </a:p>
        </p:txBody>
      </p:sp>
      <p:sp>
        <p:nvSpPr>
          <p:cNvPr id="34" name="Text 32"/>
          <p:cNvSpPr/>
          <p:nvPr/>
        </p:nvSpPr>
        <p:spPr>
          <a:xfrm>
            <a:off x="621792" y="43708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35" name="Text 33"/>
          <p:cNvSpPr/>
          <p:nvPr/>
        </p:nvSpPr>
        <p:spPr>
          <a:xfrm>
            <a:off x="1115568" y="4315968"/>
            <a:ext cx="6309360" cy="475488"/>
          </a:xfrm>
          <a:prstGeom prst="rect">
            <a:avLst/>
          </a:prstGeom>
          <a:noFill/>
          <a:ln/>
        </p:spPr>
        <p:txBody>
          <a:bodyPr wrap="square" rtlCol="0" anchor="ctr"/>
          <a:lstStyle/>
          <a:p>
            <a:pPr marL="0" indent="0">
              <a:buNone/>
            </a:pPr>
            <a:r>
              <a:rPr lang="en-US" sz="1400" dirty="0">
                <a:solidFill>
                  <a:srgbClr val="1E293B"/>
                </a:solidFill>
                <a:latin typeface="Calibri" pitchFamily="34" charset="0"/>
                <a:ea typeface="Calibri" pitchFamily="34" charset="-122"/>
                <a:cs typeface="Calibri" pitchFamily="34" charset="-120"/>
              </a:rPr>
              <a:t>What does AI-human teaming look like in practice for research?</a:t>
            </a:r>
            <a:endParaRPr lang="en-US" sz="1400" dirty="0"/>
          </a:p>
        </p:txBody>
      </p:sp>
      <p:sp>
        <p:nvSpPr>
          <p:cNvPr id="36" name="Shape 34"/>
          <p:cNvSpPr/>
          <p:nvPr/>
        </p:nvSpPr>
        <p:spPr>
          <a:xfrm>
            <a:off x="7516368" y="4407408"/>
            <a:ext cx="1005840" cy="301752"/>
          </a:xfrm>
          <a:prstGeom prst="rect">
            <a:avLst/>
          </a:prstGeom>
          <a:solidFill>
            <a:srgbClr val="EA580C">
              <a:alpha val="20000"/>
            </a:srgbClr>
          </a:solidFill>
          <a:ln/>
        </p:spPr>
        <p:txBody>
          <a:bodyPr/>
          <a:lstStyle/>
          <a:p>
            <a:endParaRPr lang="en-US"/>
          </a:p>
        </p:txBody>
      </p:sp>
      <p:sp>
        <p:nvSpPr>
          <p:cNvPr id="37" name="Text 35"/>
          <p:cNvSpPr/>
          <p:nvPr/>
        </p:nvSpPr>
        <p:spPr>
          <a:xfrm>
            <a:off x="7516368" y="4407408"/>
            <a:ext cx="1005840" cy="301752"/>
          </a:xfrm>
          <a:prstGeom prst="rect">
            <a:avLst/>
          </a:prstGeom>
          <a:noFill/>
          <a:ln/>
        </p:spPr>
        <p:txBody>
          <a:bodyPr wrap="square" lIns="0" tIns="0" rIns="0" bIns="0" rtlCol="0" anchor="ctr"/>
          <a:lstStyle/>
          <a:p>
            <a:pPr marL="0" indent="0" algn="ctr">
              <a:buNone/>
            </a:pPr>
            <a:r>
              <a:rPr lang="en-US" sz="1000" b="1" dirty="0">
                <a:solidFill>
                  <a:srgbClr val="EA580C"/>
                </a:solidFill>
                <a:latin typeface="Calibri" pitchFamily="34" charset="0"/>
                <a:ea typeface="Calibri" pitchFamily="34" charset="-122"/>
                <a:cs typeface="Calibri" pitchFamily="34" charset="-120"/>
              </a:rPr>
              <a:t>Meta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E4B"/>
        </a:solidFill>
        <a:effectLst/>
      </p:bgPr>
    </p:bg>
    <p:spTree>
      <p:nvGrpSpPr>
        <p:cNvPr id="1" name=""/>
        <p:cNvGrpSpPr/>
        <p:nvPr/>
      </p:nvGrpSpPr>
      <p:grpSpPr>
        <a:xfrm>
          <a:off x="0" y="0"/>
          <a:ext cx="0" cy="0"/>
          <a:chOff x="0" y="0"/>
          <a:chExt cx="0" cy="0"/>
        </a:xfrm>
      </p:grpSpPr>
      <p:sp>
        <p:nvSpPr>
          <p:cNvPr id="2" name="Shape 0"/>
          <p:cNvSpPr/>
          <p:nvPr/>
        </p:nvSpPr>
        <p:spPr>
          <a:xfrm>
            <a:off x="5669280" y="274320"/>
            <a:ext cx="128016" cy="128016"/>
          </a:xfrm>
          <a:prstGeom prst="ellipse">
            <a:avLst/>
          </a:prstGeom>
          <a:solidFill>
            <a:srgbClr val="0D9488">
              <a:alpha val="45000"/>
            </a:srgbClr>
          </a:solidFill>
          <a:ln/>
        </p:spPr>
        <p:txBody>
          <a:bodyPr/>
          <a:lstStyle/>
          <a:p>
            <a:endParaRPr lang="en-US"/>
          </a:p>
        </p:txBody>
      </p:sp>
      <p:sp>
        <p:nvSpPr>
          <p:cNvPr id="3" name="Shape 1"/>
          <p:cNvSpPr/>
          <p:nvPr/>
        </p:nvSpPr>
        <p:spPr>
          <a:xfrm>
            <a:off x="6172200" y="274320"/>
            <a:ext cx="128016" cy="128016"/>
          </a:xfrm>
          <a:prstGeom prst="ellipse">
            <a:avLst/>
          </a:prstGeom>
          <a:solidFill>
            <a:srgbClr val="0D9488">
              <a:alpha val="45000"/>
            </a:srgbClr>
          </a:solidFill>
          <a:ln/>
        </p:spPr>
        <p:txBody>
          <a:bodyPr/>
          <a:lstStyle/>
          <a:p>
            <a:endParaRPr lang="en-US"/>
          </a:p>
        </p:txBody>
      </p:sp>
      <p:sp>
        <p:nvSpPr>
          <p:cNvPr id="4" name="Shape 2"/>
          <p:cNvSpPr/>
          <p:nvPr/>
        </p:nvSpPr>
        <p:spPr>
          <a:xfrm>
            <a:off x="6675120" y="274320"/>
            <a:ext cx="128016" cy="128016"/>
          </a:xfrm>
          <a:prstGeom prst="ellipse">
            <a:avLst/>
          </a:prstGeom>
          <a:solidFill>
            <a:srgbClr val="0D9488">
              <a:alpha val="45000"/>
            </a:srgbClr>
          </a:solidFill>
          <a:ln/>
        </p:spPr>
        <p:txBody>
          <a:bodyPr/>
          <a:lstStyle/>
          <a:p>
            <a:endParaRPr lang="en-US"/>
          </a:p>
        </p:txBody>
      </p:sp>
      <p:sp>
        <p:nvSpPr>
          <p:cNvPr id="5" name="Shape 3"/>
          <p:cNvSpPr/>
          <p:nvPr/>
        </p:nvSpPr>
        <p:spPr>
          <a:xfrm>
            <a:off x="7178040" y="274320"/>
            <a:ext cx="128016" cy="128016"/>
          </a:xfrm>
          <a:prstGeom prst="ellipse">
            <a:avLst/>
          </a:prstGeom>
          <a:solidFill>
            <a:srgbClr val="0D9488">
              <a:alpha val="45000"/>
            </a:srgbClr>
          </a:solidFill>
          <a:ln/>
        </p:spPr>
        <p:txBody>
          <a:bodyPr/>
          <a:lstStyle/>
          <a:p>
            <a:endParaRPr lang="en-US"/>
          </a:p>
        </p:txBody>
      </p:sp>
      <p:sp>
        <p:nvSpPr>
          <p:cNvPr id="6" name="Shape 4"/>
          <p:cNvSpPr/>
          <p:nvPr/>
        </p:nvSpPr>
        <p:spPr>
          <a:xfrm>
            <a:off x="7680960" y="274320"/>
            <a:ext cx="128016" cy="128016"/>
          </a:xfrm>
          <a:prstGeom prst="ellipse">
            <a:avLst/>
          </a:prstGeom>
          <a:solidFill>
            <a:srgbClr val="0D9488">
              <a:alpha val="45000"/>
            </a:srgbClr>
          </a:solidFill>
          <a:ln/>
        </p:spPr>
        <p:txBody>
          <a:bodyPr/>
          <a:lstStyle/>
          <a:p>
            <a:endParaRPr lang="en-US"/>
          </a:p>
        </p:txBody>
      </p:sp>
      <p:sp>
        <p:nvSpPr>
          <p:cNvPr id="7" name="Shape 5"/>
          <p:cNvSpPr/>
          <p:nvPr/>
        </p:nvSpPr>
        <p:spPr>
          <a:xfrm>
            <a:off x="5669280" y="777240"/>
            <a:ext cx="128016" cy="128016"/>
          </a:xfrm>
          <a:prstGeom prst="ellipse">
            <a:avLst/>
          </a:prstGeom>
          <a:solidFill>
            <a:srgbClr val="0D9488">
              <a:alpha val="45000"/>
            </a:srgbClr>
          </a:solidFill>
          <a:ln/>
        </p:spPr>
        <p:txBody>
          <a:bodyPr/>
          <a:lstStyle/>
          <a:p>
            <a:endParaRPr lang="en-US"/>
          </a:p>
        </p:txBody>
      </p:sp>
      <p:sp>
        <p:nvSpPr>
          <p:cNvPr id="8" name="Shape 6"/>
          <p:cNvSpPr/>
          <p:nvPr/>
        </p:nvSpPr>
        <p:spPr>
          <a:xfrm>
            <a:off x="6172200" y="777240"/>
            <a:ext cx="128016" cy="128016"/>
          </a:xfrm>
          <a:prstGeom prst="ellipse">
            <a:avLst/>
          </a:prstGeom>
          <a:solidFill>
            <a:srgbClr val="0D9488">
              <a:alpha val="45000"/>
            </a:srgbClr>
          </a:solidFill>
          <a:ln/>
        </p:spPr>
        <p:txBody>
          <a:bodyPr/>
          <a:lstStyle/>
          <a:p>
            <a:endParaRPr lang="en-US"/>
          </a:p>
        </p:txBody>
      </p:sp>
      <p:sp>
        <p:nvSpPr>
          <p:cNvPr id="9" name="Shape 7"/>
          <p:cNvSpPr/>
          <p:nvPr/>
        </p:nvSpPr>
        <p:spPr>
          <a:xfrm>
            <a:off x="6675120" y="777240"/>
            <a:ext cx="128016" cy="128016"/>
          </a:xfrm>
          <a:prstGeom prst="ellipse">
            <a:avLst/>
          </a:prstGeom>
          <a:solidFill>
            <a:srgbClr val="0D9488">
              <a:alpha val="45000"/>
            </a:srgbClr>
          </a:solidFill>
          <a:ln/>
        </p:spPr>
        <p:txBody>
          <a:bodyPr/>
          <a:lstStyle/>
          <a:p>
            <a:endParaRPr lang="en-US"/>
          </a:p>
        </p:txBody>
      </p:sp>
      <p:sp>
        <p:nvSpPr>
          <p:cNvPr id="10" name="Shape 8"/>
          <p:cNvSpPr/>
          <p:nvPr/>
        </p:nvSpPr>
        <p:spPr>
          <a:xfrm>
            <a:off x="7178040" y="777240"/>
            <a:ext cx="128016" cy="128016"/>
          </a:xfrm>
          <a:prstGeom prst="ellipse">
            <a:avLst/>
          </a:prstGeom>
          <a:solidFill>
            <a:srgbClr val="0D9488">
              <a:alpha val="45000"/>
            </a:srgbClr>
          </a:solidFill>
          <a:ln/>
        </p:spPr>
        <p:txBody>
          <a:bodyPr/>
          <a:lstStyle/>
          <a:p>
            <a:endParaRPr lang="en-US"/>
          </a:p>
        </p:txBody>
      </p:sp>
      <p:sp>
        <p:nvSpPr>
          <p:cNvPr id="11" name="Shape 9"/>
          <p:cNvSpPr/>
          <p:nvPr/>
        </p:nvSpPr>
        <p:spPr>
          <a:xfrm>
            <a:off x="7680960" y="777240"/>
            <a:ext cx="128016" cy="128016"/>
          </a:xfrm>
          <a:prstGeom prst="ellipse">
            <a:avLst/>
          </a:prstGeom>
          <a:solidFill>
            <a:srgbClr val="0D9488">
              <a:alpha val="45000"/>
            </a:srgbClr>
          </a:solidFill>
          <a:ln/>
        </p:spPr>
        <p:txBody>
          <a:bodyPr/>
          <a:lstStyle/>
          <a:p>
            <a:endParaRPr lang="en-US"/>
          </a:p>
        </p:txBody>
      </p:sp>
      <p:sp>
        <p:nvSpPr>
          <p:cNvPr id="12" name="Shape 10"/>
          <p:cNvSpPr/>
          <p:nvPr/>
        </p:nvSpPr>
        <p:spPr>
          <a:xfrm>
            <a:off x="5669280" y="1280160"/>
            <a:ext cx="128016" cy="128016"/>
          </a:xfrm>
          <a:prstGeom prst="ellipse">
            <a:avLst/>
          </a:prstGeom>
          <a:solidFill>
            <a:srgbClr val="0D9488">
              <a:alpha val="45000"/>
            </a:srgbClr>
          </a:solidFill>
          <a:ln/>
        </p:spPr>
        <p:txBody>
          <a:bodyPr/>
          <a:lstStyle/>
          <a:p>
            <a:endParaRPr lang="en-US"/>
          </a:p>
        </p:txBody>
      </p:sp>
      <p:sp>
        <p:nvSpPr>
          <p:cNvPr id="13" name="Shape 11"/>
          <p:cNvSpPr/>
          <p:nvPr/>
        </p:nvSpPr>
        <p:spPr>
          <a:xfrm>
            <a:off x="6172200" y="1280160"/>
            <a:ext cx="128016" cy="128016"/>
          </a:xfrm>
          <a:prstGeom prst="ellipse">
            <a:avLst/>
          </a:prstGeom>
          <a:solidFill>
            <a:srgbClr val="0D9488">
              <a:alpha val="45000"/>
            </a:srgbClr>
          </a:solidFill>
          <a:ln/>
        </p:spPr>
        <p:txBody>
          <a:bodyPr/>
          <a:lstStyle/>
          <a:p>
            <a:endParaRPr lang="en-US"/>
          </a:p>
        </p:txBody>
      </p:sp>
      <p:sp>
        <p:nvSpPr>
          <p:cNvPr id="14" name="Shape 12"/>
          <p:cNvSpPr/>
          <p:nvPr/>
        </p:nvSpPr>
        <p:spPr>
          <a:xfrm>
            <a:off x="6675120" y="1280160"/>
            <a:ext cx="128016" cy="128016"/>
          </a:xfrm>
          <a:prstGeom prst="ellipse">
            <a:avLst/>
          </a:prstGeom>
          <a:solidFill>
            <a:srgbClr val="0D9488">
              <a:alpha val="45000"/>
            </a:srgbClr>
          </a:solidFill>
          <a:ln/>
        </p:spPr>
        <p:txBody>
          <a:bodyPr/>
          <a:lstStyle/>
          <a:p>
            <a:endParaRPr lang="en-US"/>
          </a:p>
        </p:txBody>
      </p:sp>
      <p:sp>
        <p:nvSpPr>
          <p:cNvPr id="15" name="Shape 13"/>
          <p:cNvSpPr/>
          <p:nvPr/>
        </p:nvSpPr>
        <p:spPr>
          <a:xfrm>
            <a:off x="7178040" y="1280160"/>
            <a:ext cx="128016" cy="128016"/>
          </a:xfrm>
          <a:prstGeom prst="ellipse">
            <a:avLst/>
          </a:prstGeom>
          <a:solidFill>
            <a:srgbClr val="0D9488">
              <a:alpha val="45000"/>
            </a:srgbClr>
          </a:solidFill>
          <a:ln/>
        </p:spPr>
        <p:txBody>
          <a:bodyPr/>
          <a:lstStyle/>
          <a:p>
            <a:endParaRPr lang="en-US"/>
          </a:p>
        </p:txBody>
      </p:sp>
      <p:sp>
        <p:nvSpPr>
          <p:cNvPr id="16" name="Shape 14"/>
          <p:cNvSpPr/>
          <p:nvPr/>
        </p:nvSpPr>
        <p:spPr>
          <a:xfrm>
            <a:off x="7680960" y="1280160"/>
            <a:ext cx="128016" cy="128016"/>
          </a:xfrm>
          <a:prstGeom prst="ellipse">
            <a:avLst/>
          </a:prstGeom>
          <a:solidFill>
            <a:srgbClr val="0D9488">
              <a:alpha val="45000"/>
            </a:srgbClr>
          </a:solidFill>
          <a:ln/>
        </p:spPr>
        <p:txBody>
          <a:bodyPr/>
          <a:lstStyle/>
          <a:p>
            <a:endParaRPr lang="en-US"/>
          </a:p>
        </p:txBody>
      </p:sp>
      <p:sp>
        <p:nvSpPr>
          <p:cNvPr id="17" name="Shape 15"/>
          <p:cNvSpPr/>
          <p:nvPr/>
        </p:nvSpPr>
        <p:spPr>
          <a:xfrm>
            <a:off x="457200" y="1691640"/>
            <a:ext cx="594360" cy="594360"/>
          </a:xfrm>
          <a:prstGeom prst="ellipse">
            <a:avLst/>
          </a:prstGeom>
          <a:solidFill>
            <a:srgbClr val="0D9488"/>
          </a:solidFill>
          <a:ln/>
        </p:spPr>
        <p:txBody>
          <a:bodyPr/>
          <a:lstStyle/>
          <a:p>
            <a:endParaRPr lang="en-US"/>
          </a:p>
        </p:txBody>
      </p:sp>
      <p:sp>
        <p:nvSpPr>
          <p:cNvPr id="18" name="Text 16"/>
          <p:cNvSpPr/>
          <p:nvPr/>
        </p:nvSpPr>
        <p:spPr>
          <a:xfrm>
            <a:off x="457200" y="169164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rPr>
              <a:t>1</a:t>
            </a:r>
            <a:endParaRPr lang="en-US" sz="2000" dirty="0"/>
          </a:p>
        </p:txBody>
      </p:sp>
      <p:sp>
        <p:nvSpPr>
          <p:cNvPr id="19" name="Text 17"/>
          <p:cNvSpPr/>
          <p:nvPr/>
        </p:nvSpPr>
        <p:spPr>
          <a:xfrm>
            <a:off x="1234440" y="1600200"/>
            <a:ext cx="7406640" cy="822960"/>
          </a:xfrm>
          <a:prstGeom prst="rect">
            <a:avLst/>
          </a:prstGeom>
          <a:noFill/>
          <a:ln/>
        </p:spPr>
        <p:txBody>
          <a:bodyPr wrap="square"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The Collaboration</a:t>
            </a:r>
            <a:endParaRPr lang="en-US" sz="4200" dirty="0"/>
          </a:p>
        </p:txBody>
      </p:sp>
      <p:sp>
        <p:nvSpPr>
          <p:cNvPr id="20" name="Text 18"/>
          <p:cNvSpPr/>
          <p:nvPr/>
        </p:nvSpPr>
        <p:spPr>
          <a:xfrm>
            <a:off x="1234440" y="2468880"/>
            <a:ext cx="7406640" cy="502920"/>
          </a:xfrm>
          <a:prstGeom prst="rect">
            <a:avLst/>
          </a:prstGeom>
          <a:noFill/>
          <a:ln/>
        </p:spPr>
        <p:txBody>
          <a:bodyPr wrap="square" rtlCol="0" anchor="ctr"/>
          <a:lstStyle/>
          <a:p>
            <a:pPr marL="0" indent="0">
              <a:buNone/>
            </a:pPr>
            <a:r>
              <a:rPr lang="en-US" sz="1700" i="1" dirty="0">
                <a:solidFill>
                  <a:srgbClr val="CCEFED"/>
                </a:solidFill>
                <a:latin typeface="Calibri" pitchFamily="34" charset="0"/>
                <a:ea typeface="Calibri" pitchFamily="34" charset="-122"/>
                <a:cs typeface="Calibri" pitchFamily="34" charset="-120"/>
              </a:rPr>
              <a:t>Human + AI co-authorship — what it looks like in practice</a:t>
            </a:r>
            <a:endParaRPr lang="en-US" sz="1700" dirty="0"/>
          </a:p>
        </p:txBody>
      </p:sp>
      <p:sp>
        <p:nvSpPr>
          <p:cNvPr id="21" name="Shape 19"/>
          <p:cNvSpPr/>
          <p:nvPr/>
        </p:nvSpPr>
        <p:spPr>
          <a:xfrm>
            <a:off x="457200" y="4572000"/>
            <a:ext cx="8229600" cy="36576"/>
          </a:xfrm>
          <a:prstGeom prst="rect">
            <a:avLst/>
          </a:prstGeom>
          <a:solidFill>
            <a:srgbClr val="0D9488">
              <a:alpha val="60000"/>
            </a:srgbClr>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marL="0" indent="0">
              <a:buNone/>
            </a:pPr>
            <a:r>
              <a:rPr lang="en-US" sz="2800" b="1" dirty="0">
                <a:solidFill>
                  <a:srgbClr val="1B2E4B"/>
                </a:solidFill>
                <a:latin typeface="Georgia" pitchFamily="34" charset="0"/>
                <a:ea typeface="Georgia" pitchFamily="34" charset="-122"/>
                <a:cs typeface="Georgia" pitchFamily="34" charset="-120"/>
              </a:rPr>
              <a:t>Who Did What?  (CRediT Taxonomy)</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3566160"/>
        </p:xfrm>
        <a:graphic>
          <a:graphicData uri="http://schemas.openxmlformats.org/drawingml/2006/table">
            <a:tbl>
              <a:tblPr/>
              <a:tblGrid>
                <a:gridCol w="393192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9624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E4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Paul Wong</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E4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Claude Sonnet 4.6</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E4B"/>
                    </a:solidFill>
                  </a:tcPr>
                </a:tc>
                <a:extLst>
                  <a:ext uri="{0D108BD9-81ED-4DB2-BD59-A6C34878D82A}">
                    <a16:rowId xmlns:a16="http://schemas.microsoft.com/office/drawing/2014/main" val="10000"/>
                  </a:ext>
                </a:extLst>
              </a:tr>
              <a:tr h="3962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Conceptualisation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D9488"/>
                          </a:solidFill>
                          <a:latin typeface="Calibri" pitchFamily="34" charset="0"/>
                          <a:ea typeface="Calibri" pitchFamily="34" charset="-122"/>
                          <a:cs typeface="Calibri" pitchFamily="34" charset="-120"/>
                        </a:rPr>
                        <a:t>✦ Lead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94A3B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62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Domain expertise (cybernetics)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D9488"/>
                          </a:solidFill>
                          <a:latin typeface="Calibri" pitchFamily="34" charset="0"/>
                          <a:ea typeface="Calibri" pitchFamily="34" charset="-122"/>
                          <a:cs typeface="Calibri" pitchFamily="34" charset="-120"/>
                        </a:rPr>
                        <a:t>✦ Lead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94A3B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62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Software  (~34 pipeline scripts)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94A3B8"/>
                          </a:solidFill>
                          <a:latin typeface="Calibri" pitchFamily="34" charset="0"/>
                          <a:ea typeface="Calibri" pitchFamily="34" charset="-122"/>
                          <a:cs typeface="Calibri" pitchFamily="34" charset="-120"/>
                        </a:rPr>
                        <a:t>◆ Supporting</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D9488"/>
                          </a:solidFill>
                          <a:latin typeface="Calibri" pitchFamily="34" charset="0"/>
                          <a:ea typeface="Calibri" pitchFamily="34" charset="-122"/>
                          <a:cs typeface="Calibri" pitchFamily="34" charset="-120"/>
                        </a:rPr>
                        <a:t>✦ Lead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62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Formal analysis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94A3B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D9488"/>
                          </a:solidFill>
                          <a:latin typeface="Calibri" pitchFamily="34" charset="0"/>
                          <a:ea typeface="Calibri" pitchFamily="34" charset="-122"/>
                          <a:cs typeface="Calibri" pitchFamily="34" charset="-120"/>
                        </a:rPr>
                        <a:t>✦ Lead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962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Visualisation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94A3B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D9488"/>
                          </a:solidFill>
                          <a:latin typeface="Calibri" pitchFamily="34" charset="0"/>
                          <a:ea typeface="Calibri" pitchFamily="34" charset="-122"/>
                          <a:cs typeface="Calibri" pitchFamily="34" charset="-120"/>
                        </a:rPr>
                        <a:t>✦ Lead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62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Data curation (corpus assembly)</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D9488"/>
                          </a:solidFill>
                          <a:latin typeface="Calibri" pitchFamily="34" charset="0"/>
                          <a:ea typeface="Calibri" pitchFamily="34" charset="-122"/>
                          <a:cs typeface="Calibri" pitchFamily="34" charset="-120"/>
                        </a:rPr>
                        <a:t>✦ Lead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94A3B8"/>
                          </a:solidFill>
                          <a:latin typeface="Calibri" pitchFamily="34" charset="0"/>
                          <a:ea typeface="Calibri" pitchFamily="34" charset="-122"/>
                          <a:cs typeface="Calibri" pitchFamily="34" charset="-120"/>
                        </a:rPr>
                        <a:t>◆ Supporting</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962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Documentation  (2,000+ lines)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94A3B8"/>
                          </a:solidFill>
                          <a:latin typeface="Calibri" pitchFamily="34" charset="0"/>
                          <a:ea typeface="Calibri" pitchFamily="34" charset="-122"/>
                          <a:cs typeface="Calibri" pitchFamily="34" charset="-120"/>
                        </a:rPr>
                        <a:t>◆ Supporting</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D9488"/>
                          </a:solidFill>
                          <a:latin typeface="Calibri" pitchFamily="34" charset="0"/>
                          <a:ea typeface="Calibri" pitchFamily="34" charset="-122"/>
                          <a:cs typeface="Calibri" pitchFamily="34" charset="-120"/>
                        </a:rPr>
                        <a:t>✦ Lead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9624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Supervision &amp; Project admin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0D9488"/>
                          </a:solidFill>
                          <a:latin typeface="Calibri" pitchFamily="34" charset="0"/>
                          <a:ea typeface="Calibri" pitchFamily="34" charset="-122"/>
                          <a:cs typeface="Calibri" pitchFamily="34" charset="-120"/>
                        </a:rPr>
                        <a:t>✦ Lead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94A3B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4" name="Text 1"/>
          <p:cNvSpPr/>
          <p:nvPr/>
        </p:nvSpPr>
        <p:spPr>
          <a:xfrm>
            <a:off x="457200" y="4645152"/>
            <a:ext cx="8229600" cy="274320"/>
          </a:xfrm>
          <a:prstGeom prst="rect">
            <a:avLst/>
          </a:prstGeom>
          <a:noFill/>
          <a:ln/>
        </p:spPr>
        <p:txBody>
          <a:bodyPr wrap="square"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 Lead  ·  ◆ Supporting  ·  — Not involved     |     Taxonomy proposed by Claude, reviewed and modified by Paul — expected to evolve as the work continues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marL="0" indent="0">
              <a:buNone/>
            </a:pPr>
            <a:r>
              <a:rPr lang="en-US" sz="2800" b="1" dirty="0">
                <a:solidFill>
                  <a:srgbClr val="1B2E4B"/>
                </a:solidFill>
                <a:latin typeface="Georgia" pitchFamily="34" charset="0"/>
                <a:ea typeface="Georgia" pitchFamily="34" charset="-122"/>
                <a:cs typeface="Georgia" pitchFamily="34" charset="-120"/>
              </a:rPr>
              <a:t>Building CyberneticsNLP — 5 Sessions</a:t>
            </a:r>
            <a:endParaRPr lang="en-US" sz="2800" dirty="0"/>
          </a:p>
        </p:txBody>
      </p:sp>
      <p:sp>
        <p:nvSpPr>
          <p:cNvPr id="3" name="Shape 1"/>
          <p:cNvSpPr/>
          <p:nvPr/>
        </p:nvSpPr>
        <p:spPr>
          <a:xfrm>
            <a:off x="548640" y="2304288"/>
            <a:ext cx="8046720" cy="54864"/>
          </a:xfrm>
          <a:prstGeom prst="rect">
            <a:avLst/>
          </a:prstGeom>
          <a:solidFill>
            <a:srgbClr val="0D9488">
              <a:alpha val="65000"/>
            </a:srgbClr>
          </a:solidFill>
          <a:ln/>
        </p:spPr>
        <p:txBody>
          <a:bodyPr/>
          <a:lstStyle/>
          <a:p>
            <a:endParaRPr lang="en-US"/>
          </a:p>
        </p:txBody>
      </p:sp>
      <p:sp>
        <p:nvSpPr>
          <p:cNvPr id="4" name="Text 2"/>
          <p:cNvSpPr/>
          <p:nvPr/>
        </p:nvSpPr>
        <p:spPr>
          <a:xfrm>
            <a:off x="512064" y="1664208"/>
            <a:ext cx="1143000" cy="320040"/>
          </a:xfrm>
          <a:prstGeom prst="rect">
            <a:avLst/>
          </a:prstGeom>
          <a:noFill/>
          <a:ln/>
        </p:spPr>
        <p:txBody>
          <a:bodyPr wrap="square" rtlCol="0" anchor="ctr"/>
          <a:lstStyle/>
          <a:p>
            <a:pPr marL="0" indent="0" algn="ctr">
              <a:buNone/>
            </a:pPr>
            <a:r>
              <a:rPr lang="en-US" sz="1200" b="1" dirty="0">
                <a:solidFill>
                  <a:srgbClr val="1B2E4B"/>
                </a:solidFill>
                <a:latin typeface="Georgia" pitchFamily="34" charset="0"/>
                <a:ea typeface="Georgia" pitchFamily="34" charset="-122"/>
                <a:cs typeface="Georgia" pitchFamily="34" charset="-120"/>
              </a:rPr>
              <a:t>Mar 20</a:t>
            </a:r>
            <a:endParaRPr lang="en-US" sz="1200" dirty="0"/>
          </a:p>
        </p:txBody>
      </p:sp>
      <p:sp>
        <p:nvSpPr>
          <p:cNvPr id="5" name="Shape 3"/>
          <p:cNvSpPr/>
          <p:nvPr/>
        </p:nvSpPr>
        <p:spPr>
          <a:xfrm>
            <a:off x="694944" y="1993392"/>
            <a:ext cx="658368" cy="228600"/>
          </a:xfrm>
          <a:prstGeom prst="rect">
            <a:avLst/>
          </a:prstGeom>
          <a:solidFill>
            <a:srgbClr val="0D9488"/>
          </a:solidFill>
          <a:ln/>
        </p:spPr>
        <p:txBody>
          <a:bodyPr/>
          <a:lstStyle/>
          <a:p>
            <a:endParaRPr lang="en-US"/>
          </a:p>
        </p:txBody>
      </p:sp>
      <p:sp>
        <p:nvSpPr>
          <p:cNvPr id="6" name="Text 4"/>
          <p:cNvSpPr/>
          <p:nvPr/>
        </p:nvSpPr>
        <p:spPr>
          <a:xfrm>
            <a:off x="694944" y="1993392"/>
            <a:ext cx="658368" cy="228600"/>
          </a:xfrm>
          <a:prstGeom prst="rect">
            <a:avLst/>
          </a:prstGeom>
          <a:noFill/>
          <a:ln/>
        </p:spPr>
        <p:txBody>
          <a:bodyPr wrap="square" lIns="0" tIns="0" rIns="0" bIns="0" rtlCol="0" anchor="ctr"/>
          <a:lstStyle/>
          <a:p>
            <a:pPr marL="0" indent="0" algn="ctr">
              <a:buNone/>
            </a:pPr>
            <a:r>
              <a:rPr lang="en-US" sz="900" b="1" dirty="0">
                <a:solidFill>
                  <a:srgbClr val="FFFFFF"/>
                </a:solidFill>
              </a:rPr>
              <a:t>v0.1</a:t>
            </a:r>
            <a:endParaRPr lang="en-US" sz="900" dirty="0"/>
          </a:p>
        </p:txBody>
      </p:sp>
      <p:sp>
        <p:nvSpPr>
          <p:cNvPr id="7" name="Shape 5"/>
          <p:cNvSpPr/>
          <p:nvPr/>
        </p:nvSpPr>
        <p:spPr>
          <a:xfrm>
            <a:off x="859536" y="2203704"/>
            <a:ext cx="347472" cy="347472"/>
          </a:xfrm>
          <a:prstGeom prst="ellipse">
            <a:avLst/>
          </a:prstGeom>
          <a:solidFill>
            <a:srgbClr val="1B2E4B"/>
          </a:solidFill>
          <a:ln w="25400">
            <a:solidFill>
              <a:srgbClr val="0D9488"/>
            </a:solidFill>
            <a:prstDash val="solid"/>
          </a:ln>
        </p:spPr>
        <p:txBody>
          <a:bodyPr/>
          <a:lstStyle/>
          <a:p>
            <a:endParaRPr lang="en-US"/>
          </a:p>
        </p:txBody>
      </p:sp>
      <p:sp>
        <p:nvSpPr>
          <p:cNvPr id="8" name="Shape 6"/>
          <p:cNvSpPr/>
          <p:nvPr/>
        </p:nvSpPr>
        <p:spPr>
          <a:xfrm>
            <a:off x="438912" y="2697480"/>
            <a:ext cx="1508760" cy="205740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9" name="Shape 7"/>
          <p:cNvSpPr/>
          <p:nvPr/>
        </p:nvSpPr>
        <p:spPr>
          <a:xfrm>
            <a:off x="438912" y="2697480"/>
            <a:ext cx="1508760" cy="64008"/>
          </a:xfrm>
          <a:prstGeom prst="rect">
            <a:avLst/>
          </a:prstGeom>
          <a:solidFill>
            <a:srgbClr val="0D9488"/>
          </a:solidFill>
          <a:ln/>
        </p:spPr>
        <p:txBody>
          <a:bodyPr/>
          <a:lstStyle/>
          <a:p>
            <a:endParaRPr lang="en-US"/>
          </a:p>
        </p:txBody>
      </p:sp>
      <p:sp>
        <p:nvSpPr>
          <p:cNvPr id="10" name="Text 8"/>
          <p:cNvSpPr/>
          <p:nvPr/>
        </p:nvSpPr>
        <p:spPr>
          <a:xfrm>
            <a:off x="512064" y="2834640"/>
            <a:ext cx="1371600" cy="1828800"/>
          </a:xfrm>
          <a:prstGeom prst="rect">
            <a:avLst/>
          </a:prstGeom>
          <a:noFill/>
          <a:ln/>
        </p:spPr>
        <p:txBody>
          <a:bodyPr wrap="square" rtlCol="0" anchor="t"/>
          <a:lstStyle/>
          <a:p>
            <a:pPr marL="0" indent="0">
              <a:buNone/>
            </a:pPr>
            <a:r>
              <a:rPr lang="en-US" sz="1050" dirty="0">
                <a:solidFill>
                  <a:srgbClr val="1E293B"/>
                </a:solidFill>
                <a:latin typeface="Calibri" pitchFamily="34" charset="0"/>
                <a:ea typeface="Calibri" pitchFamily="34" charset="-122"/>
                <a:cs typeface="Calibri" pitchFamily="34" charset="-120"/>
              </a:rPr>
              <a:t>Steps 1–10</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Corpus ingestion,</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LDA/NMF topics,</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HTML reports</a:t>
            </a:r>
            <a:endParaRPr lang="en-US" sz="1050" dirty="0"/>
          </a:p>
        </p:txBody>
      </p:sp>
      <p:sp>
        <p:nvSpPr>
          <p:cNvPr id="11" name="Text 9"/>
          <p:cNvSpPr/>
          <p:nvPr/>
        </p:nvSpPr>
        <p:spPr>
          <a:xfrm>
            <a:off x="2176272" y="1664208"/>
            <a:ext cx="1143000" cy="320040"/>
          </a:xfrm>
          <a:prstGeom prst="rect">
            <a:avLst/>
          </a:prstGeom>
          <a:noFill/>
          <a:ln/>
        </p:spPr>
        <p:txBody>
          <a:bodyPr wrap="square" rtlCol="0" anchor="ctr"/>
          <a:lstStyle/>
          <a:p>
            <a:pPr marL="0" indent="0" algn="ctr">
              <a:buNone/>
            </a:pPr>
            <a:r>
              <a:rPr lang="en-US" sz="1200" b="1" dirty="0">
                <a:solidFill>
                  <a:srgbClr val="1B2E4B"/>
                </a:solidFill>
                <a:latin typeface="Georgia" pitchFamily="34" charset="0"/>
                <a:ea typeface="Georgia" pitchFamily="34" charset="-122"/>
                <a:cs typeface="Georgia" pitchFamily="34" charset="-120"/>
              </a:rPr>
              <a:t>Mar 21</a:t>
            </a:r>
            <a:endParaRPr lang="en-US" sz="1200" dirty="0"/>
          </a:p>
        </p:txBody>
      </p:sp>
      <p:sp>
        <p:nvSpPr>
          <p:cNvPr id="12" name="Shape 10"/>
          <p:cNvSpPr/>
          <p:nvPr/>
        </p:nvSpPr>
        <p:spPr>
          <a:xfrm>
            <a:off x="2359152" y="1993392"/>
            <a:ext cx="658368" cy="228600"/>
          </a:xfrm>
          <a:prstGeom prst="rect">
            <a:avLst/>
          </a:prstGeom>
          <a:solidFill>
            <a:srgbClr val="0D9488"/>
          </a:solidFill>
          <a:ln/>
        </p:spPr>
        <p:txBody>
          <a:bodyPr/>
          <a:lstStyle/>
          <a:p>
            <a:endParaRPr lang="en-US"/>
          </a:p>
        </p:txBody>
      </p:sp>
      <p:sp>
        <p:nvSpPr>
          <p:cNvPr id="13" name="Text 11"/>
          <p:cNvSpPr/>
          <p:nvPr/>
        </p:nvSpPr>
        <p:spPr>
          <a:xfrm>
            <a:off x="2359152" y="1993392"/>
            <a:ext cx="658368" cy="228600"/>
          </a:xfrm>
          <a:prstGeom prst="rect">
            <a:avLst/>
          </a:prstGeom>
          <a:noFill/>
          <a:ln/>
        </p:spPr>
        <p:txBody>
          <a:bodyPr wrap="square" lIns="0" tIns="0" rIns="0" bIns="0" rtlCol="0" anchor="ctr"/>
          <a:lstStyle/>
          <a:p>
            <a:pPr marL="0" indent="0" algn="ctr">
              <a:buNone/>
            </a:pPr>
            <a:r>
              <a:rPr lang="en-US" sz="900" b="1" dirty="0">
                <a:solidFill>
                  <a:srgbClr val="FFFFFF"/>
                </a:solidFill>
              </a:rPr>
              <a:t>v0.2</a:t>
            </a:r>
            <a:endParaRPr lang="en-US" sz="900" dirty="0"/>
          </a:p>
        </p:txBody>
      </p:sp>
      <p:sp>
        <p:nvSpPr>
          <p:cNvPr id="14" name="Shape 12"/>
          <p:cNvSpPr/>
          <p:nvPr/>
        </p:nvSpPr>
        <p:spPr>
          <a:xfrm>
            <a:off x="2523744" y="2203704"/>
            <a:ext cx="347472" cy="347472"/>
          </a:xfrm>
          <a:prstGeom prst="ellipse">
            <a:avLst/>
          </a:prstGeom>
          <a:solidFill>
            <a:srgbClr val="1B2E4B"/>
          </a:solidFill>
          <a:ln w="25400">
            <a:solidFill>
              <a:srgbClr val="0D9488"/>
            </a:solidFill>
            <a:prstDash val="solid"/>
          </a:ln>
        </p:spPr>
        <p:txBody>
          <a:bodyPr/>
          <a:lstStyle/>
          <a:p>
            <a:endParaRPr lang="en-US"/>
          </a:p>
        </p:txBody>
      </p:sp>
      <p:sp>
        <p:nvSpPr>
          <p:cNvPr id="15" name="Shape 13"/>
          <p:cNvSpPr/>
          <p:nvPr/>
        </p:nvSpPr>
        <p:spPr>
          <a:xfrm>
            <a:off x="2103120" y="2697480"/>
            <a:ext cx="1508760" cy="205740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6" name="Shape 14"/>
          <p:cNvSpPr/>
          <p:nvPr/>
        </p:nvSpPr>
        <p:spPr>
          <a:xfrm>
            <a:off x="2103120" y="2697480"/>
            <a:ext cx="1508760" cy="64008"/>
          </a:xfrm>
          <a:prstGeom prst="rect">
            <a:avLst/>
          </a:prstGeom>
          <a:solidFill>
            <a:srgbClr val="0D9488"/>
          </a:solidFill>
          <a:ln/>
        </p:spPr>
        <p:txBody>
          <a:bodyPr/>
          <a:lstStyle/>
          <a:p>
            <a:endParaRPr lang="en-US"/>
          </a:p>
        </p:txBody>
      </p:sp>
      <p:sp>
        <p:nvSpPr>
          <p:cNvPr id="17" name="Text 15"/>
          <p:cNvSpPr/>
          <p:nvPr/>
        </p:nvSpPr>
        <p:spPr>
          <a:xfrm>
            <a:off x="2176272" y="2834640"/>
            <a:ext cx="1371600" cy="1828800"/>
          </a:xfrm>
          <a:prstGeom prst="rect">
            <a:avLst/>
          </a:prstGeom>
          <a:noFill/>
          <a:ln/>
        </p:spPr>
        <p:txBody>
          <a:bodyPr wrap="square" rtlCol="0" anchor="t"/>
          <a:lstStyle/>
          <a:p>
            <a:pPr marL="0" indent="0">
              <a:buNone/>
            </a:pPr>
            <a:r>
              <a:rPr lang="en-US" sz="1050" dirty="0">
                <a:solidFill>
                  <a:srgbClr val="1E293B"/>
                </a:solidFill>
                <a:latin typeface="Calibri" pitchFamily="34" charset="0"/>
                <a:ea typeface="Calibri" pitchFamily="34" charset="-122"/>
                <a:cs typeface="Calibri" pitchFamily="34" charset="-120"/>
              </a:rPr>
              <a:t>Index grounding,</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concept velocity,</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TF-IDF,</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embedding comparison</a:t>
            </a:r>
            <a:endParaRPr lang="en-US" sz="1050" dirty="0"/>
          </a:p>
        </p:txBody>
      </p:sp>
      <p:sp>
        <p:nvSpPr>
          <p:cNvPr id="18" name="Text 16"/>
          <p:cNvSpPr/>
          <p:nvPr/>
        </p:nvSpPr>
        <p:spPr>
          <a:xfrm>
            <a:off x="3840480" y="1664208"/>
            <a:ext cx="1143000" cy="320040"/>
          </a:xfrm>
          <a:prstGeom prst="rect">
            <a:avLst/>
          </a:prstGeom>
          <a:noFill/>
          <a:ln/>
        </p:spPr>
        <p:txBody>
          <a:bodyPr wrap="square" rtlCol="0" anchor="ctr"/>
          <a:lstStyle/>
          <a:p>
            <a:pPr marL="0" indent="0" algn="ctr">
              <a:buNone/>
            </a:pPr>
            <a:r>
              <a:rPr lang="en-US" sz="1200" b="1" dirty="0">
                <a:solidFill>
                  <a:srgbClr val="1B2E4B"/>
                </a:solidFill>
                <a:latin typeface="Georgia" pitchFamily="34" charset="0"/>
                <a:ea typeface="Georgia" pitchFamily="34" charset="-122"/>
                <a:cs typeface="Georgia" pitchFamily="34" charset="-120"/>
              </a:rPr>
              <a:t>Mar 24</a:t>
            </a:r>
            <a:endParaRPr lang="en-US" sz="1200" dirty="0"/>
          </a:p>
        </p:txBody>
      </p:sp>
      <p:sp>
        <p:nvSpPr>
          <p:cNvPr id="19" name="Shape 17"/>
          <p:cNvSpPr/>
          <p:nvPr/>
        </p:nvSpPr>
        <p:spPr>
          <a:xfrm>
            <a:off x="4023360" y="1993392"/>
            <a:ext cx="658368" cy="228600"/>
          </a:xfrm>
          <a:prstGeom prst="rect">
            <a:avLst/>
          </a:prstGeom>
          <a:solidFill>
            <a:srgbClr val="0D9488"/>
          </a:solidFill>
          <a:ln/>
        </p:spPr>
        <p:txBody>
          <a:bodyPr/>
          <a:lstStyle/>
          <a:p>
            <a:endParaRPr lang="en-US"/>
          </a:p>
        </p:txBody>
      </p:sp>
      <p:sp>
        <p:nvSpPr>
          <p:cNvPr id="20" name="Text 18"/>
          <p:cNvSpPr/>
          <p:nvPr/>
        </p:nvSpPr>
        <p:spPr>
          <a:xfrm>
            <a:off x="4023360" y="1993392"/>
            <a:ext cx="658368" cy="228600"/>
          </a:xfrm>
          <a:prstGeom prst="rect">
            <a:avLst/>
          </a:prstGeom>
          <a:noFill/>
          <a:ln/>
        </p:spPr>
        <p:txBody>
          <a:bodyPr wrap="square" lIns="0" tIns="0" rIns="0" bIns="0" rtlCol="0" anchor="ctr"/>
          <a:lstStyle/>
          <a:p>
            <a:pPr marL="0" indent="0" algn="ctr">
              <a:buNone/>
            </a:pPr>
            <a:r>
              <a:rPr lang="en-US" sz="900" b="1" dirty="0">
                <a:solidFill>
                  <a:srgbClr val="FFFFFF"/>
                </a:solidFill>
              </a:rPr>
              <a:t>v0.3</a:t>
            </a:r>
            <a:endParaRPr lang="en-US" sz="900" dirty="0"/>
          </a:p>
        </p:txBody>
      </p:sp>
      <p:sp>
        <p:nvSpPr>
          <p:cNvPr id="21" name="Shape 19"/>
          <p:cNvSpPr/>
          <p:nvPr/>
        </p:nvSpPr>
        <p:spPr>
          <a:xfrm>
            <a:off x="4187952" y="2203704"/>
            <a:ext cx="347472" cy="347472"/>
          </a:xfrm>
          <a:prstGeom prst="ellipse">
            <a:avLst/>
          </a:prstGeom>
          <a:solidFill>
            <a:srgbClr val="1B2E4B"/>
          </a:solidFill>
          <a:ln w="25400">
            <a:solidFill>
              <a:srgbClr val="0D9488"/>
            </a:solidFill>
            <a:prstDash val="solid"/>
          </a:ln>
        </p:spPr>
        <p:txBody>
          <a:bodyPr/>
          <a:lstStyle/>
          <a:p>
            <a:endParaRPr lang="en-US"/>
          </a:p>
        </p:txBody>
      </p:sp>
      <p:sp>
        <p:nvSpPr>
          <p:cNvPr id="22" name="Shape 20"/>
          <p:cNvSpPr/>
          <p:nvPr/>
        </p:nvSpPr>
        <p:spPr>
          <a:xfrm>
            <a:off x="3767328" y="2697480"/>
            <a:ext cx="1508760" cy="205740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23" name="Shape 21"/>
          <p:cNvSpPr/>
          <p:nvPr/>
        </p:nvSpPr>
        <p:spPr>
          <a:xfrm>
            <a:off x="3767328" y="2697480"/>
            <a:ext cx="1508760" cy="64008"/>
          </a:xfrm>
          <a:prstGeom prst="rect">
            <a:avLst/>
          </a:prstGeom>
          <a:solidFill>
            <a:srgbClr val="0D9488"/>
          </a:solidFill>
          <a:ln/>
        </p:spPr>
        <p:txBody>
          <a:bodyPr/>
          <a:lstStyle/>
          <a:p>
            <a:endParaRPr lang="en-US"/>
          </a:p>
        </p:txBody>
      </p:sp>
      <p:sp>
        <p:nvSpPr>
          <p:cNvPr id="24" name="Text 22"/>
          <p:cNvSpPr/>
          <p:nvPr/>
        </p:nvSpPr>
        <p:spPr>
          <a:xfrm>
            <a:off x="3840480" y="2834640"/>
            <a:ext cx="1371600" cy="1828800"/>
          </a:xfrm>
          <a:prstGeom prst="rect">
            <a:avLst/>
          </a:prstGeom>
          <a:noFill/>
          <a:ln/>
        </p:spPr>
        <p:txBody>
          <a:bodyPr wrap="square" rtlCol="0" anchor="t"/>
          <a:lstStyle/>
          <a:p>
            <a:pPr marL="0" indent="0">
              <a:buNone/>
            </a:pPr>
            <a:r>
              <a:rPr lang="en-US" sz="1050" dirty="0">
                <a:solidFill>
                  <a:srgbClr val="1E293B"/>
                </a:solidFill>
                <a:latin typeface="Calibri" pitchFamily="34" charset="0"/>
                <a:ea typeface="Calibri" pitchFamily="34" charset="-122"/>
                <a:cs typeface="Calibri" pitchFamily="34" charset="-120"/>
              </a:rPr>
              <a:t>Entity network,</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entity classifier,</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integrity checker,</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regression tests</a:t>
            </a:r>
            <a:endParaRPr lang="en-US" sz="1050" dirty="0"/>
          </a:p>
        </p:txBody>
      </p:sp>
      <p:sp>
        <p:nvSpPr>
          <p:cNvPr id="25" name="Text 23"/>
          <p:cNvSpPr/>
          <p:nvPr/>
        </p:nvSpPr>
        <p:spPr>
          <a:xfrm>
            <a:off x="5504688" y="1664208"/>
            <a:ext cx="1143000" cy="320040"/>
          </a:xfrm>
          <a:prstGeom prst="rect">
            <a:avLst/>
          </a:prstGeom>
          <a:noFill/>
          <a:ln/>
        </p:spPr>
        <p:txBody>
          <a:bodyPr wrap="square" rtlCol="0" anchor="ctr"/>
          <a:lstStyle/>
          <a:p>
            <a:pPr marL="0" indent="0" algn="ctr">
              <a:buNone/>
            </a:pPr>
            <a:r>
              <a:rPr lang="en-US" sz="1200" b="1" dirty="0">
                <a:solidFill>
                  <a:srgbClr val="1B2E4B"/>
                </a:solidFill>
                <a:latin typeface="Georgia" pitchFamily="34" charset="0"/>
                <a:ea typeface="Georgia" pitchFamily="34" charset="-122"/>
                <a:cs typeface="Georgia" pitchFamily="34" charset="-120"/>
              </a:rPr>
              <a:t>Apr 8</a:t>
            </a:r>
            <a:endParaRPr lang="en-US" sz="1200" dirty="0"/>
          </a:p>
        </p:txBody>
      </p:sp>
      <p:sp>
        <p:nvSpPr>
          <p:cNvPr id="26" name="Shape 24"/>
          <p:cNvSpPr/>
          <p:nvPr/>
        </p:nvSpPr>
        <p:spPr>
          <a:xfrm>
            <a:off x="5687568" y="1993392"/>
            <a:ext cx="658368" cy="228600"/>
          </a:xfrm>
          <a:prstGeom prst="rect">
            <a:avLst/>
          </a:prstGeom>
          <a:solidFill>
            <a:srgbClr val="0D9488"/>
          </a:solidFill>
          <a:ln/>
        </p:spPr>
        <p:txBody>
          <a:bodyPr/>
          <a:lstStyle/>
          <a:p>
            <a:endParaRPr lang="en-US"/>
          </a:p>
        </p:txBody>
      </p:sp>
      <p:sp>
        <p:nvSpPr>
          <p:cNvPr id="27" name="Text 25"/>
          <p:cNvSpPr/>
          <p:nvPr/>
        </p:nvSpPr>
        <p:spPr>
          <a:xfrm>
            <a:off x="5687568" y="1993392"/>
            <a:ext cx="658368" cy="228600"/>
          </a:xfrm>
          <a:prstGeom prst="rect">
            <a:avLst/>
          </a:prstGeom>
          <a:noFill/>
          <a:ln/>
        </p:spPr>
        <p:txBody>
          <a:bodyPr wrap="square" lIns="0" tIns="0" rIns="0" bIns="0" rtlCol="0" anchor="ctr"/>
          <a:lstStyle/>
          <a:p>
            <a:pPr marL="0" indent="0" algn="ctr">
              <a:buNone/>
            </a:pPr>
            <a:r>
              <a:rPr lang="en-US" sz="900" b="1" dirty="0">
                <a:solidFill>
                  <a:srgbClr val="FFFFFF"/>
                </a:solidFill>
              </a:rPr>
              <a:t>v0.4.2</a:t>
            </a:r>
            <a:endParaRPr lang="en-US" sz="900" dirty="0"/>
          </a:p>
        </p:txBody>
      </p:sp>
      <p:sp>
        <p:nvSpPr>
          <p:cNvPr id="28" name="Shape 26"/>
          <p:cNvSpPr/>
          <p:nvPr/>
        </p:nvSpPr>
        <p:spPr>
          <a:xfrm>
            <a:off x="5852160" y="2203704"/>
            <a:ext cx="347472" cy="347472"/>
          </a:xfrm>
          <a:prstGeom prst="ellipse">
            <a:avLst/>
          </a:prstGeom>
          <a:solidFill>
            <a:srgbClr val="1B2E4B"/>
          </a:solidFill>
          <a:ln w="25400">
            <a:solidFill>
              <a:srgbClr val="0D9488"/>
            </a:solidFill>
            <a:prstDash val="solid"/>
          </a:ln>
        </p:spPr>
        <p:txBody>
          <a:bodyPr/>
          <a:lstStyle/>
          <a:p>
            <a:endParaRPr lang="en-US"/>
          </a:p>
        </p:txBody>
      </p:sp>
      <p:sp>
        <p:nvSpPr>
          <p:cNvPr id="29" name="Shape 27"/>
          <p:cNvSpPr/>
          <p:nvPr/>
        </p:nvSpPr>
        <p:spPr>
          <a:xfrm>
            <a:off x="5431536" y="2697480"/>
            <a:ext cx="1508760" cy="205740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30" name="Shape 28"/>
          <p:cNvSpPr/>
          <p:nvPr/>
        </p:nvSpPr>
        <p:spPr>
          <a:xfrm>
            <a:off x="5431536" y="2697480"/>
            <a:ext cx="1508760" cy="64008"/>
          </a:xfrm>
          <a:prstGeom prst="rect">
            <a:avLst/>
          </a:prstGeom>
          <a:solidFill>
            <a:srgbClr val="0D9488"/>
          </a:solidFill>
          <a:ln/>
        </p:spPr>
        <p:txBody>
          <a:bodyPr/>
          <a:lstStyle/>
          <a:p>
            <a:endParaRPr lang="en-US"/>
          </a:p>
        </p:txBody>
      </p:sp>
      <p:sp>
        <p:nvSpPr>
          <p:cNvPr id="31" name="Text 29"/>
          <p:cNvSpPr/>
          <p:nvPr/>
        </p:nvSpPr>
        <p:spPr>
          <a:xfrm>
            <a:off x="5504688" y="2834640"/>
            <a:ext cx="1371600" cy="1828800"/>
          </a:xfrm>
          <a:prstGeom prst="rect">
            <a:avLst/>
          </a:prstGeom>
          <a:noFill/>
          <a:ln/>
        </p:spPr>
        <p:txBody>
          <a:bodyPr wrap="square" rtlCol="0" anchor="t"/>
          <a:lstStyle/>
          <a:p>
            <a:pPr marL="0" indent="0">
              <a:buNone/>
            </a:pPr>
            <a:r>
              <a:rPr lang="en-US" sz="1050" dirty="0">
                <a:solidFill>
                  <a:srgbClr val="1E293B"/>
                </a:solidFill>
                <a:latin typeface="Calibri" pitchFamily="34" charset="0"/>
                <a:ea typeface="Calibri" pitchFamily="34" charset="-122"/>
                <a:cs typeface="Calibri" pitchFamily="34" charset="-120"/>
              </a:rPr>
              <a:t>Monograph classifier:</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197 expert labels,</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report quality fixes,</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v0.4.2 (8 Apr 2026)</a:t>
            </a:r>
            <a:endParaRPr lang="en-US" sz="1050" dirty="0"/>
          </a:p>
        </p:txBody>
      </p:sp>
      <p:sp>
        <p:nvSpPr>
          <p:cNvPr id="32" name="Text 30"/>
          <p:cNvSpPr/>
          <p:nvPr/>
        </p:nvSpPr>
        <p:spPr>
          <a:xfrm>
            <a:off x="7168896" y="1664208"/>
            <a:ext cx="1143000" cy="320040"/>
          </a:xfrm>
          <a:prstGeom prst="rect">
            <a:avLst/>
          </a:prstGeom>
          <a:noFill/>
          <a:ln/>
        </p:spPr>
        <p:txBody>
          <a:bodyPr wrap="square" rtlCol="0" anchor="ctr"/>
          <a:lstStyle/>
          <a:p>
            <a:pPr marL="0" indent="0" algn="ctr">
              <a:buNone/>
            </a:pPr>
            <a:r>
              <a:rPr lang="en-US" sz="1200" b="1" dirty="0">
                <a:solidFill>
                  <a:srgbClr val="F59E0B"/>
                </a:solidFill>
                <a:latin typeface="Georgia" pitchFamily="34" charset="0"/>
                <a:ea typeface="Georgia" pitchFamily="34" charset="-122"/>
                <a:cs typeface="Georgia" pitchFamily="34" charset="-120"/>
              </a:rPr>
              <a:t>Apr 14</a:t>
            </a:r>
            <a:endParaRPr lang="en-US" sz="1200" dirty="0"/>
          </a:p>
        </p:txBody>
      </p:sp>
      <p:sp>
        <p:nvSpPr>
          <p:cNvPr id="33" name="Shape 31"/>
          <p:cNvSpPr/>
          <p:nvPr/>
        </p:nvSpPr>
        <p:spPr>
          <a:xfrm>
            <a:off x="7351776" y="1993392"/>
            <a:ext cx="658368" cy="228600"/>
          </a:xfrm>
          <a:prstGeom prst="rect">
            <a:avLst/>
          </a:prstGeom>
          <a:solidFill>
            <a:srgbClr val="F59E0B"/>
          </a:solidFill>
          <a:ln/>
        </p:spPr>
        <p:txBody>
          <a:bodyPr/>
          <a:lstStyle/>
          <a:p>
            <a:endParaRPr lang="en-US"/>
          </a:p>
        </p:txBody>
      </p:sp>
      <p:sp>
        <p:nvSpPr>
          <p:cNvPr id="34" name="Text 32"/>
          <p:cNvSpPr/>
          <p:nvPr/>
        </p:nvSpPr>
        <p:spPr>
          <a:xfrm>
            <a:off x="7351776" y="1993392"/>
            <a:ext cx="658368" cy="228600"/>
          </a:xfrm>
          <a:prstGeom prst="rect">
            <a:avLst/>
          </a:prstGeom>
          <a:noFill/>
          <a:ln/>
        </p:spPr>
        <p:txBody>
          <a:bodyPr wrap="square" lIns="0" tIns="0" rIns="0" bIns="0" rtlCol="0" anchor="ctr"/>
          <a:lstStyle/>
          <a:p>
            <a:pPr marL="0" indent="0" algn="ctr">
              <a:buNone/>
            </a:pPr>
            <a:r>
              <a:rPr lang="en-US" sz="900" b="1" dirty="0">
                <a:solidFill>
                  <a:srgbClr val="FFFFFF"/>
                </a:solidFill>
              </a:rPr>
              <a:t>v0.4.3</a:t>
            </a:r>
            <a:endParaRPr lang="en-US" sz="900" dirty="0"/>
          </a:p>
        </p:txBody>
      </p:sp>
      <p:sp>
        <p:nvSpPr>
          <p:cNvPr id="35" name="Shape 33"/>
          <p:cNvSpPr/>
          <p:nvPr/>
        </p:nvSpPr>
        <p:spPr>
          <a:xfrm>
            <a:off x="7516368" y="2203704"/>
            <a:ext cx="347472" cy="347472"/>
          </a:xfrm>
          <a:prstGeom prst="ellipse">
            <a:avLst/>
          </a:prstGeom>
          <a:solidFill>
            <a:srgbClr val="1B2E4B"/>
          </a:solidFill>
          <a:ln w="25400">
            <a:solidFill>
              <a:srgbClr val="F59E0B"/>
            </a:solidFill>
            <a:prstDash val="solid"/>
          </a:ln>
        </p:spPr>
        <p:txBody>
          <a:bodyPr/>
          <a:lstStyle/>
          <a:p>
            <a:endParaRPr lang="en-US"/>
          </a:p>
        </p:txBody>
      </p:sp>
      <p:sp>
        <p:nvSpPr>
          <p:cNvPr id="36" name="Shape 34"/>
          <p:cNvSpPr/>
          <p:nvPr/>
        </p:nvSpPr>
        <p:spPr>
          <a:xfrm>
            <a:off x="7095744" y="2697480"/>
            <a:ext cx="1508760" cy="205740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37" name="Shape 35"/>
          <p:cNvSpPr/>
          <p:nvPr/>
        </p:nvSpPr>
        <p:spPr>
          <a:xfrm>
            <a:off x="7095744" y="2697480"/>
            <a:ext cx="1508760" cy="64008"/>
          </a:xfrm>
          <a:prstGeom prst="rect">
            <a:avLst/>
          </a:prstGeom>
          <a:solidFill>
            <a:srgbClr val="F59E0B"/>
          </a:solidFill>
          <a:ln/>
        </p:spPr>
        <p:txBody>
          <a:bodyPr/>
          <a:lstStyle/>
          <a:p>
            <a:endParaRPr lang="en-US"/>
          </a:p>
        </p:txBody>
      </p:sp>
      <p:sp>
        <p:nvSpPr>
          <p:cNvPr id="38" name="Text 36"/>
          <p:cNvSpPr/>
          <p:nvPr/>
        </p:nvSpPr>
        <p:spPr>
          <a:xfrm>
            <a:off x="7168896" y="2834640"/>
            <a:ext cx="1371600" cy="1828800"/>
          </a:xfrm>
          <a:prstGeom prst="rect">
            <a:avLst/>
          </a:prstGeom>
          <a:noFill/>
          <a:ln/>
        </p:spPr>
        <p:txBody>
          <a:bodyPr wrap="square" rtlCol="0" anchor="t"/>
          <a:lstStyle/>
          <a:p>
            <a:pPr marL="0" indent="0">
              <a:buNone/>
            </a:pPr>
            <a:r>
              <a:rPr lang="en-US" sz="1050" dirty="0">
                <a:solidFill>
                  <a:srgbClr val="1B2E4B"/>
                </a:solidFill>
                <a:latin typeface="Calibri" pitchFamily="34" charset="0"/>
                <a:ea typeface="Calibri" pitchFamily="34" charset="-122"/>
                <a:cs typeface="Calibri" pitchFamily="34" charset="-120"/>
              </a:rPr>
              <a:t>Full-text LDA refactor</a:t>
            </a:r>
            <a:endParaRPr lang="en-US" sz="1050" dirty="0"/>
          </a:p>
          <a:p>
            <a:pPr marL="0" indent="0">
              <a:buNone/>
            </a:pPr>
            <a:r>
              <a:rPr lang="en-US" sz="1050" dirty="0">
                <a:solidFill>
                  <a:srgbClr val="1B2E4B"/>
                </a:solidFill>
                <a:latin typeface="Calibri" pitchFamily="34" charset="0"/>
                <a:ea typeface="Calibri" pitchFamily="34" charset="-122"/>
                <a:cs typeface="Calibri" pitchFamily="34" charset="-120"/>
              </a:rPr>
              <a:t>pub-type filter:</a:t>
            </a:r>
            <a:endParaRPr lang="en-US" sz="1050" dirty="0"/>
          </a:p>
          <a:p>
            <a:pPr marL="0" indent="0">
              <a:buNone/>
            </a:pPr>
            <a:r>
              <a:rPr lang="en-US" sz="1050" dirty="0">
                <a:solidFill>
                  <a:srgbClr val="1B2E4B"/>
                </a:solidFill>
                <a:latin typeface="Calibri" pitchFamily="34" charset="0"/>
                <a:ea typeface="Calibri" pitchFamily="34" charset="-122"/>
                <a:cs typeface="Calibri" pitchFamily="34" charset="-120"/>
              </a:rPr>
              <a:t>k-selection sweep,</a:t>
            </a:r>
            <a:endParaRPr lang="en-US" sz="1050" dirty="0"/>
          </a:p>
          <a:p>
            <a:pPr marL="0" indent="0">
              <a:buNone/>
            </a:pPr>
            <a:r>
              <a:rPr lang="en-US" sz="1050" dirty="0">
                <a:solidFill>
                  <a:srgbClr val="1B2E4B"/>
                </a:solidFill>
                <a:latin typeface="Calibri" pitchFamily="34" charset="0"/>
                <a:ea typeface="Calibri" pitchFamily="34" charset="-122"/>
                <a:cs typeface="Calibri" pitchFamily="34" charset="-120"/>
              </a:rPr>
              <a:t>9-topic canonical run</a:t>
            </a:r>
            <a:endParaRPr lang="en-US" sz="1050" dirty="0"/>
          </a:p>
        </p:txBody>
      </p:sp>
      <p:sp>
        <p:nvSpPr>
          <p:cNvPr id="39" name="Text 37"/>
          <p:cNvSpPr/>
          <p:nvPr/>
        </p:nvSpPr>
        <p:spPr>
          <a:xfrm>
            <a:off x="457200" y="4754880"/>
            <a:ext cx="8229600" cy="256032"/>
          </a:xfrm>
          <a:prstGeom prst="rect">
            <a:avLst/>
          </a:prstGeom>
          <a:noFill/>
          <a:ln/>
        </p:spPr>
        <p:txBody>
          <a:bodyPr wrap="square" rtlCol="0" anchor="ctr"/>
          <a:lstStyle/>
          <a:p>
            <a:pPr marL="0" indent="0" algn="ctr">
              <a:buNone/>
            </a:pPr>
            <a:r>
              <a:rPr lang="en-US" sz="1050" i="1" dirty="0">
                <a:solidFill>
                  <a:srgbClr val="64748B"/>
                </a:solidFill>
                <a:latin typeface="Calibri" pitchFamily="34" charset="0"/>
                <a:ea typeface="Calibri" pitchFamily="34" charset="-122"/>
                <a:cs typeface="Calibri" pitchFamily="34" charset="-120"/>
              </a:rPr>
              <a:t>~34 pipeline scripts  ·  2,000+ line methodology doc  ·  1,600+ line decision log  ·  15 regression tests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E4B"/>
        </a:solidFill>
        <a:effectLst/>
      </p:bgPr>
    </p:bg>
    <p:spTree>
      <p:nvGrpSpPr>
        <p:cNvPr id="1" name=""/>
        <p:cNvGrpSpPr/>
        <p:nvPr/>
      </p:nvGrpSpPr>
      <p:grpSpPr>
        <a:xfrm>
          <a:off x="0" y="0"/>
          <a:ext cx="0" cy="0"/>
          <a:chOff x="0" y="0"/>
          <a:chExt cx="0" cy="0"/>
        </a:xfrm>
      </p:grpSpPr>
      <p:sp>
        <p:nvSpPr>
          <p:cNvPr id="2" name="Shape 0"/>
          <p:cNvSpPr/>
          <p:nvPr/>
        </p:nvSpPr>
        <p:spPr>
          <a:xfrm>
            <a:off x="5669280" y="274320"/>
            <a:ext cx="128016" cy="128016"/>
          </a:xfrm>
          <a:prstGeom prst="ellipse">
            <a:avLst/>
          </a:prstGeom>
          <a:solidFill>
            <a:srgbClr val="0D9488">
              <a:alpha val="45000"/>
            </a:srgbClr>
          </a:solidFill>
          <a:ln/>
        </p:spPr>
        <p:txBody>
          <a:bodyPr/>
          <a:lstStyle/>
          <a:p>
            <a:endParaRPr lang="en-US"/>
          </a:p>
        </p:txBody>
      </p:sp>
      <p:sp>
        <p:nvSpPr>
          <p:cNvPr id="3" name="Shape 1"/>
          <p:cNvSpPr/>
          <p:nvPr/>
        </p:nvSpPr>
        <p:spPr>
          <a:xfrm>
            <a:off x="6172200" y="274320"/>
            <a:ext cx="128016" cy="128016"/>
          </a:xfrm>
          <a:prstGeom prst="ellipse">
            <a:avLst/>
          </a:prstGeom>
          <a:solidFill>
            <a:srgbClr val="0D9488">
              <a:alpha val="45000"/>
            </a:srgbClr>
          </a:solidFill>
          <a:ln/>
        </p:spPr>
        <p:txBody>
          <a:bodyPr/>
          <a:lstStyle/>
          <a:p>
            <a:endParaRPr lang="en-US"/>
          </a:p>
        </p:txBody>
      </p:sp>
      <p:sp>
        <p:nvSpPr>
          <p:cNvPr id="4" name="Shape 2"/>
          <p:cNvSpPr/>
          <p:nvPr/>
        </p:nvSpPr>
        <p:spPr>
          <a:xfrm>
            <a:off x="6675120" y="274320"/>
            <a:ext cx="128016" cy="128016"/>
          </a:xfrm>
          <a:prstGeom prst="ellipse">
            <a:avLst/>
          </a:prstGeom>
          <a:solidFill>
            <a:srgbClr val="0D9488">
              <a:alpha val="45000"/>
            </a:srgbClr>
          </a:solidFill>
          <a:ln/>
        </p:spPr>
        <p:txBody>
          <a:bodyPr/>
          <a:lstStyle/>
          <a:p>
            <a:endParaRPr lang="en-US"/>
          </a:p>
        </p:txBody>
      </p:sp>
      <p:sp>
        <p:nvSpPr>
          <p:cNvPr id="5" name="Shape 3"/>
          <p:cNvSpPr/>
          <p:nvPr/>
        </p:nvSpPr>
        <p:spPr>
          <a:xfrm>
            <a:off x="7178040" y="274320"/>
            <a:ext cx="128016" cy="128016"/>
          </a:xfrm>
          <a:prstGeom prst="ellipse">
            <a:avLst/>
          </a:prstGeom>
          <a:solidFill>
            <a:srgbClr val="0D9488">
              <a:alpha val="45000"/>
            </a:srgbClr>
          </a:solidFill>
          <a:ln/>
        </p:spPr>
        <p:txBody>
          <a:bodyPr/>
          <a:lstStyle/>
          <a:p>
            <a:endParaRPr lang="en-US"/>
          </a:p>
        </p:txBody>
      </p:sp>
      <p:sp>
        <p:nvSpPr>
          <p:cNvPr id="6" name="Shape 4"/>
          <p:cNvSpPr/>
          <p:nvPr/>
        </p:nvSpPr>
        <p:spPr>
          <a:xfrm>
            <a:off x="7680960" y="274320"/>
            <a:ext cx="128016" cy="128016"/>
          </a:xfrm>
          <a:prstGeom prst="ellipse">
            <a:avLst/>
          </a:prstGeom>
          <a:solidFill>
            <a:srgbClr val="0D9488">
              <a:alpha val="45000"/>
            </a:srgbClr>
          </a:solidFill>
          <a:ln/>
        </p:spPr>
        <p:txBody>
          <a:bodyPr/>
          <a:lstStyle/>
          <a:p>
            <a:endParaRPr lang="en-US"/>
          </a:p>
        </p:txBody>
      </p:sp>
      <p:sp>
        <p:nvSpPr>
          <p:cNvPr id="7" name="Shape 5"/>
          <p:cNvSpPr/>
          <p:nvPr/>
        </p:nvSpPr>
        <p:spPr>
          <a:xfrm>
            <a:off x="5669280" y="777240"/>
            <a:ext cx="128016" cy="128016"/>
          </a:xfrm>
          <a:prstGeom prst="ellipse">
            <a:avLst/>
          </a:prstGeom>
          <a:solidFill>
            <a:srgbClr val="0D9488">
              <a:alpha val="45000"/>
            </a:srgbClr>
          </a:solidFill>
          <a:ln/>
        </p:spPr>
        <p:txBody>
          <a:bodyPr/>
          <a:lstStyle/>
          <a:p>
            <a:endParaRPr lang="en-US"/>
          </a:p>
        </p:txBody>
      </p:sp>
      <p:sp>
        <p:nvSpPr>
          <p:cNvPr id="8" name="Shape 6"/>
          <p:cNvSpPr/>
          <p:nvPr/>
        </p:nvSpPr>
        <p:spPr>
          <a:xfrm>
            <a:off x="6172200" y="777240"/>
            <a:ext cx="128016" cy="128016"/>
          </a:xfrm>
          <a:prstGeom prst="ellipse">
            <a:avLst/>
          </a:prstGeom>
          <a:solidFill>
            <a:srgbClr val="0D9488">
              <a:alpha val="45000"/>
            </a:srgbClr>
          </a:solidFill>
          <a:ln/>
        </p:spPr>
        <p:txBody>
          <a:bodyPr/>
          <a:lstStyle/>
          <a:p>
            <a:endParaRPr lang="en-US"/>
          </a:p>
        </p:txBody>
      </p:sp>
      <p:sp>
        <p:nvSpPr>
          <p:cNvPr id="9" name="Shape 7"/>
          <p:cNvSpPr/>
          <p:nvPr/>
        </p:nvSpPr>
        <p:spPr>
          <a:xfrm>
            <a:off x="6675120" y="777240"/>
            <a:ext cx="128016" cy="128016"/>
          </a:xfrm>
          <a:prstGeom prst="ellipse">
            <a:avLst/>
          </a:prstGeom>
          <a:solidFill>
            <a:srgbClr val="0D9488">
              <a:alpha val="45000"/>
            </a:srgbClr>
          </a:solidFill>
          <a:ln/>
        </p:spPr>
        <p:txBody>
          <a:bodyPr/>
          <a:lstStyle/>
          <a:p>
            <a:endParaRPr lang="en-US"/>
          </a:p>
        </p:txBody>
      </p:sp>
      <p:sp>
        <p:nvSpPr>
          <p:cNvPr id="10" name="Shape 8"/>
          <p:cNvSpPr/>
          <p:nvPr/>
        </p:nvSpPr>
        <p:spPr>
          <a:xfrm>
            <a:off x="7178040" y="777240"/>
            <a:ext cx="128016" cy="128016"/>
          </a:xfrm>
          <a:prstGeom prst="ellipse">
            <a:avLst/>
          </a:prstGeom>
          <a:solidFill>
            <a:srgbClr val="0D9488">
              <a:alpha val="45000"/>
            </a:srgbClr>
          </a:solidFill>
          <a:ln/>
        </p:spPr>
        <p:txBody>
          <a:bodyPr/>
          <a:lstStyle/>
          <a:p>
            <a:endParaRPr lang="en-US"/>
          </a:p>
        </p:txBody>
      </p:sp>
      <p:sp>
        <p:nvSpPr>
          <p:cNvPr id="11" name="Shape 9"/>
          <p:cNvSpPr/>
          <p:nvPr/>
        </p:nvSpPr>
        <p:spPr>
          <a:xfrm>
            <a:off x="7680960" y="777240"/>
            <a:ext cx="128016" cy="128016"/>
          </a:xfrm>
          <a:prstGeom prst="ellipse">
            <a:avLst/>
          </a:prstGeom>
          <a:solidFill>
            <a:srgbClr val="0D9488">
              <a:alpha val="45000"/>
            </a:srgbClr>
          </a:solidFill>
          <a:ln/>
        </p:spPr>
        <p:txBody>
          <a:bodyPr/>
          <a:lstStyle/>
          <a:p>
            <a:endParaRPr lang="en-US"/>
          </a:p>
        </p:txBody>
      </p:sp>
      <p:sp>
        <p:nvSpPr>
          <p:cNvPr id="12" name="Shape 10"/>
          <p:cNvSpPr/>
          <p:nvPr/>
        </p:nvSpPr>
        <p:spPr>
          <a:xfrm>
            <a:off x="5669280" y="1280160"/>
            <a:ext cx="128016" cy="128016"/>
          </a:xfrm>
          <a:prstGeom prst="ellipse">
            <a:avLst/>
          </a:prstGeom>
          <a:solidFill>
            <a:srgbClr val="0D9488">
              <a:alpha val="45000"/>
            </a:srgbClr>
          </a:solidFill>
          <a:ln/>
        </p:spPr>
        <p:txBody>
          <a:bodyPr/>
          <a:lstStyle/>
          <a:p>
            <a:endParaRPr lang="en-US"/>
          </a:p>
        </p:txBody>
      </p:sp>
      <p:sp>
        <p:nvSpPr>
          <p:cNvPr id="13" name="Shape 11"/>
          <p:cNvSpPr/>
          <p:nvPr/>
        </p:nvSpPr>
        <p:spPr>
          <a:xfrm>
            <a:off x="6172200" y="1280160"/>
            <a:ext cx="128016" cy="128016"/>
          </a:xfrm>
          <a:prstGeom prst="ellipse">
            <a:avLst/>
          </a:prstGeom>
          <a:solidFill>
            <a:srgbClr val="0D9488">
              <a:alpha val="45000"/>
            </a:srgbClr>
          </a:solidFill>
          <a:ln/>
        </p:spPr>
        <p:txBody>
          <a:bodyPr/>
          <a:lstStyle/>
          <a:p>
            <a:endParaRPr lang="en-US"/>
          </a:p>
        </p:txBody>
      </p:sp>
      <p:sp>
        <p:nvSpPr>
          <p:cNvPr id="14" name="Shape 12"/>
          <p:cNvSpPr/>
          <p:nvPr/>
        </p:nvSpPr>
        <p:spPr>
          <a:xfrm>
            <a:off x="6675120" y="1280160"/>
            <a:ext cx="128016" cy="128016"/>
          </a:xfrm>
          <a:prstGeom prst="ellipse">
            <a:avLst/>
          </a:prstGeom>
          <a:solidFill>
            <a:srgbClr val="0D9488">
              <a:alpha val="45000"/>
            </a:srgbClr>
          </a:solidFill>
          <a:ln/>
        </p:spPr>
        <p:txBody>
          <a:bodyPr/>
          <a:lstStyle/>
          <a:p>
            <a:endParaRPr lang="en-US"/>
          </a:p>
        </p:txBody>
      </p:sp>
      <p:sp>
        <p:nvSpPr>
          <p:cNvPr id="15" name="Shape 13"/>
          <p:cNvSpPr/>
          <p:nvPr/>
        </p:nvSpPr>
        <p:spPr>
          <a:xfrm>
            <a:off x="7178040" y="1280160"/>
            <a:ext cx="128016" cy="128016"/>
          </a:xfrm>
          <a:prstGeom prst="ellipse">
            <a:avLst/>
          </a:prstGeom>
          <a:solidFill>
            <a:srgbClr val="0D9488">
              <a:alpha val="45000"/>
            </a:srgbClr>
          </a:solidFill>
          <a:ln/>
        </p:spPr>
        <p:txBody>
          <a:bodyPr/>
          <a:lstStyle/>
          <a:p>
            <a:endParaRPr lang="en-US"/>
          </a:p>
        </p:txBody>
      </p:sp>
      <p:sp>
        <p:nvSpPr>
          <p:cNvPr id="16" name="Shape 14"/>
          <p:cNvSpPr/>
          <p:nvPr/>
        </p:nvSpPr>
        <p:spPr>
          <a:xfrm>
            <a:off x="7680960" y="1280160"/>
            <a:ext cx="128016" cy="128016"/>
          </a:xfrm>
          <a:prstGeom prst="ellipse">
            <a:avLst/>
          </a:prstGeom>
          <a:solidFill>
            <a:srgbClr val="0D9488">
              <a:alpha val="45000"/>
            </a:srgbClr>
          </a:solidFill>
          <a:ln/>
        </p:spPr>
        <p:txBody>
          <a:bodyPr/>
          <a:lstStyle/>
          <a:p>
            <a:endParaRPr lang="en-US"/>
          </a:p>
        </p:txBody>
      </p:sp>
      <p:sp>
        <p:nvSpPr>
          <p:cNvPr id="17" name="Shape 15"/>
          <p:cNvSpPr/>
          <p:nvPr/>
        </p:nvSpPr>
        <p:spPr>
          <a:xfrm>
            <a:off x="457200" y="1691640"/>
            <a:ext cx="594360" cy="594360"/>
          </a:xfrm>
          <a:prstGeom prst="ellipse">
            <a:avLst/>
          </a:prstGeom>
          <a:solidFill>
            <a:srgbClr val="0D9488"/>
          </a:solidFill>
          <a:ln/>
        </p:spPr>
        <p:txBody>
          <a:bodyPr/>
          <a:lstStyle/>
          <a:p>
            <a:endParaRPr lang="en-US"/>
          </a:p>
        </p:txBody>
      </p:sp>
      <p:sp>
        <p:nvSpPr>
          <p:cNvPr id="18" name="Text 16"/>
          <p:cNvSpPr/>
          <p:nvPr/>
        </p:nvSpPr>
        <p:spPr>
          <a:xfrm>
            <a:off x="457200" y="169164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rPr>
              <a:t>2</a:t>
            </a:r>
            <a:endParaRPr lang="en-US" sz="2000" dirty="0"/>
          </a:p>
        </p:txBody>
      </p:sp>
      <p:sp>
        <p:nvSpPr>
          <p:cNvPr id="19" name="Text 17"/>
          <p:cNvSpPr/>
          <p:nvPr/>
        </p:nvSpPr>
        <p:spPr>
          <a:xfrm>
            <a:off x="1234440" y="1600200"/>
            <a:ext cx="7406640" cy="822960"/>
          </a:xfrm>
          <a:prstGeom prst="rect">
            <a:avLst/>
          </a:prstGeom>
          <a:noFill/>
          <a:ln/>
        </p:spPr>
        <p:txBody>
          <a:bodyPr wrap="square"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The Pipeline</a:t>
            </a:r>
            <a:endParaRPr lang="en-US" sz="4200" dirty="0"/>
          </a:p>
        </p:txBody>
      </p:sp>
      <p:sp>
        <p:nvSpPr>
          <p:cNvPr id="20" name="Text 18"/>
          <p:cNvSpPr/>
          <p:nvPr/>
        </p:nvSpPr>
        <p:spPr>
          <a:xfrm>
            <a:off x="1234440" y="2468880"/>
            <a:ext cx="7406640" cy="502920"/>
          </a:xfrm>
          <a:prstGeom prst="rect">
            <a:avLst/>
          </a:prstGeom>
          <a:noFill/>
          <a:ln/>
        </p:spPr>
        <p:txBody>
          <a:bodyPr wrap="square" rtlCol="0" anchor="ctr"/>
          <a:lstStyle/>
          <a:p>
            <a:pPr marL="0" indent="0">
              <a:buNone/>
            </a:pPr>
            <a:r>
              <a:rPr lang="en-US" sz="1700" i="1" dirty="0">
                <a:solidFill>
                  <a:srgbClr val="CCEFED"/>
                </a:solidFill>
                <a:latin typeface="Calibri" pitchFamily="34" charset="0"/>
                <a:ea typeface="Calibri" pitchFamily="34" charset="-122"/>
                <a:cs typeface="Calibri" pitchFamily="34" charset="-120"/>
              </a:rPr>
              <a:t>A 15-step reproducible NLP architecture</a:t>
            </a:r>
            <a:endParaRPr lang="en-US" sz="1700" dirty="0"/>
          </a:p>
        </p:txBody>
      </p:sp>
      <p:sp>
        <p:nvSpPr>
          <p:cNvPr id="21" name="Shape 19"/>
          <p:cNvSpPr/>
          <p:nvPr/>
        </p:nvSpPr>
        <p:spPr>
          <a:xfrm>
            <a:off x="457200" y="4572000"/>
            <a:ext cx="8229600" cy="36576"/>
          </a:xfrm>
          <a:prstGeom prst="rect">
            <a:avLst/>
          </a:prstGeom>
          <a:solidFill>
            <a:srgbClr val="0D9488">
              <a:alpha val="60000"/>
            </a:srgbClr>
          </a:solidFill>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1B2E4B"/>
                </a:solidFill>
                <a:latin typeface="Georgia" pitchFamily="34" charset="0"/>
                <a:ea typeface="Georgia" pitchFamily="34" charset="-122"/>
                <a:cs typeface="Georgia" pitchFamily="34" charset="-120"/>
              </a:rPr>
              <a:t>Pipeline at a Glance</a:t>
            </a:r>
            <a:endParaRPr lang="en-US" sz="2800" dirty="0"/>
          </a:p>
        </p:txBody>
      </p:sp>
      <p:sp>
        <p:nvSpPr>
          <p:cNvPr id="3" name="Shape 1"/>
          <p:cNvSpPr/>
          <p:nvPr/>
        </p:nvSpPr>
        <p:spPr>
          <a:xfrm>
            <a:off x="384048" y="914400"/>
            <a:ext cx="1261872" cy="868680"/>
          </a:xfrm>
          <a:prstGeom prst="rect">
            <a:avLst/>
          </a:prstGeom>
          <a:solidFill>
            <a:srgbClr val="0D9488"/>
          </a:solidFill>
          <a:ln/>
          <a:effectLst>
            <a:outerShdw blurRad="101600" dist="25400" dir="8100000" algn="bl" rotWithShape="0">
              <a:srgbClr val="000000">
                <a:alpha val="11000"/>
              </a:srgbClr>
            </a:outerShdw>
          </a:effectLst>
        </p:spPr>
        <p:txBody>
          <a:bodyPr/>
          <a:lstStyle/>
          <a:p>
            <a:endParaRPr lang="en-US"/>
          </a:p>
        </p:txBody>
      </p:sp>
      <p:sp>
        <p:nvSpPr>
          <p:cNvPr id="4" name="Text 2"/>
          <p:cNvSpPr/>
          <p:nvPr/>
        </p:nvSpPr>
        <p:spPr>
          <a:xfrm>
            <a:off x="384048" y="914400"/>
            <a:ext cx="1261872"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Ingest &amp;</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Clean</a:t>
            </a:r>
            <a:endParaRPr lang="en-US" sz="1100" dirty="0"/>
          </a:p>
        </p:txBody>
      </p:sp>
      <p:sp>
        <p:nvSpPr>
          <p:cNvPr id="5" name="Shape 3"/>
          <p:cNvSpPr/>
          <p:nvPr/>
        </p:nvSpPr>
        <p:spPr>
          <a:xfrm>
            <a:off x="1645920" y="1316736"/>
            <a:ext cx="173736" cy="64008"/>
          </a:xfrm>
          <a:prstGeom prst="rect">
            <a:avLst/>
          </a:prstGeom>
          <a:solidFill>
            <a:srgbClr val="64748B"/>
          </a:solidFill>
          <a:ln/>
        </p:spPr>
        <p:txBody>
          <a:bodyPr/>
          <a:lstStyle/>
          <a:p>
            <a:endParaRPr lang="en-US"/>
          </a:p>
        </p:txBody>
      </p:sp>
      <p:sp>
        <p:nvSpPr>
          <p:cNvPr id="6" name="Shape 4"/>
          <p:cNvSpPr/>
          <p:nvPr/>
        </p:nvSpPr>
        <p:spPr>
          <a:xfrm>
            <a:off x="1819656" y="914400"/>
            <a:ext cx="1261872" cy="868680"/>
          </a:xfrm>
          <a:prstGeom prst="rect">
            <a:avLst/>
          </a:prstGeom>
          <a:solidFill>
            <a:srgbClr val="1D4ED8"/>
          </a:solidFill>
          <a:ln/>
          <a:effectLst>
            <a:outerShdw blurRad="101600" dist="25400" dir="8100000" algn="bl" rotWithShape="0">
              <a:srgbClr val="000000">
                <a:alpha val="11000"/>
              </a:srgbClr>
            </a:outerShdw>
          </a:effectLst>
        </p:spPr>
        <p:txBody>
          <a:bodyPr/>
          <a:lstStyle/>
          <a:p>
            <a:endParaRPr lang="en-US"/>
          </a:p>
        </p:txBody>
      </p:sp>
      <p:sp>
        <p:nvSpPr>
          <p:cNvPr id="7" name="Text 5"/>
          <p:cNvSpPr/>
          <p:nvPr/>
        </p:nvSpPr>
        <p:spPr>
          <a:xfrm>
            <a:off x="1819656" y="914400"/>
            <a:ext cx="1261872"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Topic</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Modelling</a:t>
            </a:r>
            <a:endParaRPr lang="en-US" sz="1100" dirty="0"/>
          </a:p>
        </p:txBody>
      </p:sp>
      <p:sp>
        <p:nvSpPr>
          <p:cNvPr id="8" name="Shape 6"/>
          <p:cNvSpPr/>
          <p:nvPr/>
        </p:nvSpPr>
        <p:spPr>
          <a:xfrm>
            <a:off x="3081528" y="1316736"/>
            <a:ext cx="173736" cy="64008"/>
          </a:xfrm>
          <a:prstGeom prst="rect">
            <a:avLst/>
          </a:prstGeom>
          <a:solidFill>
            <a:srgbClr val="64748B"/>
          </a:solidFill>
          <a:ln/>
        </p:spPr>
        <p:txBody>
          <a:bodyPr/>
          <a:lstStyle/>
          <a:p>
            <a:endParaRPr lang="en-US"/>
          </a:p>
        </p:txBody>
      </p:sp>
      <p:sp>
        <p:nvSpPr>
          <p:cNvPr id="9" name="Shape 7"/>
          <p:cNvSpPr/>
          <p:nvPr/>
        </p:nvSpPr>
        <p:spPr>
          <a:xfrm>
            <a:off x="3255264" y="914400"/>
            <a:ext cx="1261872" cy="868680"/>
          </a:xfrm>
          <a:prstGeom prst="rect">
            <a:avLst/>
          </a:prstGeom>
          <a:solidFill>
            <a:srgbClr val="1D4ED8"/>
          </a:solidFill>
          <a:ln/>
          <a:effectLst>
            <a:outerShdw blurRad="101600" dist="25400" dir="8100000" algn="bl" rotWithShape="0">
              <a:srgbClr val="000000">
                <a:alpha val="11000"/>
              </a:srgbClr>
            </a:outerShdw>
          </a:effectLst>
        </p:spPr>
        <p:txBody>
          <a:bodyPr/>
          <a:lstStyle/>
          <a:p>
            <a:endParaRPr lang="en-US"/>
          </a:p>
        </p:txBody>
      </p:sp>
      <p:sp>
        <p:nvSpPr>
          <p:cNvPr id="10" name="Text 8"/>
          <p:cNvSpPr/>
          <p:nvPr/>
        </p:nvSpPr>
        <p:spPr>
          <a:xfrm>
            <a:off x="3255264" y="914400"/>
            <a:ext cx="1261872"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Summarise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(API)</a:t>
            </a:r>
            <a:endParaRPr lang="en-US" sz="1100" dirty="0"/>
          </a:p>
        </p:txBody>
      </p:sp>
      <p:sp>
        <p:nvSpPr>
          <p:cNvPr id="11" name="Shape 9"/>
          <p:cNvSpPr/>
          <p:nvPr/>
        </p:nvSpPr>
        <p:spPr>
          <a:xfrm>
            <a:off x="4517136" y="1316736"/>
            <a:ext cx="173736" cy="64008"/>
          </a:xfrm>
          <a:prstGeom prst="rect">
            <a:avLst/>
          </a:prstGeom>
          <a:solidFill>
            <a:srgbClr val="64748B"/>
          </a:solidFill>
          <a:ln/>
        </p:spPr>
        <p:txBody>
          <a:bodyPr/>
          <a:lstStyle/>
          <a:p>
            <a:endParaRPr lang="en-US"/>
          </a:p>
        </p:txBody>
      </p:sp>
      <p:sp>
        <p:nvSpPr>
          <p:cNvPr id="12" name="Shape 10"/>
          <p:cNvSpPr/>
          <p:nvPr/>
        </p:nvSpPr>
        <p:spPr>
          <a:xfrm>
            <a:off x="4690872" y="914400"/>
            <a:ext cx="1261872" cy="868680"/>
          </a:xfrm>
          <a:prstGeom prst="rect">
            <a:avLst/>
          </a:prstGeom>
          <a:solidFill>
            <a:srgbClr val="7C3AED"/>
          </a:solidFill>
          <a:ln/>
          <a:effectLst>
            <a:outerShdw blurRad="101600" dist="25400" dir="8100000" algn="bl" rotWithShape="0">
              <a:srgbClr val="000000">
                <a:alpha val="11000"/>
              </a:srgbClr>
            </a:outerShdw>
          </a:effectLst>
        </p:spPr>
        <p:txBody>
          <a:bodyPr/>
          <a:lstStyle/>
          <a:p>
            <a:endParaRPr lang="en-US"/>
          </a:p>
        </p:txBody>
      </p:sp>
      <p:sp>
        <p:nvSpPr>
          <p:cNvPr id="13" name="Text 11"/>
          <p:cNvSpPr/>
          <p:nvPr/>
        </p:nvSpPr>
        <p:spPr>
          <a:xfrm>
            <a:off x="4690872" y="914400"/>
            <a:ext cx="1261872"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Index</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Extract</a:t>
            </a:r>
            <a:endParaRPr lang="en-US" sz="1100" dirty="0"/>
          </a:p>
        </p:txBody>
      </p:sp>
      <p:sp>
        <p:nvSpPr>
          <p:cNvPr id="14" name="Shape 12"/>
          <p:cNvSpPr/>
          <p:nvPr/>
        </p:nvSpPr>
        <p:spPr>
          <a:xfrm>
            <a:off x="5952744" y="1316736"/>
            <a:ext cx="173736" cy="64008"/>
          </a:xfrm>
          <a:prstGeom prst="rect">
            <a:avLst/>
          </a:prstGeom>
          <a:solidFill>
            <a:srgbClr val="64748B"/>
          </a:solidFill>
          <a:ln/>
        </p:spPr>
        <p:txBody>
          <a:bodyPr/>
          <a:lstStyle/>
          <a:p>
            <a:endParaRPr lang="en-US"/>
          </a:p>
        </p:txBody>
      </p:sp>
      <p:sp>
        <p:nvSpPr>
          <p:cNvPr id="15" name="Shape 13"/>
          <p:cNvSpPr/>
          <p:nvPr/>
        </p:nvSpPr>
        <p:spPr>
          <a:xfrm>
            <a:off x="6126480" y="914400"/>
            <a:ext cx="1261872" cy="868680"/>
          </a:xfrm>
          <a:prstGeom prst="rect">
            <a:avLst/>
          </a:prstGeom>
          <a:solidFill>
            <a:srgbClr val="DB2777"/>
          </a:solidFill>
          <a:ln/>
          <a:effectLst>
            <a:outerShdw blurRad="101600" dist="25400" dir="8100000" algn="bl" rotWithShape="0">
              <a:srgbClr val="000000">
                <a:alpha val="11000"/>
              </a:srgbClr>
            </a:outerShdw>
          </a:effectLst>
        </p:spPr>
        <p:txBody>
          <a:bodyPr/>
          <a:lstStyle/>
          <a:p>
            <a:endParaRPr lang="en-US"/>
          </a:p>
        </p:txBody>
      </p:sp>
      <p:sp>
        <p:nvSpPr>
          <p:cNvPr id="16" name="Text 14"/>
          <p:cNvSpPr/>
          <p:nvPr/>
        </p:nvSpPr>
        <p:spPr>
          <a:xfrm>
            <a:off x="6126480" y="914400"/>
            <a:ext cx="1261872"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Grounding</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&amp; Velocity</a:t>
            </a:r>
            <a:endParaRPr lang="en-US" sz="1100" dirty="0"/>
          </a:p>
        </p:txBody>
      </p:sp>
      <p:sp>
        <p:nvSpPr>
          <p:cNvPr id="17" name="Shape 15"/>
          <p:cNvSpPr/>
          <p:nvPr/>
        </p:nvSpPr>
        <p:spPr>
          <a:xfrm>
            <a:off x="7388352" y="1316736"/>
            <a:ext cx="173736" cy="64008"/>
          </a:xfrm>
          <a:prstGeom prst="rect">
            <a:avLst/>
          </a:prstGeom>
          <a:solidFill>
            <a:srgbClr val="64748B"/>
          </a:solidFill>
          <a:ln/>
        </p:spPr>
        <p:txBody>
          <a:bodyPr/>
          <a:lstStyle/>
          <a:p>
            <a:endParaRPr lang="en-US"/>
          </a:p>
        </p:txBody>
      </p:sp>
      <p:sp>
        <p:nvSpPr>
          <p:cNvPr id="18" name="Shape 16"/>
          <p:cNvSpPr/>
          <p:nvPr/>
        </p:nvSpPr>
        <p:spPr>
          <a:xfrm>
            <a:off x="7562088" y="914400"/>
            <a:ext cx="1261872" cy="868680"/>
          </a:xfrm>
          <a:prstGeom prst="rect">
            <a:avLst/>
          </a:prstGeom>
          <a:solidFill>
            <a:srgbClr val="EA580C"/>
          </a:solidFill>
          <a:ln/>
          <a:effectLst>
            <a:outerShdw blurRad="101600" dist="25400" dir="8100000" algn="bl" rotWithShape="0">
              <a:srgbClr val="000000">
                <a:alpha val="11000"/>
              </a:srgbClr>
            </a:outerShdw>
          </a:effectLst>
        </p:spPr>
        <p:txBody>
          <a:bodyPr/>
          <a:lstStyle/>
          <a:p>
            <a:endParaRPr lang="en-US"/>
          </a:p>
        </p:txBody>
      </p:sp>
      <p:sp>
        <p:nvSpPr>
          <p:cNvPr id="19" name="Text 17"/>
          <p:cNvSpPr/>
          <p:nvPr/>
        </p:nvSpPr>
        <p:spPr>
          <a:xfrm>
            <a:off x="7562088" y="914400"/>
            <a:ext cx="1261872" cy="8686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Entity</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Network</a:t>
            </a:r>
            <a:endParaRPr lang="en-US" sz="1100" dirty="0"/>
          </a:p>
        </p:txBody>
      </p:sp>
      <p:sp>
        <p:nvSpPr>
          <p:cNvPr id="20" name="Shape 18"/>
          <p:cNvSpPr/>
          <p:nvPr/>
        </p:nvSpPr>
        <p:spPr>
          <a:xfrm>
            <a:off x="457200" y="1993392"/>
            <a:ext cx="8229600" cy="475488"/>
          </a:xfrm>
          <a:prstGeom prst="rect">
            <a:avLst/>
          </a:prstGeom>
          <a:solidFill>
            <a:srgbClr val="FFFFFF"/>
          </a:solidFill>
          <a:ln w="3810">
            <a:solidFill>
              <a:srgbClr val="E2E8F0"/>
            </a:solidFill>
            <a:prstDash val="solid"/>
          </a:ln>
        </p:spPr>
        <p:txBody>
          <a:bodyPr/>
          <a:lstStyle/>
          <a:p>
            <a:endParaRPr lang="en-US"/>
          </a:p>
        </p:txBody>
      </p:sp>
      <p:sp>
        <p:nvSpPr>
          <p:cNvPr id="21" name="Text 19"/>
          <p:cNvSpPr/>
          <p:nvPr/>
        </p:nvSpPr>
        <p:spPr>
          <a:xfrm>
            <a:off x="548640" y="2048256"/>
            <a:ext cx="1005840" cy="365760"/>
          </a:xfrm>
          <a:prstGeom prst="rect">
            <a:avLst/>
          </a:prstGeom>
          <a:noFill/>
          <a:ln/>
        </p:spPr>
        <p:txBody>
          <a:bodyPr wrap="square"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Steps 0–2</a:t>
            </a:r>
            <a:endParaRPr lang="en-US" sz="1000" dirty="0"/>
          </a:p>
        </p:txBody>
      </p:sp>
      <p:sp>
        <p:nvSpPr>
          <p:cNvPr id="22" name="Text 20"/>
          <p:cNvSpPr/>
          <p:nvPr/>
        </p:nvSpPr>
        <p:spPr>
          <a:xfrm>
            <a:off x="1600200" y="2048256"/>
            <a:ext cx="2103120" cy="365760"/>
          </a:xfrm>
          <a:prstGeom prst="rect">
            <a:avLst/>
          </a:prstGeom>
          <a:noFill/>
          <a:ln/>
        </p:spPr>
        <p:txBody>
          <a:bodyPr wrap="square" rtlCol="0" anchor="ctr"/>
          <a:lstStyle/>
          <a:p>
            <a:pPr marL="0" indent="0">
              <a:buNone/>
            </a:pPr>
            <a:r>
              <a:rPr lang="en-US" sz="1200" b="1" dirty="0">
                <a:solidFill>
                  <a:srgbClr val="1B2E4B"/>
                </a:solidFill>
                <a:latin typeface="Calibri" pitchFamily="34" charset="0"/>
                <a:ea typeface="Calibri" pitchFamily="34" charset="-122"/>
                <a:cs typeface="Calibri" pitchFamily="34" charset="-120"/>
              </a:rPr>
              <a:t>Ingestion &amp; Cleaning</a:t>
            </a:r>
            <a:endParaRPr lang="en-US" sz="1200" dirty="0"/>
          </a:p>
        </p:txBody>
      </p:sp>
      <p:sp>
        <p:nvSpPr>
          <p:cNvPr id="23" name="Text 21"/>
          <p:cNvSpPr/>
          <p:nvPr/>
        </p:nvSpPr>
        <p:spPr>
          <a:xfrm>
            <a:off x="3749040" y="2048256"/>
            <a:ext cx="4800600" cy="3657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Streaming CSV parse · state-machine boilerplate removal · Hunspell + regex filtering · 7–16% token removal</a:t>
            </a:r>
            <a:endParaRPr lang="en-US" sz="1100" dirty="0"/>
          </a:p>
        </p:txBody>
      </p:sp>
      <p:sp>
        <p:nvSpPr>
          <p:cNvPr id="24" name="Shape 22"/>
          <p:cNvSpPr/>
          <p:nvPr/>
        </p:nvSpPr>
        <p:spPr>
          <a:xfrm>
            <a:off x="457200" y="2514600"/>
            <a:ext cx="8229600" cy="475488"/>
          </a:xfrm>
          <a:prstGeom prst="rect">
            <a:avLst/>
          </a:prstGeom>
          <a:solidFill>
            <a:srgbClr val="EDF2F7"/>
          </a:solidFill>
          <a:ln w="3810">
            <a:solidFill>
              <a:srgbClr val="E2E8F0"/>
            </a:solidFill>
            <a:prstDash val="solid"/>
          </a:ln>
        </p:spPr>
        <p:txBody>
          <a:bodyPr/>
          <a:lstStyle/>
          <a:p>
            <a:endParaRPr lang="en-US"/>
          </a:p>
        </p:txBody>
      </p:sp>
      <p:sp>
        <p:nvSpPr>
          <p:cNvPr id="25" name="Text 23"/>
          <p:cNvSpPr/>
          <p:nvPr/>
        </p:nvSpPr>
        <p:spPr>
          <a:xfrm>
            <a:off x="548640" y="2569464"/>
            <a:ext cx="1005840" cy="365760"/>
          </a:xfrm>
          <a:prstGeom prst="rect">
            <a:avLst/>
          </a:prstGeom>
          <a:noFill/>
          <a:ln/>
        </p:spPr>
        <p:txBody>
          <a:bodyPr wrap="square"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Steps 3–4</a:t>
            </a:r>
            <a:endParaRPr lang="en-US" sz="1000" dirty="0"/>
          </a:p>
        </p:txBody>
      </p:sp>
      <p:sp>
        <p:nvSpPr>
          <p:cNvPr id="26" name="Text 24"/>
          <p:cNvSpPr/>
          <p:nvPr/>
        </p:nvSpPr>
        <p:spPr>
          <a:xfrm>
            <a:off x="1600200" y="2569464"/>
            <a:ext cx="2103120" cy="365760"/>
          </a:xfrm>
          <a:prstGeom prst="rect">
            <a:avLst/>
          </a:prstGeom>
          <a:noFill/>
          <a:ln/>
        </p:spPr>
        <p:txBody>
          <a:bodyPr wrap="square" rtlCol="0" anchor="ctr"/>
          <a:lstStyle/>
          <a:p>
            <a:pPr marL="0" indent="0">
              <a:buNone/>
            </a:pPr>
            <a:r>
              <a:rPr lang="en-US" sz="1200" b="1" dirty="0">
                <a:solidFill>
                  <a:srgbClr val="1B2E4B"/>
                </a:solidFill>
                <a:latin typeface="Calibri" pitchFamily="34" charset="0"/>
                <a:ea typeface="Calibri" pitchFamily="34" charset="-122"/>
                <a:cs typeface="Calibri" pitchFamily="34" charset="-120"/>
              </a:rPr>
              <a:t>Topic Modelling</a:t>
            </a:r>
            <a:endParaRPr lang="en-US" sz="1200" dirty="0"/>
          </a:p>
        </p:txBody>
      </p:sp>
      <p:sp>
        <p:nvSpPr>
          <p:cNvPr id="27" name="Text 25"/>
          <p:cNvSpPr/>
          <p:nvPr/>
        </p:nvSpPr>
        <p:spPr>
          <a:xfrm>
            <a:off x="3749040" y="2569464"/>
            <a:ext cx="4800600" cy="3657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LDA (9 topics, book-level, TF-IDF 15,000 features) · 5 seeds, stability validated · NMF (8 topics, chapter-level, not presented)</a:t>
            </a:r>
            <a:endParaRPr lang="en-US" sz="1100" dirty="0"/>
          </a:p>
        </p:txBody>
      </p:sp>
      <p:sp>
        <p:nvSpPr>
          <p:cNvPr id="28" name="Shape 26"/>
          <p:cNvSpPr/>
          <p:nvPr/>
        </p:nvSpPr>
        <p:spPr>
          <a:xfrm>
            <a:off x="457200" y="3035808"/>
            <a:ext cx="8229600" cy="475488"/>
          </a:xfrm>
          <a:prstGeom prst="rect">
            <a:avLst/>
          </a:prstGeom>
          <a:solidFill>
            <a:srgbClr val="FFFFFF"/>
          </a:solidFill>
          <a:ln w="3810">
            <a:solidFill>
              <a:srgbClr val="E2E8F0"/>
            </a:solidFill>
            <a:prstDash val="solid"/>
          </a:ln>
        </p:spPr>
        <p:txBody>
          <a:bodyPr/>
          <a:lstStyle/>
          <a:p>
            <a:endParaRPr lang="en-US"/>
          </a:p>
        </p:txBody>
      </p:sp>
      <p:sp>
        <p:nvSpPr>
          <p:cNvPr id="29" name="Text 27"/>
          <p:cNvSpPr/>
          <p:nvPr/>
        </p:nvSpPr>
        <p:spPr>
          <a:xfrm>
            <a:off x="548640" y="3090672"/>
            <a:ext cx="1005840" cy="365760"/>
          </a:xfrm>
          <a:prstGeom prst="rect">
            <a:avLst/>
          </a:prstGeom>
          <a:noFill/>
          <a:ln/>
        </p:spPr>
        <p:txBody>
          <a:bodyPr wrap="square"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Step 3b</a:t>
            </a:r>
            <a:endParaRPr lang="en-US" sz="1000" dirty="0"/>
          </a:p>
        </p:txBody>
      </p:sp>
      <p:sp>
        <p:nvSpPr>
          <p:cNvPr id="30" name="Text 28"/>
          <p:cNvSpPr/>
          <p:nvPr/>
        </p:nvSpPr>
        <p:spPr>
          <a:xfrm>
            <a:off x="1600200" y="3090672"/>
            <a:ext cx="2103120" cy="365760"/>
          </a:xfrm>
          <a:prstGeom prst="rect">
            <a:avLst/>
          </a:prstGeom>
          <a:noFill/>
          <a:ln/>
        </p:spPr>
        <p:txBody>
          <a:bodyPr wrap="square" rtlCol="0" anchor="ctr"/>
          <a:lstStyle/>
          <a:p>
            <a:pPr marL="0" indent="0">
              <a:buNone/>
            </a:pPr>
            <a:r>
              <a:rPr lang="en-US" sz="1200" b="1" dirty="0">
                <a:solidFill>
                  <a:srgbClr val="1B2E4B"/>
                </a:solidFill>
                <a:latin typeface="Calibri" pitchFamily="34" charset="0"/>
                <a:ea typeface="Calibri" pitchFamily="34" charset="-122"/>
                <a:cs typeface="Calibri" pitchFamily="34" charset="-120"/>
              </a:rPr>
              <a:t>Abstractive Summaries</a:t>
            </a:r>
            <a:endParaRPr lang="en-US" sz="1200" dirty="0"/>
          </a:p>
        </p:txBody>
      </p:sp>
      <p:sp>
        <p:nvSpPr>
          <p:cNvPr id="31" name="Text 29"/>
          <p:cNvSpPr/>
          <p:nvPr/>
        </p:nvSpPr>
        <p:spPr>
          <a:xfrm>
            <a:off x="3749040" y="3090672"/>
            <a:ext cx="4800600" cy="3657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Anthropic API · 695 books · ~$25–35 · fully resumable · verbatim similarity checking</a:t>
            </a:r>
            <a:endParaRPr lang="en-US" sz="1100" dirty="0"/>
          </a:p>
        </p:txBody>
      </p:sp>
      <p:sp>
        <p:nvSpPr>
          <p:cNvPr id="32" name="Shape 30"/>
          <p:cNvSpPr/>
          <p:nvPr/>
        </p:nvSpPr>
        <p:spPr>
          <a:xfrm>
            <a:off x="457200" y="3557016"/>
            <a:ext cx="8229600" cy="475488"/>
          </a:xfrm>
          <a:prstGeom prst="rect">
            <a:avLst/>
          </a:prstGeom>
          <a:solidFill>
            <a:srgbClr val="EDF2F7"/>
          </a:solidFill>
          <a:ln w="3810">
            <a:solidFill>
              <a:srgbClr val="E2E8F0"/>
            </a:solidFill>
            <a:prstDash val="solid"/>
          </a:ln>
        </p:spPr>
        <p:txBody>
          <a:bodyPr/>
          <a:lstStyle/>
          <a:p>
            <a:endParaRPr lang="en-US"/>
          </a:p>
        </p:txBody>
      </p:sp>
      <p:sp>
        <p:nvSpPr>
          <p:cNvPr id="33" name="Text 31"/>
          <p:cNvSpPr/>
          <p:nvPr/>
        </p:nvSpPr>
        <p:spPr>
          <a:xfrm>
            <a:off x="548640" y="3611880"/>
            <a:ext cx="1005840" cy="365760"/>
          </a:xfrm>
          <a:prstGeom prst="rect">
            <a:avLst/>
          </a:prstGeom>
          <a:noFill/>
          <a:ln/>
        </p:spPr>
        <p:txBody>
          <a:bodyPr wrap="square"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Steps 9–12</a:t>
            </a:r>
            <a:endParaRPr lang="en-US" sz="1000" dirty="0"/>
          </a:p>
        </p:txBody>
      </p:sp>
      <p:sp>
        <p:nvSpPr>
          <p:cNvPr id="34" name="Text 32"/>
          <p:cNvSpPr/>
          <p:nvPr/>
        </p:nvSpPr>
        <p:spPr>
          <a:xfrm>
            <a:off x="1600200" y="3611880"/>
            <a:ext cx="2103120" cy="365760"/>
          </a:xfrm>
          <a:prstGeom prst="rect">
            <a:avLst/>
          </a:prstGeom>
          <a:noFill/>
          <a:ln/>
        </p:spPr>
        <p:txBody>
          <a:bodyPr wrap="square" rtlCol="0" anchor="ctr"/>
          <a:lstStyle/>
          <a:p>
            <a:pPr marL="0" indent="0">
              <a:buNone/>
            </a:pPr>
            <a:r>
              <a:rPr lang="en-US" sz="1200" b="1" dirty="0">
                <a:solidFill>
                  <a:srgbClr val="1B2E4B"/>
                </a:solidFill>
                <a:latin typeface="Calibri" pitchFamily="34" charset="0"/>
                <a:ea typeface="Calibri" pitchFamily="34" charset="-122"/>
                <a:cs typeface="Calibri" pitchFamily="34" charset="-120"/>
              </a:rPr>
              <a:t>Index &amp; Grounding</a:t>
            </a:r>
            <a:endParaRPr lang="en-US" sz="1200" dirty="0"/>
          </a:p>
        </p:txBody>
      </p:sp>
      <p:sp>
        <p:nvSpPr>
          <p:cNvPr id="35" name="Text 33"/>
          <p:cNvSpPr/>
          <p:nvPr/>
        </p:nvSpPr>
        <p:spPr>
          <a:xfrm>
            <a:off x="3749040" y="3611880"/>
            <a:ext cx="4800600" cy="3657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Book back-indexes as controlled vocabulary · 262 person-name merge rules · lift scores · concept density scatter · concept velocity</a:t>
            </a:r>
            <a:endParaRPr lang="en-US" sz="1100" dirty="0"/>
          </a:p>
        </p:txBody>
      </p:sp>
      <p:sp>
        <p:nvSpPr>
          <p:cNvPr id="36" name="Shape 34"/>
          <p:cNvSpPr/>
          <p:nvPr/>
        </p:nvSpPr>
        <p:spPr>
          <a:xfrm>
            <a:off x="457200" y="4078224"/>
            <a:ext cx="8229600" cy="475488"/>
          </a:xfrm>
          <a:prstGeom prst="rect">
            <a:avLst/>
          </a:prstGeom>
          <a:solidFill>
            <a:srgbClr val="FFFFFF"/>
          </a:solidFill>
          <a:ln w="3810">
            <a:solidFill>
              <a:srgbClr val="E2E8F0"/>
            </a:solidFill>
            <a:prstDash val="solid"/>
          </a:ln>
        </p:spPr>
        <p:txBody>
          <a:bodyPr/>
          <a:lstStyle/>
          <a:p>
            <a:endParaRPr lang="en-US"/>
          </a:p>
        </p:txBody>
      </p:sp>
      <p:sp>
        <p:nvSpPr>
          <p:cNvPr id="37" name="Text 35"/>
          <p:cNvSpPr/>
          <p:nvPr/>
        </p:nvSpPr>
        <p:spPr>
          <a:xfrm>
            <a:off x="548640" y="4133088"/>
            <a:ext cx="1005840" cy="365760"/>
          </a:xfrm>
          <a:prstGeom prst="rect">
            <a:avLst/>
          </a:prstGeom>
          <a:noFill/>
          <a:ln/>
        </p:spPr>
        <p:txBody>
          <a:bodyPr wrap="square"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Steps 14–15</a:t>
            </a:r>
            <a:endParaRPr lang="en-US" sz="1000" dirty="0"/>
          </a:p>
        </p:txBody>
      </p:sp>
      <p:sp>
        <p:nvSpPr>
          <p:cNvPr id="38" name="Text 36"/>
          <p:cNvSpPr/>
          <p:nvPr/>
        </p:nvSpPr>
        <p:spPr>
          <a:xfrm>
            <a:off x="1600200" y="4133088"/>
            <a:ext cx="2103120" cy="365760"/>
          </a:xfrm>
          <a:prstGeom prst="rect">
            <a:avLst/>
          </a:prstGeom>
          <a:noFill/>
          <a:ln/>
        </p:spPr>
        <p:txBody>
          <a:bodyPr wrap="square" rtlCol="0" anchor="ctr"/>
          <a:lstStyle/>
          <a:p>
            <a:pPr marL="0" indent="0">
              <a:buNone/>
            </a:pPr>
            <a:r>
              <a:rPr lang="en-US" sz="1200" b="1" dirty="0">
                <a:solidFill>
                  <a:srgbClr val="1B2E4B"/>
                </a:solidFill>
                <a:latin typeface="Calibri" pitchFamily="34" charset="0"/>
                <a:ea typeface="Calibri" pitchFamily="34" charset="-122"/>
                <a:cs typeface="Calibri" pitchFamily="34" charset="-120"/>
              </a:rPr>
              <a:t>Entity Network</a:t>
            </a:r>
            <a:endParaRPr lang="en-US" sz="1200" dirty="0"/>
          </a:p>
        </p:txBody>
      </p:sp>
      <p:sp>
        <p:nvSpPr>
          <p:cNvPr id="39" name="Text 37"/>
          <p:cNvSpPr/>
          <p:nvPr/>
        </p:nvSpPr>
        <p:spPr>
          <a:xfrm>
            <a:off x="3749040" y="4133088"/>
            <a:ext cx="4800600" cy="36576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3-stage NER: heuristics → spaCy → Wikidata · PMI × reliability edges · 4 node kinds · 4 graph layouts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1B2E4B"/>
                </a:solidFill>
                <a:latin typeface="Georgia" pitchFamily="34" charset="0"/>
                <a:ea typeface="Georgia" pitchFamily="34" charset="-122"/>
                <a:cs typeface="Georgia" pitchFamily="34" charset="-120"/>
              </a:rPr>
              <a:t>Topic Modelling — LDA (Book-Level)</a:t>
            </a:r>
            <a:endParaRPr lang="en-US" sz="2800" dirty="0"/>
          </a:p>
        </p:txBody>
      </p:sp>
      <p:sp>
        <p:nvSpPr>
          <p:cNvPr id="3" name="Shape 1"/>
          <p:cNvSpPr/>
          <p:nvPr/>
        </p:nvSpPr>
        <p:spPr>
          <a:xfrm>
            <a:off x="457200" y="868680"/>
            <a:ext cx="3977640" cy="393192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4" name="Shape 2"/>
          <p:cNvSpPr/>
          <p:nvPr/>
        </p:nvSpPr>
        <p:spPr>
          <a:xfrm>
            <a:off x="457200" y="868680"/>
            <a:ext cx="3977640" cy="64008"/>
          </a:xfrm>
          <a:prstGeom prst="rect">
            <a:avLst/>
          </a:prstGeom>
          <a:solidFill>
            <a:srgbClr val="0D9488"/>
          </a:solidFill>
          <a:ln/>
        </p:spPr>
        <p:txBody>
          <a:bodyPr/>
          <a:lstStyle/>
          <a:p>
            <a:endParaRPr lang="en-US"/>
          </a:p>
        </p:txBody>
      </p:sp>
      <p:sp>
        <p:nvSpPr>
          <p:cNvPr id="5" name="Text 3"/>
          <p:cNvSpPr/>
          <p:nvPr/>
        </p:nvSpPr>
        <p:spPr>
          <a:xfrm>
            <a:off x="566928" y="960120"/>
            <a:ext cx="3749040" cy="347472"/>
          </a:xfrm>
          <a:prstGeom prst="rect">
            <a:avLst/>
          </a:prstGeom>
          <a:noFill/>
          <a:ln/>
        </p:spPr>
        <p:txBody>
          <a:bodyPr wrap="square" rtlCol="0" anchor="ctr"/>
          <a:lstStyle/>
          <a:p>
            <a:pPr marL="0" indent="0">
              <a:buNone/>
            </a:pPr>
            <a:r>
              <a:rPr lang="en-US" sz="1300" b="1" dirty="0">
                <a:solidFill>
                  <a:srgbClr val="1B2E4B"/>
                </a:solidFill>
                <a:latin typeface="Georgia" pitchFamily="34" charset="0"/>
                <a:ea typeface="Georgia" pitchFamily="34" charset="-122"/>
                <a:cs typeface="Georgia" pitchFamily="34" charset="-120"/>
              </a:rPr>
              <a:t>Book-Level  ·  LDA  ·  9 Topics</a:t>
            </a:r>
            <a:endParaRPr lang="en-US" sz="1300" dirty="0"/>
          </a:p>
        </p:txBody>
      </p:sp>
      <p:sp>
        <p:nvSpPr>
          <p:cNvPr id="6" name="Text 4"/>
          <p:cNvSpPr/>
          <p:nvPr/>
        </p:nvSpPr>
        <p:spPr>
          <a:xfrm>
            <a:off x="566928" y="1316736"/>
            <a:ext cx="3749040" cy="566928"/>
          </a:xfrm>
          <a:prstGeom prst="rect">
            <a:avLst/>
          </a:prstGeom>
          <a:noFill/>
          <a:ln/>
        </p:spPr>
        <p:txBody>
          <a:bodyPr wrap="square"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Latent Dirichlet Allocation — probabilistic model that treats each document as a mixture of topics, discovering word co-occurrence patterns across the full corpus</a:t>
            </a:r>
            <a:endParaRPr lang="en-US" sz="950" dirty="0"/>
          </a:p>
        </p:txBody>
      </p:sp>
      <p:sp>
        <p:nvSpPr>
          <p:cNvPr id="7" name="Text 5"/>
          <p:cNvSpPr/>
          <p:nvPr/>
        </p:nvSpPr>
        <p:spPr>
          <a:xfrm>
            <a:off x="594360" y="1938528"/>
            <a:ext cx="3703320" cy="603504"/>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  TF-IDF · 15,000 features (full-text) · 4+ char tokens</a:t>
            </a:r>
            <a:endParaRPr lang="en-US" sz="1150" dirty="0"/>
          </a:p>
        </p:txBody>
      </p:sp>
      <p:sp>
        <p:nvSpPr>
          <p:cNvPr id="8" name="Text 6"/>
          <p:cNvSpPr/>
          <p:nvPr/>
        </p:nvSpPr>
        <p:spPr>
          <a:xfrm>
            <a:off x="594360" y="2606040"/>
            <a:ext cx="3703320" cy="603504"/>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  k=9 (9 topics) via NPMI coherence + stability</a:t>
            </a:r>
            <a:endParaRPr lang="en-US" sz="1150" dirty="0"/>
          </a:p>
        </p:txBody>
      </p:sp>
      <p:sp>
        <p:nvSpPr>
          <p:cNvPr id="9" name="Text 7"/>
          <p:cNvSpPr/>
          <p:nvPr/>
        </p:nvSpPr>
        <p:spPr>
          <a:xfrm>
            <a:off x="594360" y="3273552"/>
            <a:ext cx="3703320" cy="603504"/>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  Topic names: API-proposed, Paul reviewed — further automation planned</a:t>
            </a:r>
            <a:endParaRPr lang="en-US" sz="1150" dirty="0"/>
          </a:p>
        </p:txBody>
      </p:sp>
      <p:sp>
        <p:nvSpPr>
          <p:cNvPr id="10" name="Text 8"/>
          <p:cNvSpPr/>
          <p:nvPr/>
        </p:nvSpPr>
        <p:spPr>
          <a:xfrm>
            <a:off x="594360" y="3941064"/>
            <a:ext cx="3703320" cy="603504"/>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  5-seed stability analysis complete — mean stability 0.327, 5/9 topics stable</a:t>
            </a:r>
            <a:endParaRPr lang="en-US" sz="1150" dirty="0"/>
          </a:p>
        </p:txBody>
      </p:sp>
      <p:sp>
        <p:nvSpPr>
          <p:cNvPr id="11" name="Shape 9"/>
          <p:cNvSpPr/>
          <p:nvPr/>
        </p:nvSpPr>
        <p:spPr>
          <a:xfrm>
            <a:off x="4663440" y="868680"/>
            <a:ext cx="3977640" cy="393192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2" name="Shape 10"/>
          <p:cNvSpPr/>
          <p:nvPr/>
        </p:nvSpPr>
        <p:spPr>
          <a:xfrm>
            <a:off x="4663440" y="868680"/>
            <a:ext cx="3977640" cy="64008"/>
          </a:xfrm>
          <a:prstGeom prst="rect">
            <a:avLst/>
          </a:prstGeom>
          <a:solidFill>
            <a:srgbClr val="1D4ED8"/>
          </a:solidFill>
          <a:ln/>
        </p:spPr>
        <p:txBody>
          <a:bodyPr/>
          <a:lstStyle/>
          <a:p>
            <a:endParaRPr lang="en-US"/>
          </a:p>
        </p:txBody>
      </p:sp>
      <p:sp>
        <p:nvSpPr>
          <p:cNvPr id="13" name="Text 11"/>
          <p:cNvSpPr/>
          <p:nvPr/>
        </p:nvSpPr>
        <p:spPr>
          <a:xfrm>
            <a:off x="4773168" y="960120"/>
            <a:ext cx="3749040" cy="347472"/>
          </a:xfrm>
          <a:prstGeom prst="rect">
            <a:avLst/>
          </a:prstGeom>
          <a:noFill/>
          <a:ln/>
        </p:spPr>
        <p:txBody>
          <a:bodyPr wrap="square" rtlCol="0" anchor="ctr"/>
          <a:lstStyle/>
          <a:p>
            <a:pPr marL="0" indent="0">
              <a:buNone/>
            </a:pPr>
            <a:r>
              <a:rPr lang="en-US" sz="1300" b="1" dirty="0">
                <a:solidFill>
                  <a:srgbClr val="1B2E4B"/>
                </a:solidFill>
                <a:latin typeface="Georgia" pitchFamily="34" charset="0"/>
                <a:ea typeface="Georgia" pitchFamily="34" charset="-122"/>
                <a:cs typeface="Georgia" pitchFamily="34" charset="-120"/>
              </a:rPr>
              <a:t>Chapter-Level  ·  NMF  ·  Infrastructure Built</a:t>
            </a:r>
            <a:endParaRPr lang="en-US" sz="1300" dirty="0"/>
          </a:p>
        </p:txBody>
      </p:sp>
      <p:sp>
        <p:nvSpPr>
          <p:cNvPr id="14" name="Text 12"/>
          <p:cNvSpPr/>
          <p:nvPr/>
        </p:nvSpPr>
        <p:spPr>
          <a:xfrm>
            <a:off x="4773168" y="1316736"/>
            <a:ext cx="3749040" cy="566928"/>
          </a:xfrm>
          <a:prstGeom prst="rect">
            <a:avLst/>
          </a:prstGeom>
          <a:noFill/>
          <a:ln/>
        </p:spPr>
        <p:txBody>
          <a:bodyPr wrap="square"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Non-negative Matrix Factorisation — chapter-level analysis built and validated (8-topic solution). Not presented in this talk.</a:t>
            </a:r>
            <a:endParaRPr lang="en-US" sz="950" dirty="0"/>
          </a:p>
        </p:txBody>
      </p:sp>
      <p:sp>
        <p:nvSpPr>
          <p:cNvPr id="15" name="Text 13"/>
          <p:cNvSpPr/>
          <p:nvPr/>
        </p:nvSpPr>
        <p:spPr>
          <a:xfrm>
            <a:off x="4800600" y="1938528"/>
            <a:ext cx="3703320" cy="603504"/>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  Input: abstractive summaries (not raw text)</a:t>
            </a:r>
            <a:endParaRPr lang="en-US" sz="1150" dirty="0"/>
          </a:p>
        </p:txBody>
      </p:sp>
      <p:sp>
        <p:nvSpPr>
          <p:cNvPr id="16" name="Text 14"/>
          <p:cNvSpPr/>
          <p:nvPr/>
        </p:nvSpPr>
        <p:spPr>
          <a:xfrm>
            <a:off x="4800600" y="2606040"/>
            <a:ext cx="3703320" cy="603504"/>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  8-topic solution available in pipeline outputs</a:t>
            </a:r>
            <a:endParaRPr lang="en-US" sz="1150" dirty="0"/>
          </a:p>
        </p:txBody>
      </p:sp>
      <p:sp>
        <p:nvSpPr>
          <p:cNvPr id="17" name="Text 15"/>
          <p:cNvSpPr/>
          <p:nvPr/>
        </p:nvSpPr>
        <p:spPr>
          <a:xfrm>
            <a:off x="4800600" y="3273552"/>
            <a:ext cx="3703320" cy="603504"/>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  Runs independently — see HTML reports</a:t>
            </a:r>
            <a:endParaRPr lang="en-US" sz="1150" dirty="0"/>
          </a:p>
        </p:txBody>
      </p:sp>
      <p:sp>
        <p:nvSpPr>
          <p:cNvPr id="18" name="Text 16"/>
          <p:cNvSpPr/>
          <p:nvPr/>
        </p:nvSpPr>
        <p:spPr>
          <a:xfrm>
            <a:off x="4800600" y="3941064"/>
            <a:ext cx="3703320" cy="603504"/>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  Presentation scope: book-level LDA only</a:t>
            </a:r>
            <a:endParaRPr lang="en-US" sz="1150" dirty="0"/>
          </a:p>
        </p:txBody>
      </p:sp>
      <p:sp>
        <p:nvSpPr>
          <p:cNvPr id="19" name="Text 17"/>
          <p:cNvSpPr/>
          <p:nvPr/>
        </p:nvSpPr>
        <p:spPr>
          <a:xfrm>
            <a:off x="457200" y="4873752"/>
            <a:ext cx="8229600" cy="246888"/>
          </a:xfrm>
          <a:prstGeom prst="rect">
            <a:avLst/>
          </a:prstGeom>
          <a:noFill/>
          <a:ln/>
        </p:spPr>
        <p:txBody>
          <a:bodyPr wrap="square" rtlCol="0" anchor="ctr"/>
          <a:lstStyle/>
          <a:p>
            <a:pPr marL="0" indent="0" algn="ctr">
              <a:buNone/>
            </a:pPr>
            <a:r>
              <a:rPr lang="en-US" sz="1050" i="1" dirty="0">
                <a:solidFill>
                  <a:srgbClr val="64748B"/>
                </a:solidFill>
                <a:latin typeface="Calibri" pitchFamily="34" charset="0"/>
                <a:ea typeface="Calibri" pitchFamily="34" charset="-122"/>
                <a:cs typeface="Calibri" pitchFamily="34" charset="-120"/>
              </a:rPr>
              <a:t>5-seed stability complete (mean=0.327)  ·  Topic names provisional pending multi-rater validation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E4B"/>
        </a:solidFill>
        <a:effectLst/>
      </p:bgPr>
    </p:bg>
    <p:spTree>
      <p:nvGrpSpPr>
        <p:cNvPr id="1" name=""/>
        <p:cNvGrpSpPr/>
        <p:nvPr/>
      </p:nvGrpSpPr>
      <p:grpSpPr>
        <a:xfrm>
          <a:off x="0" y="0"/>
          <a:ext cx="0" cy="0"/>
          <a:chOff x="0" y="0"/>
          <a:chExt cx="0" cy="0"/>
        </a:xfrm>
      </p:grpSpPr>
      <p:sp>
        <p:nvSpPr>
          <p:cNvPr id="2" name="Shape 0"/>
          <p:cNvSpPr/>
          <p:nvPr/>
        </p:nvSpPr>
        <p:spPr>
          <a:xfrm>
            <a:off x="5669280" y="274320"/>
            <a:ext cx="128016" cy="128016"/>
          </a:xfrm>
          <a:prstGeom prst="ellipse">
            <a:avLst/>
          </a:prstGeom>
          <a:solidFill>
            <a:srgbClr val="0D9488">
              <a:alpha val="45000"/>
            </a:srgbClr>
          </a:solidFill>
          <a:ln/>
        </p:spPr>
        <p:txBody>
          <a:bodyPr/>
          <a:lstStyle/>
          <a:p>
            <a:endParaRPr lang="en-US"/>
          </a:p>
        </p:txBody>
      </p:sp>
      <p:sp>
        <p:nvSpPr>
          <p:cNvPr id="3" name="Shape 1"/>
          <p:cNvSpPr/>
          <p:nvPr/>
        </p:nvSpPr>
        <p:spPr>
          <a:xfrm>
            <a:off x="6172200" y="274320"/>
            <a:ext cx="128016" cy="128016"/>
          </a:xfrm>
          <a:prstGeom prst="ellipse">
            <a:avLst/>
          </a:prstGeom>
          <a:solidFill>
            <a:srgbClr val="0D9488">
              <a:alpha val="45000"/>
            </a:srgbClr>
          </a:solidFill>
          <a:ln/>
        </p:spPr>
        <p:txBody>
          <a:bodyPr/>
          <a:lstStyle/>
          <a:p>
            <a:endParaRPr lang="en-US"/>
          </a:p>
        </p:txBody>
      </p:sp>
      <p:sp>
        <p:nvSpPr>
          <p:cNvPr id="4" name="Shape 2"/>
          <p:cNvSpPr/>
          <p:nvPr/>
        </p:nvSpPr>
        <p:spPr>
          <a:xfrm>
            <a:off x="6675120" y="274320"/>
            <a:ext cx="128016" cy="128016"/>
          </a:xfrm>
          <a:prstGeom prst="ellipse">
            <a:avLst/>
          </a:prstGeom>
          <a:solidFill>
            <a:srgbClr val="0D9488">
              <a:alpha val="45000"/>
            </a:srgbClr>
          </a:solidFill>
          <a:ln/>
        </p:spPr>
        <p:txBody>
          <a:bodyPr/>
          <a:lstStyle/>
          <a:p>
            <a:endParaRPr lang="en-US"/>
          </a:p>
        </p:txBody>
      </p:sp>
      <p:sp>
        <p:nvSpPr>
          <p:cNvPr id="5" name="Shape 3"/>
          <p:cNvSpPr/>
          <p:nvPr/>
        </p:nvSpPr>
        <p:spPr>
          <a:xfrm>
            <a:off x="7178040" y="274320"/>
            <a:ext cx="128016" cy="128016"/>
          </a:xfrm>
          <a:prstGeom prst="ellipse">
            <a:avLst/>
          </a:prstGeom>
          <a:solidFill>
            <a:srgbClr val="0D9488">
              <a:alpha val="45000"/>
            </a:srgbClr>
          </a:solidFill>
          <a:ln/>
        </p:spPr>
        <p:txBody>
          <a:bodyPr/>
          <a:lstStyle/>
          <a:p>
            <a:endParaRPr lang="en-US"/>
          </a:p>
        </p:txBody>
      </p:sp>
      <p:sp>
        <p:nvSpPr>
          <p:cNvPr id="6" name="Shape 4"/>
          <p:cNvSpPr/>
          <p:nvPr/>
        </p:nvSpPr>
        <p:spPr>
          <a:xfrm>
            <a:off x="7680960" y="274320"/>
            <a:ext cx="128016" cy="128016"/>
          </a:xfrm>
          <a:prstGeom prst="ellipse">
            <a:avLst/>
          </a:prstGeom>
          <a:solidFill>
            <a:srgbClr val="0D9488">
              <a:alpha val="45000"/>
            </a:srgbClr>
          </a:solidFill>
          <a:ln/>
        </p:spPr>
        <p:txBody>
          <a:bodyPr/>
          <a:lstStyle/>
          <a:p>
            <a:endParaRPr lang="en-US"/>
          </a:p>
        </p:txBody>
      </p:sp>
      <p:sp>
        <p:nvSpPr>
          <p:cNvPr id="7" name="Shape 5"/>
          <p:cNvSpPr/>
          <p:nvPr/>
        </p:nvSpPr>
        <p:spPr>
          <a:xfrm>
            <a:off x="5669280" y="777240"/>
            <a:ext cx="128016" cy="128016"/>
          </a:xfrm>
          <a:prstGeom prst="ellipse">
            <a:avLst/>
          </a:prstGeom>
          <a:solidFill>
            <a:srgbClr val="0D9488">
              <a:alpha val="45000"/>
            </a:srgbClr>
          </a:solidFill>
          <a:ln/>
        </p:spPr>
        <p:txBody>
          <a:bodyPr/>
          <a:lstStyle/>
          <a:p>
            <a:endParaRPr lang="en-US"/>
          </a:p>
        </p:txBody>
      </p:sp>
      <p:sp>
        <p:nvSpPr>
          <p:cNvPr id="8" name="Shape 6"/>
          <p:cNvSpPr/>
          <p:nvPr/>
        </p:nvSpPr>
        <p:spPr>
          <a:xfrm>
            <a:off x="6172200" y="777240"/>
            <a:ext cx="128016" cy="128016"/>
          </a:xfrm>
          <a:prstGeom prst="ellipse">
            <a:avLst/>
          </a:prstGeom>
          <a:solidFill>
            <a:srgbClr val="0D9488">
              <a:alpha val="45000"/>
            </a:srgbClr>
          </a:solidFill>
          <a:ln/>
        </p:spPr>
        <p:txBody>
          <a:bodyPr/>
          <a:lstStyle/>
          <a:p>
            <a:endParaRPr lang="en-US"/>
          </a:p>
        </p:txBody>
      </p:sp>
      <p:sp>
        <p:nvSpPr>
          <p:cNvPr id="9" name="Shape 7"/>
          <p:cNvSpPr/>
          <p:nvPr/>
        </p:nvSpPr>
        <p:spPr>
          <a:xfrm>
            <a:off x="6675120" y="777240"/>
            <a:ext cx="128016" cy="128016"/>
          </a:xfrm>
          <a:prstGeom prst="ellipse">
            <a:avLst/>
          </a:prstGeom>
          <a:solidFill>
            <a:srgbClr val="0D9488">
              <a:alpha val="45000"/>
            </a:srgbClr>
          </a:solidFill>
          <a:ln/>
        </p:spPr>
        <p:txBody>
          <a:bodyPr/>
          <a:lstStyle/>
          <a:p>
            <a:endParaRPr lang="en-US"/>
          </a:p>
        </p:txBody>
      </p:sp>
      <p:sp>
        <p:nvSpPr>
          <p:cNvPr id="10" name="Shape 8"/>
          <p:cNvSpPr/>
          <p:nvPr/>
        </p:nvSpPr>
        <p:spPr>
          <a:xfrm>
            <a:off x="7178040" y="777240"/>
            <a:ext cx="128016" cy="128016"/>
          </a:xfrm>
          <a:prstGeom prst="ellipse">
            <a:avLst/>
          </a:prstGeom>
          <a:solidFill>
            <a:srgbClr val="0D9488">
              <a:alpha val="45000"/>
            </a:srgbClr>
          </a:solidFill>
          <a:ln/>
        </p:spPr>
        <p:txBody>
          <a:bodyPr/>
          <a:lstStyle/>
          <a:p>
            <a:endParaRPr lang="en-US"/>
          </a:p>
        </p:txBody>
      </p:sp>
      <p:sp>
        <p:nvSpPr>
          <p:cNvPr id="11" name="Shape 9"/>
          <p:cNvSpPr/>
          <p:nvPr/>
        </p:nvSpPr>
        <p:spPr>
          <a:xfrm>
            <a:off x="7680960" y="777240"/>
            <a:ext cx="128016" cy="128016"/>
          </a:xfrm>
          <a:prstGeom prst="ellipse">
            <a:avLst/>
          </a:prstGeom>
          <a:solidFill>
            <a:srgbClr val="0D9488">
              <a:alpha val="45000"/>
            </a:srgbClr>
          </a:solidFill>
          <a:ln/>
        </p:spPr>
        <p:txBody>
          <a:bodyPr/>
          <a:lstStyle/>
          <a:p>
            <a:endParaRPr lang="en-US"/>
          </a:p>
        </p:txBody>
      </p:sp>
      <p:sp>
        <p:nvSpPr>
          <p:cNvPr id="12" name="Shape 10"/>
          <p:cNvSpPr/>
          <p:nvPr/>
        </p:nvSpPr>
        <p:spPr>
          <a:xfrm>
            <a:off x="5669280" y="1280160"/>
            <a:ext cx="128016" cy="128016"/>
          </a:xfrm>
          <a:prstGeom prst="ellipse">
            <a:avLst/>
          </a:prstGeom>
          <a:solidFill>
            <a:srgbClr val="0D9488">
              <a:alpha val="45000"/>
            </a:srgbClr>
          </a:solidFill>
          <a:ln/>
        </p:spPr>
        <p:txBody>
          <a:bodyPr/>
          <a:lstStyle/>
          <a:p>
            <a:endParaRPr lang="en-US"/>
          </a:p>
        </p:txBody>
      </p:sp>
      <p:sp>
        <p:nvSpPr>
          <p:cNvPr id="13" name="Shape 11"/>
          <p:cNvSpPr/>
          <p:nvPr/>
        </p:nvSpPr>
        <p:spPr>
          <a:xfrm>
            <a:off x="6172200" y="1280160"/>
            <a:ext cx="128016" cy="128016"/>
          </a:xfrm>
          <a:prstGeom prst="ellipse">
            <a:avLst/>
          </a:prstGeom>
          <a:solidFill>
            <a:srgbClr val="0D9488">
              <a:alpha val="45000"/>
            </a:srgbClr>
          </a:solidFill>
          <a:ln/>
        </p:spPr>
        <p:txBody>
          <a:bodyPr/>
          <a:lstStyle/>
          <a:p>
            <a:endParaRPr lang="en-US"/>
          </a:p>
        </p:txBody>
      </p:sp>
      <p:sp>
        <p:nvSpPr>
          <p:cNvPr id="14" name="Shape 12"/>
          <p:cNvSpPr/>
          <p:nvPr/>
        </p:nvSpPr>
        <p:spPr>
          <a:xfrm>
            <a:off x="6675120" y="1280160"/>
            <a:ext cx="128016" cy="128016"/>
          </a:xfrm>
          <a:prstGeom prst="ellipse">
            <a:avLst/>
          </a:prstGeom>
          <a:solidFill>
            <a:srgbClr val="0D9488">
              <a:alpha val="45000"/>
            </a:srgbClr>
          </a:solidFill>
          <a:ln/>
        </p:spPr>
        <p:txBody>
          <a:bodyPr/>
          <a:lstStyle/>
          <a:p>
            <a:endParaRPr lang="en-US"/>
          </a:p>
        </p:txBody>
      </p:sp>
      <p:sp>
        <p:nvSpPr>
          <p:cNvPr id="15" name="Shape 13"/>
          <p:cNvSpPr/>
          <p:nvPr/>
        </p:nvSpPr>
        <p:spPr>
          <a:xfrm>
            <a:off x="7178040" y="1280160"/>
            <a:ext cx="128016" cy="128016"/>
          </a:xfrm>
          <a:prstGeom prst="ellipse">
            <a:avLst/>
          </a:prstGeom>
          <a:solidFill>
            <a:srgbClr val="0D9488">
              <a:alpha val="45000"/>
            </a:srgbClr>
          </a:solidFill>
          <a:ln/>
        </p:spPr>
        <p:txBody>
          <a:bodyPr/>
          <a:lstStyle/>
          <a:p>
            <a:endParaRPr lang="en-US"/>
          </a:p>
        </p:txBody>
      </p:sp>
      <p:sp>
        <p:nvSpPr>
          <p:cNvPr id="16" name="Shape 14"/>
          <p:cNvSpPr/>
          <p:nvPr/>
        </p:nvSpPr>
        <p:spPr>
          <a:xfrm>
            <a:off x="7680960" y="1280160"/>
            <a:ext cx="128016" cy="128016"/>
          </a:xfrm>
          <a:prstGeom prst="ellipse">
            <a:avLst/>
          </a:prstGeom>
          <a:solidFill>
            <a:srgbClr val="0D9488">
              <a:alpha val="45000"/>
            </a:srgbClr>
          </a:solidFill>
          <a:ln/>
        </p:spPr>
        <p:txBody>
          <a:bodyPr/>
          <a:lstStyle/>
          <a:p>
            <a:endParaRPr lang="en-US"/>
          </a:p>
        </p:txBody>
      </p:sp>
      <p:sp>
        <p:nvSpPr>
          <p:cNvPr id="17" name="Shape 15"/>
          <p:cNvSpPr/>
          <p:nvPr/>
        </p:nvSpPr>
        <p:spPr>
          <a:xfrm>
            <a:off x="457200" y="1691640"/>
            <a:ext cx="594360" cy="594360"/>
          </a:xfrm>
          <a:prstGeom prst="ellipse">
            <a:avLst/>
          </a:prstGeom>
          <a:solidFill>
            <a:srgbClr val="0D9488"/>
          </a:solidFill>
          <a:ln/>
        </p:spPr>
        <p:txBody>
          <a:bodyPr/>
          <a:lstStyle/>
          <a:p>
            <a:endParaRPr lang="en-US"/>
          </a:p>
        </p:txBody>
      </p:sp>
      <p:sp>
        <p:nvSpPr>
          <p:cNvPr id="18" name="Text 16"/>
          <p:cNvSpPr/>
          <p:nvPr/>
        </p:nvSpPr>
        <p:spPr>
          <a:xfrm>
            <a:off x="457200" y="169164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rPr>
              <a:t>3</a:t>
            </a:r>
            <a:endParaRPr lang="en-US" sz="2000" dirty="0"/>
          </a:p>
        </p:txBody>
      </p:sp>
      <p:sp>
        <p:nvSpPr>
          <p:cNvPr id="19" name="Text 17"/>
          <p:cNvSpPr/>
          <p:nvPr/>
        </p:nvSpPr>
        <p:spPr>
          <a:xfrm>
            <a:off x="1234440" y="1600200"/>
            <a:ext cx="7406640" cy="822960"/>
          </a:xfrm>
          <a:prstGeom prst="rect">
            <a:avLst/>
          </a:prstGeom>
          <a:noFill/>
          <a:ln/>
        </p:spPr>
        <p:txBody>
          <a:bodyPr wrap="square"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Preliminary Findings</a:t>
            </a:r>
            <a:endParaRPr lang="en-US" sz="4200" dirty="0"/>
          </a:p>
        </p:txBody>
      </p:sp>
      <p:sp>
        <p:nvSpPr>
          <p:cNvPr id="20" name="Text 18"/>
          <p:cNvSpPr/>
          <p:nvPr/>
        </p:nvSpPr>
        <p:spPr>
          <a:xfrm>
            <a:off x="1234440" y="2468880"/>
            <a:ext cx="7406640" cy="502920"/>
          </a:xfrm>
          <a:prstGeom prst="rect">
            <a:avLst/>
          </a:prstGeom>
          <a:noFill/>
          <a:ln/>
        </p:spPr>
        <p:txBody>
          <a:bodyPr wrap="square" rtlCol="0" anchor="ctr"/>
          <a:lstStyle/>
          <a:p>
            <a:pPr marL="0" indent="0">
              <a:buNone/>
            </a:pPr>
            <a:r>
              <a:rPr lang="en-US" sz="1700" i="1" dirty="0">
                <a:solidFill>
                  <a:srgbClr val="CCEFED"/>
                </a:solidFill>
                <a:latin typeface="Calibri" pitchFamily="34" charset="0"/>
                <a:ea typeface="Calibri" pitchFamily="34" charset="-122"/>
                <a:cs typeface="Calibri" pitchFamily="34" charset="-120"/>
              </a:rPr>
              <a:t>What the corpus suggests about the cybernetics intellectual landscape</a:t>
            </a:r>
            <a:endParaRPr lang="en-US" sz="1700" dirty="0"/>
          </a:p>
        </p:txBody>
      </p:sp>
      <p:sp>
        <p:nvSpPr>
          <p:cNvPr id="21" name="Shape 19"/>
          <p:cNvSpPr/>
          <p:nvPr/>
        </p:nvSpPr>
        <p:spPr>
          <a:xfrm>
            <a:off x="457200" y="4572000"/>
            <a:ext cx="8229600" cy="36576"/>
          </a:xfrm>
          <a:prstGeom prst="rect">
            <a:avLst/>
          </a:prstGeom>
          <a:solidFill>
            <a:srgbClr val="0D9488">
              <a:alpha val="60000"/>
            </a:srgbClr>
          </a:solidFill>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1B2E4B"/>
                </a:solidFill>
                <a:latin typeface="Georgia" pitchFamily="34" charset="0"/>
                <a:ea typeface="Georgia" pitchFamily="34" charset="-122"/>
                <a:cs typeface="Georgia" pitchFamily="34" charset="-120"/>
              </a:rPr>
              <a:t>The Intellectual Map — 9 LDA Topics</a:t>
            </a:r>
            <a:endParaRPr lang="en-US" sz="2800" dirty="0"/>
          </a:p>
        </p:txBody>
      </p:sp>
      <p:sp>
        <p:nvSpPr>
          <p:cNvPr id="3" name="Text 1"/>
          <p:cNvSpPr/>
          <p:nvPr/>
        </p:nvSpPr>
        <p:spPr>
          <a:xfrm>
            <a:off x="457200" y="731520"/>
            <a:ext cx="8229600" cy="320040"/>
          </a:xfrm>
          <a:prstGeom prst="rect">
            <a:avLst/>
          </a:prstGeom>
          <a:noFill/>
          <a:ln/>
        </p:spPr>
        <p:txBody>
          <a:bodyPr wrap="square"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9-topic solution — 7 shown above. Also: T8 Cybernetics of Posthumanism · T9 Cultural Applications of Cybernetics (stability 0.622, highest across all k).  Names: API-proposed, corrected by Paul via title-sweep. Provisional — run-records validation pending.</a:t>
            </a:r>
            <a:endParaRPr lang="en-US" sz="950" dirty="0"/>
          </a:p>
        </p:txBody>
      </p:sp>
      <p:sp>
        <p:nvSpPr>
          <p:cNvPr id="4" name="Shape 2"/>
          <p:cNvSpPr/>
          <p:nvPr/>
        </p:nvSpPr>
        <p:spPr>
          <a:xfrm>
            <a:off x="457200" y="1115568"/>
            <a:ext cx="4069080" cy="758952"/>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5" name="Shape 3"/>
          <p:cNvSpPr/>
          <p:nvPr/>
        </p:nvSpPr>
        <p:spPr>
          <a:xfrm>
            <a:off x="457200" y="1115568"/>
            <a:ext cx="73152" cy="758952"/>
          </a:xfrm>
          <a:prstGeom prst="rect">
            <a:avLst/>
          </a:prstGeom>
          <a:solidFill>
            <a:srgbClr val="0D9488"/>
          </a:solidFill>
          <a:ln/>
        </p:spPr>
        <p:txBody>
          <a:bodyPr/>
          <a:lstStyle/>
          <a:p>
            <a:endParaRPr lang="en-US"/>
          </a:p>
        </p:txBody>
      </p:sp>
      <p:sp>
        <p:nvSpPr>
          <p:cNvPr id="6" name="Shape 4"/>
          <p:cNvSpPr/>
          <p:nvPr/>
        </p:nvSpPr>
        <p:spPr>
          <a:xfrm>
            <a:off x="594360" y="1207008"/>
            <a:ext cx="347472" cy="246888"/>
          </a:xfrm>
          <a:prstGeom prst="rect">
            <a:avLst/>
          </a:prstGeom>
          <a:solidFill>
            <a:srgbClr val="0D9488"/>
          </a:solidFill>
          <a:ln/>
        </p:spPr>
        <p:txBody>
          <a:bodyPr/>
          <a:lstStyle/>
          <a:p>
            <a:endParaRPr lang="en-US"/>
          </a:p>
        </p:txBody>
      </p:sp>
      <p:sp>
        <p:nvSpPr>
          <p:cNvPr id="7" name="Text 5"/>
          <p:cNvSpPr/>
          <p:nvPr/>
        </p:nvSpPr>
        <p:spPr>
          <a:xfrm>
            <a:off x="594360" y="1207008"/>
            <a:ext cx="347472" cy="246888"/>
          </a:xfrm>
          <a:prstGeom prst="rect">
            <a:avLst/>
          </a:prstGeom>
          <a:noFill/>
          <a:ln/>
        </p:spPr>
        <p:txBody>
          <a:bodyPr wrap="square" lIns="0" tIns="0" rIns="0" bIns="0" rtlCol="0" anchor="ctr"/>
          <a:lstStyle/>
          <a:p>
            <a:pPr marL="0" indent="0" algn="ctr">
              <a:buNone/>
            </a:pPr>
            <a:r>
              <a:rPr lang="en-US" sz="1000" b="1" dirty="0">
                <a:solidFill>
                  <a:srgbClr val="FFFFFF"/>
                </a:solidFill>
              </a:rPr>
              <a:t>T1</a:t>
            </a:r>
            <a:endParaRPr lang="en-US" sz="1000" dirty="0"/>
          </a:p>
        </p:txBody>
      </p:sp>
      <p:sp>
        <p:nvSpPr>
          <p:cNvPr id="8" name="Text 6"/>
          <p:cNvSpPr/>
          <p:nvPr/>
        </p:nvSpPr>
        <p:spPr>
          <a:xfrm>
            <a:off x="1024128" y="1170432"/>
            <a:ext cx="3429000" cy="347472"/>
          </a:xfrm>
          <a:prstGeom prst="rect">
            <a:avLst/>
          </a:prstGeom>
          <a:noFill/>
          <a:ln/>
        </p:spPr>
        <p:txBody>
          <a:bodyPr wrap="square" rtlCol="0" anchor="ctr"/>
          <a:lstStyle/>
          <a:p>
            <a:pPr marL="0" indent="0">
              <a:buNone/>
            </a:pPr>
            <a:r>
              <a:rPr lang="en-US" sz="1250" b="1" dirty="0">
                <a:solidFill>
                  <a:srgbClr val="1B2E4B"/>
                </a:solidFill>
                <a:latin typeface="Calibri" pitchFamily="34" charset="0"/>
                <a:ea typeface="Calibri" pitchFamily="34" charset="-122"/>
                <a:cs typeface="Calibri" pitchFamily="34" charset="-120"/>
              </a:rPr>
              <a:t>History and Biography of Cybernetics</a:t>
            </a:r>
            <a:endParaRPr lang="en-US" sz="1250" dirty="0"/>
          </a:p>
        </p:txBody>
      </p:sp>
      <p:sp>
        <p:nvSpPr>
          <p:cNvPr id="9" name="Text 7"/>
          <p:cNvSpPr/>
          <p:nvPr/>
        </p:nvSpPr>
        <p:spPr>
          <a:xfrm>
            <a:off x="1024128" y="1572768"/>
            <a:ext cx="3429000" cy="292608"/>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wiener · lem · heims · kline · waldrop · čapek</a:t>
            </a:r>
            <a:endParaRPr lang="en-US" sz="1000" dirty="0"/>
          </a:p>
        </p:txBody>
      </p:sp>
      <p:sp>
        <p:nvSpPr>
          <p:cNvPr id="10" name="Shape 8"/>
          <p:cNvSpPr/>
          <p:nvPr/>
        </p:nvSpPr>
        <p:spPr>
          <a:xfrm>
            <a:off x="457200" y="2029968"/>
            <a:ext cx="4069080" cy="758952"/>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1" name="Shape 9"/>
          <p:cNvSpPr/>
          <p:nvPr/>
        </p:nvSpPr>
        <p:spPr>
          <a:xfrm>
            <a:off x="457200" y="2029968"/>
            <a:ext cx="73152" cy="758952"/>
          </a:xfrm>
          <a:prstGeom prst="rect">
            <a:avLst/>
          </a:prstGeom>
          <a:solidFill>
            <a:srgbClr val="1D4ED8"/>
          </a:solidFill>
          <a:ln/>
        </p:spPr>
        <p:txBody>
          <a:bodyPr/>
          <a:lstStyle/>
          <a:p>
            <a:endParaRPr lang="en-US"/>
          </a:p>
        </p:txBody>
      </p:sp>
      <p:sp>
        <p:nvSpPr>
          <p:cNvPr id="12" name="Shape 10"/>
          <p:cNvSpPr/>
          <p:nvPr/>
        </p:nvSpPr>
        <p:spPr>
          <a:xfrm>
            <a:off x="594360" y="2121408"/>
            <a:ext cx="347472" cy="246888"/>
          </a:xfrm>
          <a:prstGeom prst="rect">
            <a:avLst/>
          </a:prstGeom>
          <a:solidFill>
            <a:srgbClr val="1D4ED8"/>
          </a:solidFill>
          <a:ln/>
        </p:spPr>
        <p:txBody>
          <a:bodyPr/>
          <a:lstStyle/>
          <a:p>
            <a:endParaRPr lang="en-US"/>
          </a:p>
        </p:txBody>
      </p:sp>
      <p:sp>
        <p:nvSpPr>
          <p:cNvPr id="13" name="Text 11"/>
          <p:cNvSpPr/>
          <p:nvPr/>
        </p:nvSpPr>
        <p:spPr>
          <a:xfrm>
            <a:off x="594360" y="2121408"/>
            <a:ext cx="347472" cy="246888"/>
          </a:xfrm>
          <a:prstGeom prst="rect">
            <a:avLst/>
          </a:prstGeom>
          <a:noFill/>
          <a:ln/>
        </p:spPr>
        <p:txBody>
          <a:bodyPr wrap="square" lIns="0" tIns="0" rIns="0" bIns="0" rtlCol="0" anchor="ctr"/>
          <a:lstStyle/>
          <a:p>
            <a:pPr marL="0" indent="0" algn="ctr">
              <a:buNone/>
            </a:pPr>
            <a:r>
              <a:rPr lang="en-US" sz="1000" b="1" dirty="0">
                <a:solidFill>
                  <a:srgbClr val="FFFFFF"/>
                </a:solidFill>
              </a:rPr>
              <a:t>T2</a:t>
            </a:r>
            <a:endParaRPr lang="en-US" sz="1000" dirty="0"/>
          </a:p>
        </p:txBody>
      </p:sp>
      <p:sp>
        <p:nvSpPr>
          <p:cNvPr id="14" name="Text 12"/>
          <p:cNvSpPr/>
          <p:nvPr/>
        </p:nvSpPr>
        <p:spPr>
          <a:xfrm>
            <a:off x="1024128" y="2084832"/>
            <a:ext cx="3429000" cy="347472"/>
          </a:xfrm>
          <a:prstGeom prst="rect">
            <a:avLst/>
          </a:prstGeom>
          <a:noFill/>
          <a:ln/>
        </p:spPr>
        <p:txBody>
          <a:bodyPr wrap="square" rtlCol="0" anchor="ctr"/>
          <a:lstStyle/>
          <a:p>
            <a:pPr marL="0" indent="0">
              <a:buNone/>
            </a:pPr>
            <a:r>
              <a:rPr lang="en-US" sz="1250" b="1" dirty="0">
                <a:solidFill>
                  <a:srgbClr val="1B2E4B"/>
                </a:solidFill>
                <a:latin typeface="Calibri" pitchFamily="34" charset="0"/>
                <a:ea typeface="Calibri" pitchFamily="34" charset="-122"/>
                <a:cs typeface="Calibri" pitchFamily="34" charset="-120"/>
              </a:rPr>
              <a:t>Formal Foundations of Cybernetics</a:t>
            </a:r>
            <a:endParaRPr lang="en-US" sz="1250" dirty="0"/>
          </a:p>
        </p:txBody>
      </p:sp>
      <p:sp>
        <p:nvSpPr>
          <p:cNvPr id="15" name="Text 13"/>
          <p:cNvSpPr/>
          <p:nvPr/>
        </p:nvSpPr>
        <p:spPr>
          <a:xfrm>
            <a:off x="1024128" y="2487168"/>
            <a:ext cx="3429000" cy="292608"/>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stress · allostasis · brain · body · regulation · neural</a:t>
            </a:r>
            <a:endParaRPr lang="en-US" sz="1000" dirty="0"/>
          </a:p>
        </p:txBody>
      </p:sp>
      <p:sp>
        <p:nvSpPr>
          <p:cNvPr id="16" name="Shape 14"/>
          <p:cNvSpPr/>
          <p:nvPr/>
        </p:nvSpPr>
        <p:spPr>
          <a:xfrm>
            <a:off x="457200" y="2944368"/>
            <a:ext cx="4069080" cy="758952"/>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7" name="Shape 15"/>
          <p:cNvSpPr/>
          <p:nvPr/>
        </p:nvSpPr>
        <p:spPr>
          <a:xfrm>
            <a:off x="457200" y="2944368"/>
            <a:ext cx="73152" cy="758952"/>
          </a:xfrm>
          <a:prstGeom prst="rect">
            <a:avLst/>
          </a:prstGeom>
          <a:solidFill>
            <a:srgbClr val="1D4ED8"/>
          </a:solidFill>
          <a:ln/>
        </p:spPr>
        <p:txBody>
          <a:bodyPr/>
          <a:lstStyle/>
          <a:p>
            <a:endParaRPr lang="en-US"/>
          </a:p>
        </p:txBody>
      </p:sp>
      <p:sp>
        <p:nvSpPr>
          <p:cNvPr id="18" name="Shape 16"/>
          <p:cNvSpPr/>
          <p:nvPr/>
        </p:nvSpPr>
        <p:spPr>
          <a:xfrm>
            <a:off x="594360" y="3035808"/>
            <a:ext cx="347472" cy="246888"/>
          </a:xfrm>
          <a:prstGeom prst="rect">
            <a:avLst/>
          </a:prstGeom>
          <a:solidFill>
            <a:srgbClr val="1D4ED8"/>
          </a:solidFill>
          <a:ln/>
        </p:spPr>
        <p:txBody>
          <a:bodyPr/>
          <a:lstStyle/>
          <a:p>
            <a:endParaRPr lang="en-US"/>
          </a:p>
        </p:txBody>
      </p:sp>
      <p:sp>
        <p:nvSpPr>
          <p:cNvPr id="19" name="Text 17"/>
          <p:cNvSpPr/>
          <p:nvPr/>
        </p:nvSpPr>
        <p:spPr>
          <a:xfrm>
            <a:off x="594360" y="3035808"/>
            <a:ext cx="347472" cy="246888"/>
          </a:xfrm>
          <a:prstGeom prst="rect">
            <a:avLst/>
          </a:prstGeom>
          <a:noFill/>
          <a:ln/>
        </p:spPr>
        <p:txBody>
          <a:bodyPr wrap="square" lIns="0" tIns="0" rIns="0" bIns="0" rtlCol="0" anchor="ctr"/>
          <a:lstStyle/>
          <a:p>
            <a:pPr marL="0" indent="0" algn="ctr">
              <a:buNone/>
            </a:pPr>
            <a:r>
              <a:rPr lang="en-US" sz="1000" b="1" dirty="0">
                <a:solidFill>
                  <a:srgbClr val="FFFFFF"/>
                </a:solidFill>
              </a:rPr>
              <a:t>T3</a:t>
            </a:r>
            <a:endParaRPr lang="en-US" sz="1000" dirty="0"/>
          </a:p>
        </p:txBody>
      </p:sp>
      <p:sp>
        <p:nvSpPr>
          <p:cNvPr id="20" name="Text 18"/>
          <p:cNvSpPr/>
          <p:nvPr/>
        </p:nvSpPr>
        <p:spPr>
          <a:xfrm>
            <a:off x="1024128" y="2999232"/>
            <a:ext cx="3429000" cy="347472"/>
          </a:xfrm>
          <a:prstGeom prst="rect">
            <a:avLst/>
          </a:prstGeom>
          <a:noFill/>
          <a:ln/>
        </p:spPr>
        <p:txBody>
          <a:bodyPr wrap="square" rtlCol="0" anchor="ctr"/>
          <a:lstStyle/>
          <a:p>
            <a:pPr marL="0" indent="0">
              <a:buNone/>
            </a:pPr>
            <a:r>
              <a:rPr lang="en-US" sz="1250" b="1" dirty="0">
                <a:solidFill>
                  <a:srgbClr val="1B2E4B"/>
                </a:solidFill>
                <a:latin typeface="Calibri" pitchFamily="34" charset="0"/>
                <a:ea typeface="Calibri" pitchFamily="34" charset="-122"/>
                <a:cs typeface="Calibri" pitchFamily="34" charset="-120"/>
              </a:rPr>
              <a:t>Cross-Domain Applications of Cybernetics</a:t>
            </a:r>
            <a:endParaRPr lang="en-US" sz="1250" dirty="0"/>
          </a:p>
        </p:txBody>
      </p:sp>
      <p:sp>
        <p:nvSpPr>
          <p:cNvPr id="21" name="Text 19"/>
          <p:cNvSpPr/>
          <p:nvPr/>
        </p:nvSpPr>
        <p:spPr>
          <a:xfrm>
            <a:off x="1024128" y="3401568"/>
            <a:ext cx="3429000" cy="292608"/>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urban · church · border · governance · policy · social</a:t>
            </a:r>
            <a:endParaRPr lang="en-US" sz="1000" dirty="0"/>
          </a:p>
        </p:txBody>
      </p:sp>
      <p:sp>
        <p:nvSpPr>
          <p:cNvPr id="22" name="Shape 20"/>
          <p:cNvSpPr/>
          <p:nvPr/>
        </p:nvSpPr>
        <p:spPr>
          <a:xfrm>
            <a:off x="457200" y="3858768"/>
            <a:ext cx="4069080" cy="758952"/>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23" name="Shape 21"/>
          <p:cNvSpPr/>
          <p:nvPr/>
        </p:nvSpPr>
        <p:spPr>
          <a:xfrm>
            <a:off x="457200" y="3858768"/>
            <a:ext cx="73152" cy="758952"/>
          </a:xfrm>
          <a:prstGeom prst="rect">
            <a:avLst/>
          </a:prstGeom>
          <a:solidFill>
            <a:srgbClr val="7C3AED"/>
          </a:solidFill>
          <a:ln/>
        </p:spPr>
        <p:txBody>
          <a:bodyPr/>
          <a:lstStyle/>
          <a:p>
            <a:endParaRPr lang="en-US"/>
          </a:p>
        </p:txBody>
      </p:sp>
      <p:sp>
        <p:nvSpPr>
          <p:cNvPr id="24" name="Shape 22"/>
          <p:cNvSpPr/>
          <p:nvPr/>
        </p:nvSpPr>
        <p:spPr>
          <a:xfrm>
            <a:off x="594360" y="3950208"/>
            <a:ext cx="347472" cy="246888"/>
          </a:xfrm>
          <a:prstGeom prst="rect">
            <a:avLst/>
          </a:prstGeom>
          <a:solidFill>
            <a:srgbClr val="7C3AED"/>
          </a:solidFill>
          <a:ln/>
        </p:spPr>
        <p:txBody>
          <a:bodyPr/>
          <a:lstStyle/>
          <a:p>
            <a:endParaRPr lang="en-US"/>
          </a:p>
        </p:txBody>
      </p:sp>
      <p:sp>
        <p:nvSpPr>
          <p:cNvPr id="25" name="Text 23"/>
          <p:cNvSpPr/>
          <p:nvPr/>
        </p:nvSpPr>
        <p:spPr>
          <a:xfrm>
            <a:off x="594360" y="3950208"/>
            <a:ext cx="347472" cy="246888"/>
          </a:xfrm>
          <a:prstGeom prst="rect">
            <a:avLst/>
          </a:prstGeom>
          <a:noFill/>
          <a:ln/>
        </p:spPr>
        <p:txBody>
          <a:bodyPr wrap="square" lIns="0" tIns="0" rIns="0" bIns="0" rtlCol="0" anchor="ctr"/>
          <a:lstStyle/>
          <a:p>
            <a:pPr marL="0" indent="0" algn="ctr">
              <a:buNone/>
            </a:pPr>
            <a:r>
              <a:rPr lang="en-US" sz="1000" b="1" dirty="0">
                <a:solidFill>
                  <a:srgbClr val="FFFFFF"/>
                </a:solidFill>
              </a:rPr>
              <a:t>T4</a:t>
            </a:r>
            <a:endParaRPr lang="en-US" sz="1000" dirty="0"/>
          </a:p>
        </p:txBody>
      </p:sp>
      <p:sp>
        <p:nvSpPr>
          <p:cNvPr id="26" name="Text 24"/>
          <p:cNvSpPr/>
          <p:nvPr/>
        </p:nvSpPr>
        <p:spPr>
          <a:xfrm>
            <a:off x="1024128" y="3913632"/>
            <a:ext cx="3429000" cy="347472"/>
          </a:xfrm>
          <a:prstGeom prst="rect">
            <a:avLst/>
          </a:prstGeom>
          <a:noFill/>
          <a:ln/>
        </p:spPr>
        <p:txBody>
          <a:bodyPr wrap="square" rtlCol="0" anchor="ctr"/>
          <a:lstStyle/>
          <a:p>
            <a:pPr marL="0" indent="0">
              <a:buNone/>
            </a:pPr>
            <a:r>
              <a:rPr lang="en-US" sz="1250" b="1" dirty="0">
                <a:solidFill>
                  <a:srgbClr val="1B2E4B"/>
                </a:solidFill>
                <a:latin typeface="Calibri" pitchFamily="34" charset="0"/>
                <a:ea typeface="Calibri" pitchFamily="34" charset="-122"/>
                <a:cs typeface="Calibri" pitchFamily="34" charset="-120"/>
              </a:rPr>
              <a:t>Cybernetic Management Theory</a:t>
            </a:r>
            <a:endParaRPr lang="en-US" sz="1250" dirty="0"/>
          </a:p>
        </p:txBody>
      </p:sp>
      <p:sp>
        <p:nvSpPr>
          <p:cNvPr id="27" name="Text 25"/>
          <p:cNvSpPr/>
          <p:nvPr/>
        </p:nvSpPr>
        <p:spPr>
          <a:xfrm>
            <a:off x="1024128" y="4315968"/>
            <a:ext cx="3429000" cy="292608"/>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beer · viable · management · variety · organisation · vsm</a:t>
            </a:r>
            <a:endParaRPr lang="en-US" sz="1000" dirty="0"/>
          </a:p>
        </p:txBody>
      </p:sp>
      <p:sp>
        <p:nvSpPr>
          <p:cNvPr id="28" name="Shape 26"/>
          <p:cNvSpPr/>
          <p:nvPr/>
        </p:nvSpPr>
        <p:spPr>
          <a:xfrm>
            <a:off x="4709160" y="1115568"/>
            <a:ext cx="4069080" cy="105156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29" name="Shape 27"/>
          <p:cNvSpPr/>
          <p:nvPr/>
        </p:nvSpPr>
        <p:spPr>
          <a:xfrm>
            <a:off x="4709160" y="1115568"/>
            <a:ext cx="73152" cy="1051560"/>
          </a:xfrm>
          <a:prstGeom prst="rect">
            <a:avLst/>
          </a:prstGeom>
          <a:solidFill>
            <a:srgbClr val="DB2777"/>
          </a:solidFill>
          <a:ln/>
        </p:spPr>
        <p:txBody>
          <a:bodyPr/>
          <a:lstStyle/>
          <a:p>
            <a:endParaRPr lang="en-US"/>
          </a:p>
        </p:txBody>
      </p:sp>
      <p:sp>
        <p:nvSpPr>
          <p:cNvPr id="30" name="Shape 28"/>
          <p:cNvSpPr/>
          <p:nvPr/>
        </p:nvSpPr>
        <p:spPr>
          <a:xfrm>
            <a:off x="4846320" y="1207008"/>
            <a:ext cx="347472" cy="246888"/>
          </a:xfrm>
          <a:prstGeom prst="rect">
            <a:avLst/>
          </a:prstGeom>
          <a:solidFill>
            <a:srgbClr val="DB2777"/>
          </a:solidFill>
          <a:ln/>
        </p:spPr>
        <p:txBody>
          <a:bodyPr/>
          <a:lstStyle/>
          <a:p>
            <a:endParaRPr lang="en-US"/>
          </a:p>
        </p:txBody>
      </p:sp>
      <p:sp>
        <p:nvSpPr>
          <p:cNvPr id="31" name="Text 29"/>
          <p:cNvSpPr/>
          <p:nvPr/>
        </p:nvSpPr>
        <p:spPr>
          <a:xfrm>
            <a:off x="4846320" y="1207008"/>
            <a:ext cx="347472" cy="246888"/>
          </a:xfrm>
          <a:prstGeom prst="rect">
            <a:avLst/>
          </a:prstGeom>
          <a:noFill/>
          <a:ln/>
        </p:spPr>
        <p:txBody>
          <a:bodyPr wrap="square" lIns="0" tIns="0" rIns="0" bIns="0" rtlCol="0" anchor="ctr"/>
          <a:lstStyle/>
          <a:p>
            <a:pPr marL="0" indent="0" algn="ctr">
              <a:buNone/>
            </a:pPr>
            <a:r>
              <a:rPr lang="en-US" sz="1000" b="1" dirty="0">
                <a:solidFill>
                  <a:srgbClr val="FFFFFF"/>
                </a:solidFill>
              </a:rPr>
              <a:t>T5</a:t>
            </a:r>
            <a:endParaRPr lang="en-US" sz="1000" dirty="0"/>
          </a:p>
        </p:txBody>
      </p:sp>
      <p:sp>
        <p:nvSpPr>
          <p:cNvPr id="32" name="Text 30"/>
          <p:cNvSpPr/>
          <p:nvPr/>
        </p:nvSpPr>
        <p:spPr>
          <a:xfrm>
            <a:off x="5276088" y="1170432"/>
            <a:ext cx="3429000" cy="347472"/>
          </a:xfrm>
          <a:prstGeom prst="rect">
            <a:avLst/>
          </a:prstGeom>
          <a:noFill/>
          <a:ln/>
        </p:spPr>
        <p:txBody>
          <a:bodyPr wrap="square" rtlCol="0" anchor="ctr"/>
          <a:lstStyle/>
          <a:p>
            <a:pPr marL="0" indent="0">
              <a:buNone/>
            </a:pPr>
            <a:r>
              <a:rPr lang="en-US" sz="1250" b="1" dirty="0">
                <a:solidFill>
                  <a:srgbClr val="1B2E4B"/>
                </a:solidFill>
                <a:latin typeface="Calibri" pitchFamily="34" charset="0"/>
                <a:ea typeface="Calibri" pitchFamily="34" charset="-122"/>
                <a:cs typeface="Calibri" pitchFamily="34" charset="-120"/>
              </a:rPr>
              <a:t>Biological Systems Cybernetics</a:t>
            </a:r>
            <a:endParaRPr lang="en-US" sz="1250" dirty="0"/>
          </a:p>
        </p:txBody>
      </p:sp>
      <p:sp>
        <p:nvSpPr>
          <p:cNvPr id="33" name="Text 31"/>
          <p:cNvSpPr/>
          <p:nvPr/>
        </p:nvSpPr>
        <p:spPr>
          <a:xfrm>
            <a:off x="5276088" y="1572768"/>
            <a:ext cx="3429000" cy="292608"/>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homeostasis · nervous · biological · body · energy · system</a:t>
            </a:r>
            <a:endParaRPr lang="en-US" sz="1000" dirty="0"/>
          </a:p>
        </p:txBody>
      </p:sp>
      <p:sp>
        <p:nvSpPr>
          <p:cNvPr id="34" name="Shape 32"/>
          <p:cNvSpPr/>
          <p:nvPr/>
        </p:nvSpPr>
        <p:spPr>
          <a:xfrm>
            <a:off x="4709160" y="2331720"/>
            <a:ext cx="4069080" cy="105156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35" name="Shape 33"/>
          <p:cNvSpPr/>
          <p:nvPr/>
        </p:nvSpPr>
        <p:spPr>
          <a:xfrm>
            <a:off x="4709160" y="2331720"/>
            <a:ext cx="73152" cy="1051560"/>
          </a:xfrm>
          <a:prstGeom prst="rect">
            <a:avLst/>
          </a:prstGeom>
          <a:solidFill>
            <a:srgbClr val="EA580C"/>
          </a:solidFill>
          <a:ln/>
        </p:spPr>
        <p:txBody>
          <a:bodyPr/>
          <a:lstStyle/>
          <a:p>
            <a:endParaRPr lang="en-US"/>
          </a:p>
        </p:txBody>
      </p:sp>
      <p:sp>
        <p:nvSpPr>
          <p:cNvPr id="36" name="Shape 34"/>
          <p:cNvSpPr/>
          <p:nvPr/>
        </p:nvSpPr>
        <p:spPr>
          <a:xfrm>
            <a:off x="4846320" y="2423160"/>
            <a:ext cx="347472" cy="246888"/>
          </a:xfrm>
          <a:prstGeom prst="rect">
            <a:avLst/>
          </a:prstGeom>
          <a:solidFill>
            <a:srgbClr val="EA580C"/>
          </a:solidFill>
          <a:ln/>
        </p:spPr>
        <p:txBody>
          <a:bodyPr/>
          <a:lstStyle/>
          <a:p>
            <a:endParaRPr lang="en-US"/>
          </a:p>
        </p:txBody>
      </p:sp>
      <p:sp>
        <p:nvSpPr>
          <p:cNvPr id="37" name="Text 35"/>
          <p:cNvSpPr/>
          <p:nvPr/>
        </p:nvSpPr>
        <p:spPr>
          <a:xfrm>
            <a:off x="4846320" y="2423160"/>
            <a:ext cx="347472" cy="246888"/>
          </a:xfrm>
          <a:prstGeom prst="rect">
            <a:avLst/>
          </a:prstGeom>
          <a:noFill/>
          <a:ln/>
        </p:spPr>
        <p:txBody>
          <a:bodyPr wrap="square" lIns="0" tIns="0" rIns="0" bIns="0" rtlCol="0" anchor="ctr"/>
          <a:lstStyle/>
          <a:p>
            <a:pPr marL="0" indent="0" algn="ctr">
              <a:buNone/>
            </a:pPr>
            <a:r>
              <a:rPr lang="en-US" sz="1000" b="1" dirty="0">
                <a:solidFill>
                  <a:srgbClr val="FFFFFF"/>
                </a:solidFill>
              </a:rPr>
              <a:t>T6</a:t>
            </a:r>
            <a:endParaRPr lang="en-US" sz="1000" dirty="0"/>
          </a:p>
        </p:txBody>
      </p:sp>
      <p:sp>
        <p:nvSpPr>
          <p:cNvPr id="38" name="Text 36"/>
          <p:cNvSpPr/>
          <p:nvPr/>
        </p:nvSpPr>
        <p:spPr>
          <a:xfrm>
            <a:off x="5276088" y="2386584"/>
            <a:ext cx="3429000" cy="347472"/>
          </a:xfrm>
          <a:prstGeom prst="rect">
            <a:avLst/>
          </a:prstGeom>
          <a:noFill/>
          <a:ln/>
        </p:spPr>
        <p:txBody>
          <a:bodyPr wrap="square" rtlCol="0" anchor="ctr"/>
          <a:lstStyle/>
          <a:p>
            <a:pPr marL="0" indent="0">
              <a:buNone/>
            </a:pPr>
            <a:r>
              <a:rPr lang="en-US" sz="1250" b="1" dirty="0">
                <a:solidFill>
                  <a:srgbClr val="1B2E4B"/>
                </a:solidFill>
                <a:latin typeface="Calibri" pitchFamily="34" charset="0"/>
                <a:ea typeface="Calibri" pitchFamily="34" charset="-122"/>
                <a:cs typeface="Calibri" pitchFamily="34" charset="-120"/>
              </a:rPr>
              <a:t>Cybernetics of Psychology</a:t>
            </a:r>
            <a:endParaRPr lang="en-US" sz="1250" dirty="0"/>
          </a:p>
        </p:txBody>
      </p:sp>
      <p:sp>
        <p:nvSpPr>
          <p:cNvPr id="39" name="Text 37"/>
          <p:cNvSpPr/>
          <p:nvPr/>
        </p:nvSpPr>
        <p:spPr>
          <a:xfrm>
            <a:off x="5276088" y="2788920"/>
            <a:ext cx="3429000" cy="292608"/>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automata · computation · algorithm · mathematical · formal</a:t>
            </a:r>
            <a:endParaRPr lang="en-US" sz="1000" dirty="0"/>
          </a:p>
        </p:txBody>
      </p:sp>
      <p:sp>
        <p:nvSpPr>
          <p:cNvPr id="40" name="Shape 38"/>
          <p:cNvSpPr/>
          <p:nvPr/>
        </p:nvSpPr>
        <p:spPr>
          <a:xfrm>
            <a:off x="4709160" y="3547872"/>
            <a:ext cx="4069080" cy="105156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41" name="Shape 39"/>
          <p:cNvSpPr/>
          <p:nvPr/>
        </p:nvSpPr>
        <p:spPr>
          <a:xfrm>
            <a:off x="4709160" y="3547872"/>
            <a:ext cx="73152" cy="1051560"/>
          </a:xfrm>
          <a:prstGeom prst="rect">
            <a:avLst/>
          </a:prstGeom>
          <a:solidFill>
            <a:srgbClr val="16A34A"/>
          </a:solidFill>
          <a:ln/>
        </p:spPr>
        <p:txBody>
          <a:bodyPr/>
          <a:lstStyle/>
          <a:p>
            <a:endParaRPr lang="en-US"/>
          </a:p>
        </p:txBody>
      </p:sp>
      <p:sp>
        <p:nvSpPr>
          <p:cNvPr id="42" name="Shape 40"/>
          <p:cNvSpPr/>
          <p:nvPr/>
        </p:nvSpPr>
        <p:spPr>
          <a:xfrm>
            <a:off x="4846320" y="3639312"/>
            <a:ext cx="347472" cy="246888"/>
          </a:xfrm>
          <a:prstGeom prst="rect">
            <a:avLst/>
          </a:prstGeom>
          <a:solidFill>
            <a:srgbClr val="16A34A"/>
          </a:solidFill>
          <a:ln/>
        </p:spPr>
        <p:txBody>
          <a:bodyPr/>
          <a:lstStyle/>
          <a:p>
            <a:endParaRPr lang="en-US"/>
          </a:p>
        </p:txBody>
      </p:sp>
      <p:sp>
        <p:nvSpPr>
          <p:cNvPr id="43" name="Text 41"/>
          <p:cNvSpPr/>
          <p:nvPr/>
        </p:nvSpPr>
        <p:spPr>
          <a:xfrm>
            <a:off x="4846320" y="3639312"/>
            <a:ext cx="347472" cy="246888"/>
          </a:xfrm>
          <a:prstGeom prst="rect">
            <a:avLst/>
          </a:prstGeom>
          <a:noFill/>
          <a:ln/>
        </p:spPr>
        <p:txBody>
          <a:bodyPr wrap="square" lIns="0" tIns="0" rIns="0" bIns="0" rtlCol="0" anchor="ctr"/>
          <a:lstStyle/>
          <a:p>
            <a:pPr marL="0" indent="0" algn="ctr">
              <a:buNone/>
            </a:pPr>
            <a:r>
              <a:rPr lang="en-US" sz="1000" b="1" dirty="0">
                <a:solidFill>
                  <a:srgbClr val="FFFFFF"/>
                </a:solidFill>
              </a:rPr>
              <a:t>T7</a:t>
            </a:r>
            <a:endParaRPr lang="en-US" sz="1000" dirty="0"/>
          </a:p>
        </p:txBody>
      </p:sp>
      <p:sp>
        <p:nvSpPr>
          <p:cNvPr id="44" name="Text 42"/>
          <p:cNvSpPr/>
          <p:nvPr/>
        </p:nvSpPr>
        <p:spPr>
          <a:xfrm>
            <a:off x="5276088" y="3602736"/>
            <a:ext cx="3429000" cy="347472"/>
          </a:xfrm>
          <a:prstGeom prst="rect">
            <a:avLst/>
          </a:prstGeom>
          <a:noFill/>
          <a:ln/>
        </p:spPr>
        <p:txBody>
          <a:bodyPr wrap="square" rtlCol="0" anchor="ctr"/>
          <a:lstStyle/>
          <a:p>
            <a:pPr marL="0" indent="0">
              <a:buNone/>
            </a:pPr>
            <a:r>
              <a:rPr lang="en-US" sz="1250" b="1" dirty="0">
                <a:solidFill>
                  <a:srgbClr val="1B2E4B"/>
                </a:solidFill>
                <a:latin typeface="Calibri" pitchFamily="34" charset="0"/>
                <a:ea typeface="Calibri" pitchFamily="34" charset="-122"/>
                <a:cs typeface="Calibri" pitchFamily="34" charset="-120"/>
              </a:rPr>
              <a:t>Extensions of Cybernetics</a:t>
            </a:r>
            <a:endParaRPr lang="en-US" sz="1250" dirty="0"/>
          </a:p>
        </p:txBody>
      </p:sp>
      <p:sp>
        <p:nvSpPr>
          <p:cNvPr id="45" name="Text 43"/>
          <p:cNvSpPr/>
          <p:nvPr/>
        </p:nvSpPr>
        <p:spPr>
          <a:xfrm>
            <a:off x="5276088" y="4005072"/>
            <a:ext cx="3429000" cy="292608"/>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brier · hui · actor · semiotic · post · techno · network</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1B2E4B"/>
                </a:solidFill>
                <a:latin typeface="Georgia" pitchFamily="34" charset="0"/>
                <a:ea typeface="Georgia" pitchFamily="34" charset="-122"/>
                <a:cs typeface="Georgia" pitchFamily="34" charset="-120"/>
              </a:rPr>
              <a:t>How the Field Has Evolved: 1954–2025</a:t>
            </a:r>
            <a:endParaRPr lang="en-US" sz="2800" dirty="0"/>
          </a:p>
        </p:txBody>
      </p:sp>
      <p:sp>
        <p:nvSpPr>
          <p:cNvPr id="3" name="Shape 1"/>
          <p:cNvSpPr/>
          <p:nvPr/>
        </p:nvSpPr>
        <p:spPr>
          <a:xfrm>
            <a:off x="457200" y="960120"/>
            <a:ext cx="4069080" cy="173736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4" name="Shape 2"/>
          <p:cNvSpPr/>
          <p:nvPr/>
        </p:nvSpPr>
        <p:spPr>
          <a:xfrm>
            <a:off x="457200" y="960120"/>
            <a:ext cx="4069080" cy="438912"/>
          </a:xfrm>
          <a:prstGeom prst="rect">
            <a:avLst/>
          </a:prstGeom>
          <a:solidFill>
            <a:srgbClr val="0D9488"/>
          </a:solidFill>
          <a:ln/>
        </p:spPr>
        <p:txBody>
          <a:bodyPr/>
          <a:lstStyle/>
          <a:p>
            <a:endParaRPr lang="en-US"/>
          </a:p>
        </p:txBody>
      </p:sp>
      <p:sp>
        <p:nvSpPr>
          <p:cNvPr id="5" name="Text 3"/>
          <p:cNvSpPr/>
          <p:nvPr/>
        </p:nvSpPr>
        <p:spPr>
          <a:xfrm>
            <a:off x="548640" y="960120"/>
            <a:ext cx="3886200" cy="43891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Foundational Era</a:t>
            </a:r>
            <a:endParaRPr lang="en-US" sz="1200" dirty="0"/>
          </a:p>
          <a:p>
            <a:pPr marL="0" indent="0">
              <a:buNone/>
            </a:pPr>
            <a:r>
              <a:rPr lang="en-US" sz="1200" b="1" dirty="0">
                <a:solidFill>
                  <a:srgbClr val="FFFFFF"/>
                </a:solidFill>
                <a:latin typeface="Calibri" pitchFamily="34" charset="0"/>
                <a:ea typeface="Calibri" pitchFamily="34" charset="-122"/>
                <a:cs typeface="Calibri" pitchFamily="34" charset="-120"/>
              </a:rPr>
              <a:t>1940s – 1960s</a:t>
            </a:r>
            <a:endParaRPr lang="en-US" sz="1200" dirty="0"/>
          </a:p>
        </p:txBody>
      </p:sp>
      <p:sp>
        <p:nvSpPr>
          <p:cNvPr id="6" name="Text 4"/>
          <p:cNvSpPr/>
          <p:nvPr/>
        </p:nvSpPr>
        <p:spPr>
          <a:xfrm>
            <a:off x="548640" y="1435608"/>
            <a:ext cx="3886200" cy="96012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Control theory, cybernetics, information theory born simultaneously. Wiener, Ashby, Shannon, Beer. The Macy Conferences unite biologists, engineers, and mathematicians.</a:t>
            </a:r>
            <a:endParaRPr lang="en-US" sz="1050" dirty="0"/>
          </a:p>
        </p:txBody>
      </p:sp>
      <p:sp>
        <p:nvSpPr>
          <p:cNvPr id="7" name="Text 5"/>
          <p:cNvSpPr/>
          <p:nvPr/>
        </p:nvSpPr>
        <p:spPr>
          <a:xfrm>
            <a:off x="548640" y="2414016"/>
            <a:ext cx="3886200" cy="256032"/>
          </a:xfrm>
          <a:prstGeom prst="rect">
            <a:avLst/>
          </a:prstGeom>
          <a:noFill/>
          <a:ln/>
        </p:spPr>
        <p:txBody>
          <a:bodyPr wrap="square" rtlCol="0" anchor="ctr"/>
          <a:lstStyle/>
          <a:p>
            <a:pPr marL="0" indent="0">
              <a:buNone/>
            </a:pPr>
            <a:r>
              <a:rPr lang="en-US" sz="1000" b="1" i="1" dirty="0">
                <a:solidFill>
                  <a:srgbClr val="0D9488"/>
                </a:solidFill>
                <a:latin typeface="Calibri" pitchFamily="34" charset="0"/>
                <a:ea typeface="Calibri" pitchFamily="34" charset="-122"/>
                <a:cs typeface="Calibri" pitchFamily="34" charset="-120"/>
              </a:rPr>
              <a:t>Dominant: T6 Formal Foundations · T4 Cybernetic Management</a:t>
            </a:r>
            <a:endParaRPr lang="en-US" sz="1000" dirty="0"/>
          </a:p>
        </p:txBody>
      </p:sp>
      <p:sp>
        <p:nvSpPr>
          <p:cNvPr id="8" name="Shape 6"/>
          <p:cNvSpPr/>
          <p:nvPr/>
        </p:nvSpPr>
        <p:spPr>
          <a:xfrm>
            <a:off x="4709160" y="960120"/>
            <a:ext cx="4069080" cy="173736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9" name="Shape 7"/>
          <p:cNvSpPr/>
          <p:nvPr/>
        </p:nvSpPr>
        <p:spPr>
          <a:xfrm>
            <a:off x="4709160" y="960120"/>
            <a:ext cx="4069080" cy="438912"/>
          </a:xfrm>
          <a:prstGeom prst="rect">
            <a:avLst/>
          </a:prstGeom>
          <a:solidFill>
            <a:srgbClr val="1D4ED8"/>
          </a:solidFill>
          <a:ln/>
        </p:spPr>
        <p:txBody>
          <a:bodyPr/>
          <a:lstStyle/>
          <a:p>
            <a:endParaRPr lang="en-US"/>
          </a:p>
        </p:txBody>
      </p:sp>
      <p:sp>
        <p:nvSpPr>
          <p:cNvPr id="10" name="Text 8"/>
          <p:cNvSpPr/>
          <p:nvPr/>
        </p:nvSpPr>
        <p:spPr>
          <a:xfrm>
            <a:off x="4800600" y="960120"/>
            <a:ext cx="3886200" cy="43891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Second-Order Wave</a:t>
            </a:r>
            <a:endParaRPr lang="en-US" sz="1200" dirty="0"/>
          </a:p>
          <a:p>
            <a:pPr marL="0" indent="0">
              <a:buNone/>
            </a:pPr>
            <a:r>
              <a:rPr lang="en-US" sz="1200" b="1" dirty="0">
                <a:solidFill>
                  <a:srgbClr val="FFFFFF"/>
                </a:solidFill>
                <a:latin typeface="Calibri" pitchFamily="34" charset="0"/>
                <a:ea typeface="Calibri" pitchFamily="34" charset="-122"/>
                <a:cs typeface="Calibri" pitchFamily="34" charset="-120"/>
              </a:rPr>
              <a:t>1960s – 1970s</a:t>
            </a:r>
            <a:endParaRPr lang="en-US" sz="1200" dirty="0"/>
          </a:p>
        </p:txBody>
      </p:sp>
      <p:sp>
        <p:nvSpPr>
          <p:cNvPr id="11" name="Text 9"/>
          <p:cNvSpPr/>
          <p:nvPr/>
        </p:nvSpPr>
        <p:spPr>
          <a:xfrm>
            <a:off x="4800600" y="1435608"/>
            <a:ext cx="3886200" cy="96012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von Foerster, Maturana &amp; Varela (autopoiesis), Bateson. Cybernetics turns on itself — the observer enters the system. Biology and philosophy intersect.</a:t>
            </a:r>
            <a:endParaRPr lang="en-US" sz="1050" dirty="0"/>
          </a:p>
        </p:txBody>
      </p:sp>
      <p:sp>
        <p:nvSpPr>
          <p:cNvPr id="12" name="Text 10"/>
          <p:cNvSpPr/>
          <p:nvPr/>
        </p:nvSpPr>
        <p:spPr>
          <a:xfrm>
            <a:off x="4800600" y="2414016"/>
            <a:ext cx="3886200" cy="256032"/>
          </a:xfrm>
          <a:prstGeom prst="rect">
            <a:avLst/>
          </a:prstGeom>
          <a:noFill/>
          <a:ln/>
        </p:spPr>
        <p:txBody>
          <a:bodyPr wrap="square" rtlCol="0" anchor="ctr"/>
          <a:lstStyle/>
          <a:p>
            <a:pPr marL="0" indent="0">
              <a:buNone/>
            </a:pPr>
            <a:r>
              <a:rPr lang="en-US" sz="1000" b="1" i="1" dirty="0">
                <a:solidFill>
                  <a:srgbClr val="1D4ED8"/>
                </a:solidFill>
                <a:latin typeface="Calibri" pitchFamily="34" charset="0"/>
                <a:ea typeface="Calibri" pitchFamily="34" charset="-122"/>
                <a:cs typeface="Calibri" pitchFamily="34" charset="-120"/>
              </a:rPr>
              <a:t>Dominant: T2 Cybernetics of Psychology · T5 Biological Systems</a:t>
            </a:r>
            <a:endParaRPr lang="en-US" sz="1000" dirty="0"/>
          </a:p>
        </p:txBody>
      </p:sp>
      <p:sp>
        <p:nvSpPr>
          <p:cNvPr id="13" name="Shape 11"/>
          <p:cNvSpPr/>
          <p:nvPr/>
        </p:nvSpPr>
        <p:spPr>
          <a:xfrm>
            <a:off x="457200" y="2880360"/>
            <a:ext cx="4069080" cy="173736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4" name="Shape 12"/>
          <p:cNvSpPr/>
          <p:nvPr/>
        </p:nvSpPr>
        <p:spPr>
          <a:xfrm>
            <a:off x="457200" y="2880360"/>
            <a:ext cx="4069080" cy="438912"/>
          </a:xfrm>
          <a:prstGeom prst="rect">
            <a:avLst/>
          </a:prstGeom>
          <a:solidFill>
            <a:srgbClr val="7C3AED"/>
          </a:solidFill>
          <a:ln/>
        </p:spPr>
        <p:txBody>
          <a:bodyPr/>
          <a:lstStyle/>
          <a:p>
            <a:endParaRPr lang="en-US"/>
          </a:p>
        </p:txBody>
      </p:sp>
      <p:sp>
        <p:nvSpPr>
          <p:cNvPr id="15" name="Text 13"/>
          <p:cNvSpPr/>
          <p:nvPr/>
        </p:nvSpPr>
        <p:spPr>
          <a:xfrm>
            <a:off x="548640" y="2880360"/>
            <a:ext cx="3886200" cy="43891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Fragmentation &amp; Specialisation</a:t>
            </a:r>
            <a:endParaRPr lang="en-US" sz="1200" dirty="0"/>
          </a:p>
          <a:p>
            <a:pPr marL="0" indent="0">
              <a:buNone/>
            </a:pPr>
            <a:r>
              <a:rPr lang="en-US" sz="1200" b="1" dirty="0">
                <a:solidFill>
                  <a:srgbClr val="FFFFFF"/>
                </a:solidFill>
                <a:latin typeface="Calibri" pitchFamily="34" charset="0"/>
                <a:ea typeface="Calibri" pitchFamily="34" charset="-122"/>
                <a:cs typeface="Calibri" pitchFamily="34" charset="-120"/>
              </a:rPr>
              <a:t>1980s – 1990s</a:t>
            </a:r>
            <a:endParaRPr lang="en-US" sz="1200" dirty="0"/>
          </a:p>
        </p:txBody>
      </p:sp>
      <p:sp>
        <p:nvSpPr>
          <p:cNvPr id="16" name="Text 14"/>
          <p:cNvSpPr/>
          <p:nvPr/>
        </p:nvSpPr>
        <p:spPr>
          <a:xfrm>
            <a:off x="548640" y="3355848"/>
            <a:ext cx="3886200" cy="96012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Field splits into management cybernetics, biosemiotics, AI, complexity. VSM (Beer), Luhmann's social systems theory. Smaller but denser publishing.</a:t>
            </a:r>
            <a:endParaRPr lang="en-US" sz="1050" dirty="0"/>
          </a:p>
        </p:txBody>
      </p:sp>
      <p:sp>
        <p:nvSpPr>
          <p:cNvPr id="17" name="Text 15"/>
          <p:cNvSpPr/>
          <p:nvPr/>
        </p:nvSpPr>
        <p:spPr>
          <a:xfrm>
            <a:off x="548640" y="4334256"/>
            <a:ext cx="3886200" cy="256032"/>
          </a:xfrm>
          <a:prstGeom prst="rect">
            <a:avLst/>
          </a:prstGeom>
          <a:noFill/>
          <a:ln/>
        </p:spPr>
        <p:txBody>
          <a:bodyPr wrap="square" rtlCol="0" anchor="ctr"/>
          <a:lstStyle/>
          <a:p>
            <a:pPr marL="0" indent="0">
              <a:buNone/>
            </a:pPr>
            <a:r>
              <a:rPr lang="en-US" sz="1000" b="1" i="1" dirty="0">
                <a:solidFill>
                  <a:srgbClr val="7C3AED"/>
                </a:solidFill>
                <a:latin typeface="Calibri" pitchFamily="34" charset="0"/>
                <a:ea typeface="Calibri" pitchFamily="34" charset="-122"/>
                <a:cs typeface="Calibri" pitchFamily="34" charset="-120"/>
              </a:rPr>
              <a:t>Dominant: T4 Cybernetic Management · T6 Formal Foundations</a:t>
            </a:r>
            <a:endParaRPr lang="en-US" sz="1000" dirty="0"/>
          </a:p>
        </p:txBody>
      </p:sp>
      <p:sp>
        <p:nvSpPr>
          <p:cNvPr id="18" name="Shape 16"/>
          <p:cNvSpPr/>
          <p:nvPr/>
        </p:nvSpPr>
        <p:spPr>
          <a:xfrm>
            <a:off x="4709160" y="2880360"/>
            <a:ext cx="4069080" cy="173736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9" name="Shape 17"/>
          <p:cNvSpPr/>
          <p:nvPr/>
        </p:nvSpPr>
        <p:spPr>
          <a:xfrm>
            <a:off x="4709160" y="2880360"/>
            <a:ext cx="4069080" cy="438912"/>
          </a:xfrm>
          <a:prstGeom prst="rect">
            <a:avLst/>
          </a:prstGeom>
          <a:solidFill>
            <a:srgbClr val="DB2777"/>
          </a:solidFill>
          <a:ln/>
        </p:spPr>
        <p:txBody>
          <a:bodyPr/>
          <a:lstStyle/>
          <a:p>
            <a:endParaRPr lang="en-US"/>
          </a:p>
        </p:txBody>
      </p:sp>
      <p:sp>
        <p:nvSpPr>
          <p:cNvPr id="20" name="Text 18"/>
          <p:cNvSpPr/>
          <p:nvPr/>
        </p:nvSpPr>
        <p:spPr>
          <a:xfrm>
            <a:off x="4800600" y="2880360"/>
            <a:ext cx="3886200" cy="43891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Expansion &amp; Revival</a:t>
            </a:r>
            <a:endParaRPr lang="en-US" sz="1200" dirty="0"/>
          </a:p>
          <a:p>
            <a:pPr marL="0" indent="0">
              <a:buNone/>
            </a:pPr>
            <a:r>
              <a:rPr lang="en-US" sz="1200" b="1" dirty="0">
                <a:solidFill>
                  <a:srgbClr val="FFFFFF"/>
                </a:solidFill>
                <a:latin typeface="Calibri" pitchFamily="34" charset="0"/>
                <a:ea typeface="Calibri" pitchFamily="34" charset="-122"/>
                <a:cs typeface="Calibri" pitchFamily="34" charset="-120"/>
              </a:rPr>
              <a:t>2000s – 2025</a:t>
            </a:r>
            <a:endParaRPr lang="en-US" sz="1200" dirty="0"/>
          </a:p>
        </p:txBody>
      </p:sp>
      <p:sp>
        <p:nvSpPr>
          <p:cNvPr id="21" name="Text 19"/>
          <p:cNvSpPr/>
          <p:nvPr/>
        </p:nvSpPr>
        <p:spPr>
          <a:xfrm>
            <a:off x="4800600" y="3355848"/>
            <a:ext cx="3886200" cy="96012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Complexity science, enactivism, digital humanities, ANU School of Cybernetics. Largest publication volume. New voices, interdisciplinary reach.</a:t>
            </a:r>
            <a:endParaRPr lang="en-US" sz="1050" dirty="0"/>
          </a:p>
        </p:txBody>
      </p:sp>
      <p:sp>
        <p:nvSpPr>
          <p:cNvPr id="22" name="Text 20"/>
          <p:cNvSpPr/>
          <p:nvPr/>
        </p:nvSpPr>
        <p:spPr>
          <a:xfrm>
            <a:off x="4800600" y="4334256"/>
            <a:ext cx="3886200" cy="256032"/>
          </a:xfrm>
          <a:prstGeom prst="rect">
            <a:avLst/>
          </a:prstGeom>
          <a:noFill/>
          <a:ln/>
        </p:spPr>
        <p:txBody>
          <a:bodyPr wrap="square" rtlCol="0" anchor="ctr"/>
          <a:lstStyle/>
          <a:p>
            <a:pPr marL="0" indent="0">
              <a:buNone/>
            </a:pPr>
            <a:r>
              <a:rPr lang="en-US" sz="1000" b="1" i="1" dirty="0">
                <a:solidFill>
                  <a:srgbClr val="DB2777"/>
                </a:solidFill>
                <a:latin typeface="Calibri" pitchFamily="34" charset="0"/>
                <a:ea typeface="Calibri" pitchFamily="34" charset="-122"/>
                <a:cs typeface="Calibri" pitchFamily="34" charset="-120"/>
              </a:rPr>
              <a:t>Dominant: T8 Cybernetics of Posthumanism · T9 Cultural Applications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1B2E4B"/>
                </a:solidFill>
                <a:latin typeface="Georgia" pitchFamily="34" charset="0"/>
                <a:ea typeface="Georgia" pitchFamily="34" charset="-122"/>
                <a:cs typeface="Georgia" pitchFamily="34" charset="-120"/>
              </a:rPr>
              <a:t>Concept Velocity: How Terms Migrate</a:t>
            </a:r>
            <a:endParaRPr lang="en-US" sz="2800" dirty="0"/>
          </a:p>
        </p:txBody>
      </p:sp>
      <p:sp>
        <p:nvSpPr>
          <p:cNvPr id="3" name="Shape 1"/>
          <p:cNvSpPr/>
          <p:nvPr/>
        </p:nvSpPr>
        <p:spPr>
          <a:xfrm>
            <a:off x="457200" y="960120"/>
            <a:ext cx="8229600" cy="118872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4" name="Shape 2"/>
          <p:cNvSpPr/>
          <p:nvPr/>
        </p:nvSpPr>
        <p:spPr>
          <a:xfrm>
            <a:off x="457200" y="960120"/>
            <a:ext cx="73152" cy="1188720"/>
          </a:xfrm>
          <a:prstGeom prst="rect">
            <a:avLst/>
          </a:prstGeom>
          <a:solidFill>
            <a:srgbClr val="0D9488"/>
          </a:solidFill>
          <a:ln/>
        </p:spPr>
        <p:txBody>
          <a:bodyPr/>
          <a:lstStyle/>
          <a:p>
            <a:endParaRPr lang="en-US"/>
          </a:p>
        </p:txBody>
      </p:sp>
      <p:sp>
        <p:nvSpPr>
          <p:cNvPr id="5" name="Shape 3"/>
          <p:cNvSpPr/>
          <p:nvPr/>
        </p:nvSpPr>
        <p:spPr>
          <a:xfrm>
            <a:off x="594360" y="1033272"/>
            <a:ext cx="1143000" cy="292608"/>
          </a:xfrm>
          <a:prstGeom prst="rect">
            <a:avLst/>
          </a:prstGeom>
          <a:solidFill>
            <a:srgbClr val="0D9488"/>
          </a:solidFill>
          <a:ln/>
        </p:spPr>
        <p:txBody>
          <a:bodyPr/>
          <a:lstStyle/>
          <a:p>
            <a:endParaRPr lang="en-US"/>
          </a:p>
        </p:txBody>
      </p:sp>
      <p:sp>
        <p:nvSpPr>
          <p:cNvPr id="6" name="Text 4"/>
          <p:cNvSpPr/>
          <p:nvPr/>
        </p:nvSpPr>
        <p:spPr>
          <a:xfrm>
            <a:off x="594360" y="1033272"/>
            <a:ext cx="1143000" cy="292608"/>
          </a:xfrm>
          <a:prstGeom prst="rect">
            <a:avLst/>
          </a:prstGeom>
          <a:noFill/>
          <a:ln/>
        </p:spPr>
        <p:txBody>
          <a:bodyPr wrap="square" lIns="0" tIns="0" rIns="0" bIns="0" rtlCol="0" anchor="ctr"/>
          <a:lstStyle/>
          <a:p>
            <a:pPr marL="0" indent="0" algn="ctr">
              <a:buNone/>
            </a:pPr>
            <a:r>
              <a:rPr lang="en-US" sz="1000" b="1" dirty="0">
                <a:solidFill>
                  <a:srgbClr val="FFFFFF"/>
                </a:solidFill>
              </a:rPr>
              <a:t>Anchor Terms</a:t>
            </a:r>
            <a:endParaRPr lang="en-US" sz="1000" dirty="0"/>
          </a:p>
        </p:txBody>
      </p:sp>
      <p:sp>
        <p:nvSpPr>
          <p:cNvPr id="7" name="Text 5"/>
          <p:cNvSpPr/>
          <p:nvPr/>
        </p:nvSpPr>
        <p:spPr>
          <a:xfrm>
            <a:off x="1874520" y="1024128"/>
            <a:ext cx="6629400" cy="301752"/>
          </a:xfrm>
          <a:prstGeom prst="rect">
            <a:avLst/>
          </a:prstGeom>
          <a:noFill/>
          <a:ln/>
        </p:spPr>
        <p:txBody>
          <a:bodyPr wrap="square" rtlCol="0" anchor="ctr"/>
          <a:lstStyle/>
          <a:p>
            <a:pPr marL="0" indent="0">
              <a:buNone/>
            </a:pPr>
            <a:r>
              <a:rPr lang="en-US" sz="1250" b="1" dirty="0">
                <a:solidFill>
                  <a:srgbClr val="1B2E4B"/>
                </a:solidFill>
                <a:latin typeface="Calibri" pitchFamily="34" charset="0"/>
                <a:ea typeface="Calibri" pitchFamily="34" charset="-122"/>
                <a:cs typeface="Calibri" pitchFamily="34" charset="-120"/>
              </a:rPr>
              <a:t>Stable, pervasive — present across all topics and all decades</a:t>
            </a:r>
            <a:endParaRPr lang="en-US" sz="1250" dirty="0"/>
          </a:p>
        </p:txBody>
      </p:sp>
      <p:sp>
        <p:nvSpPr>
          <p:cNvPr id="8" name="Text 6"/>
          <p:cNvSpPr/>
          <p:nvPr/>
        </p:nvSpPr>
        <p:spPr>
          <a:xfrm>
            <a:off x="594360" y="1389888"/>
            <a:ext cx="7863840" cy="246888"/>
          </a:xfrm>
          <a:prstGeom prst="rect">
            <a:avLst/>
          </a:prstGeom>
          <a:noFill/>
          <a:ln/>
        </p:spPr>
        <p:txBody>
          <a:bodyPr wrap="square" rtlCol="0" anchor="ctr"/>
          <a:lstStyle/>
          <a:p>
            <a:pPr marL="0" indent="0">
              <a:buNone/>
            </a:pPr>
            <a:r>
              <a:rPr lang="en-US" sz="1100" i="1" dirty="0">
                <a:solidFill>
                  <a:srgbClr val="0D9488"/>
                </a:solidFill>
                <a:latin typeface="Calibri" pitchFamily="34" charset="0"/>
                <a:ea typeface="Calibri" pitchFamily="34" charset="-122"/>
                <a:cs typeface="Calibri" pitchFamily="34" charset="-120"/>
              </a:rPr>
              <a:t>e.g.  feedback  ·  system  ·  control  ·  information  ·  communication</a:t>
            </a:r>
            <a:endParaRPr lang="en-US" sz="1100" dirty="0"/>
          </a:p>
        </p:txBody>
      </p:sp>
      <p:sp>
        <p:nvSpPr>
          <p:cNvPr id="9" name="Text 7"/>
          <p:cNvSpPr/>
          <p:nvPr/>
        </p:nvSpPr>
        <p:spPr>
          <a:xfrm>
            <a:off x="594360" y="1664208"/>
            <a:ext cx="7863840" cy="402336"/>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High density, low lift — define the field's shared vocabulary but don't discriminate between traditions</a:t>
            </a:r>
            <a:endParaRPr lang="en-US" sz="1100" dirty="0"/>
          </a:p>
        </p:txBody>
      </p:sp>
      <p:sp>
        <p:nvSpPr>
          <p:cNvPr id="10" name="Shape 8"/>
          <p:cNvSpPr/>
          <p:nvPr/>
        </p:nvSpPr>
        <p:spPr>
          <a:xfrm>
            <a:off x="457200" y="2304288"/>
            <a:ext cx="8229600" cy="118872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1" name="Shape 9"/>
          <p:cNvSpPr/>
          <p:nvPr/>
        </p:nvSpPr>
        <p:spPr>
          <a:xfrm>
            <a:off x="457200" y="2304288"/>
            <a:ext cx="73152" cy="1188720"/>
          </a:xfrm>
          <a:prstGeom prst="rect">
            <a:avLst/>
          </a:prstGeom>
          <a:solidFill>
            <a:srgbClr val="7C3AED"/>
          </a:solidFill>
          <a:ln/>
        </p:spPr>
        <p:txBody>
          <a:bodyPr/>
          <a:lstStyle/>
          <a:p>
            <a:endParaRPr lang="en-US"/>
          </a:p>
        </p:txBody>
      </p:sp>
      <p:sp>
        <p:nvSpPr>
          <p:cNvPr id="12" name="Shape 10"/>
          <p:cNvSpPr/>
          <p:nvPr/>
        </p:nvSpPr>
        <p:spPr>
          <a:xfrm>
            <a:off x="594360" y="2377440"/>
            <a:ext cx="1143000" cy="292608"/>
          </a:xfrm>
          <a:prstGeom prst="rect">
            <a:avLst/>
          </a:prstGeom>
          <a:solidFill>
            <a:srgbClr val="7C3AED"/>
          </a:solidFill>
          <a:ln/>
        </p:spPr>
        <p:txBody>
          <a:bodyPr/>
          <a:lstStyle/>
          <a:p>
            <a:endParaRPr lang="en-US"/>
          </a:p>
        </p:txBody>
      </p:sp>
      <p:sp>
        <p:nvSpPr>
          <p:cNvPr id="13" name="Text 11"/>
          <p:cNvSpPr/>
          <p:nvPr/>
        </p:nvSpPr>
        <p:spPr>
          <a:xfrm>
            <a:off x="594360" y="2377440"/>
            <a:ext cx="1143000" cy="292608"/>
          </a:xfrm>
          <a:prstGeom prst="rect">
            <a:avLst/>
          </a:prstGeom>
          <a:noFill/>
          <a:ln/>
        </p:spPr>
        <p:txBody>
          <a:bodyPr wrap="square" lIns="0" tIns="0" rIns="0" bIns="0" rtlCol="0" anchor="ctr"/>
          <a:lstStyle/>
          <a:p>
            <a:pPr marL="0" indent="0" algn="ctr">
              <a:buNone/>
            </a:pPr>
            <a:r>
              <a:rPr lang="en-US" sz="1000" b="1" dirty="0">
                <a:solidFill>
                  <a:srgbClr val="FFFFFF"/>
                </a:solidFill>
              </a:rPr>
              <a:t>Signal Terms</a:t>
            </a:r>
            <a:endParaRPr lang="en-US" sz="1000" dirty="0"/>
          </a:p>
        </p:txBody>
      </p:sp>
      <p:sp>
        <p:nvSpPr>
          <p:cNvPr id="14" name="Text 12"/>
          <p:cNvSpPr/>
          <p:nvPr/>
        </p:nvSpPr>
        <p:spPr>
          <a:xfrm>
            <a:off x="1874520" y="2368296"/>
            <a:ext cx="6629400" cy="301752"/>
          </a:xfrm>
          <a:prstGeom prst="rect">
            <a:avLst/>
          </a:prstGeom>
          <a:noFill/>
          <a:ln/>
        </p:spPr>
        <p:txBody>
          <a:bodyPr wrap="square" rtlCol="0" anchor="ctr"/>
          <a:lstStyle/>
          <a:p>
            <a:pPr marL="0" indent="0">
              <a:buNone/>
            </a:pPr>
            <a:r>
              <a:rPr lang="en-US" sz="1250" b="1" dirty="0">
                <a:solidFill>
                  <a:srgbClr val="1B2E4B"/>
                </a:solidFill>
                <a:latin typeface="Calibri" pitchFamily="34" charset="0"/>
                <a:ea typeface="Calibri" pitchFamily="34" charset="-122"/>
                <a:cs typeface="Calibri" pitchFamily="34" charset="-120"/>
              </a:rPr>
              <a:t>Highly discriminating — strongly associated with one tradition only</a:t>
            </a:r>
            <a:endParaRPr lang="en-US" sz="1250" dirty="0"/>
          </a:p>
        </p:txBody>
      </p:sp>
      <p:sp>
        <p:nvSpPr>
          <p:cNvPr id="15" name="Text 13"/>
          <p:cNvSpPr/>
          <p:nvPr/>
        </p:nvSpPr>
        <p:spPr>
          <a:xfrm>
            <a:off x="594360" y="2734056"/>
            <a:ext cx="7863840" cy="246888"/>
          </a:xfrm>
          <a:prstGeom prst="rect">
            <a:avLst/>
          </a:prstGeom>
          <a:noFill/>
          <a:ln/>
        </p:spPr>
        <p:txBody>
          <a:bodyPr wrap="square" rtlCol="0" anchor="ctr"/>
          <a:lstStyle/>
          <a:p>
            <a:pPr marL="0" indent="0">
              <a:buNone/>
            </a:pPr>
            <a:r>
              <a:rPr lang="en-US" sz="1100" i="1" dirty="0">
                <a:solidFill>
                  <a:srgbClr val="7C3AED"/>
                </a:solidFill>
                <a:latin typeface="Calibri" pitchFamily="34" charset="0"/>
                <a:ea typeface="Calibri" pitchFamily="34" charset="-122"/>
                <a:cs typeface="Calibri" pitchFamily="34" charset="-120"/>
              </a:rPr>
              <a:t>e.g.  autopoiesis  ·  schismogenesis  ·  eigenform  ·  requisite variety</a:t>
            </a:r>
            <a:endParaRPr lang="en-US" sz="1100" dirty="0"/>
          </a:p>
        </p:txBody>
      </p:sp>
      <p:sp>
        <p:nvSpPr>
          <p:cNvPr id="16" name="Text 14"/>
          <p:cNvSpPr/>
          <p:nvPr/>
        </p:nvSpPr>
        <p:spPr>
          <a:xfrm>
            <a:off x="594360" y="3008376"/>
            <a:ext cx="7863840" cy="402336"/>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High lift within one topic — reveal the unique conceptual DNA of each intellectual tradition</a:t>
            </a:r>
            <a:endParaRPr lang="en-US" sz="1100" dirty="0"/>
          </a:p>
        </p:txBody>
      </p:sp>
      <p:sp>
        <p:nvSpPr>
          <p:cNvPr id="17" name="Shape 15"/>
          <p:cNvSpPr/>
          <p:nvPr/>
        </p:nvSpPr>
        <p:spPr>
          <a:xfrm>
            <a:off x="457200" y="3648456"/>
            <a:ext cx="8229600" cy="118872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8" name="Shape 16"/>
          <p:cNvSpPr/>
          <p:nvPr/>
        </p:nvSpPr>
        <p:spPr>
          <a:xfrm>
            <a:off x="457200" y="3648456"/>
            <a:ext cx="73152" cy="1188720"/>
          </a:xfrm>
          <a:prstGeom prst="rect">
            <a:avLst/>
          </a:prstGeom>
          <a:solidFill>
            <a:srgbClr val="EA580C"/>
          </a:solidFill>
          <a:ln/>
        </p:spPr>
        <p:txBody>
          <a:bodyPr/>
          <a:lstStyle/>
          <a:p>
            <a:endParaRPr lang="en-US"/>
          </a:p>
        </p:txBody>
      </p:sp>
      <p:sp>
        <p:nvSpPr>
          <p:cNvPr id="19" name="Shape 17"/>
          <p:cNvSpPr/>
          <p:nvPr/>
        </p:nvSpPr>
        <p:spPr>
          <a:xfrm>
            <a:off x="594360" y="3721608"/>
            <a:ext cx="1143000" cy="292608"/>
          </a:xfrm>
          <a:prstGeom prst="rect">
            <a:avLst/>
          </a:prstGeom>
          <a:solidFill>
            <a:srgbClr val="EA580C"/>
          </a:solidFill>
          <a:ln/>
        </p:spPr>
        <p:txBody>
          <a:bodyPr/>
          <a:lstStyle/>
          <a:p>
            <a:endParaRPr lang="en-US"/>
          </a:p>
        </p:txBody>
      </p:sp>
      <p:sp>
        <p:nvSpPr>
          <p:cNvPr id="20" name="Text 18"/>
          <p:cNvSpPr/>
          <p:nvPr/>
        </p:nvSpPr>
        <p:spPr>
          <a:xfrm>
            <a:off x="594360" y="3721608"/>
            <a:ext cx="1143000" cy="292608"/>
          </a:xfrm>
          <a:prstGeom prst="rect">
            <a:avLst/>
          </a:prstGeom>
          <a:noFill/>
          <a:ln/>
        </p:spPr>
        <p:txBody>
          <a:bodyPr wrap="square" lIns="0" tIns="0" rIns="0" bIns="0" rtlCol="0" anchor="ctr"/>
          <a:lstStyle/>
          <a:p>
            <a:pPr marL="0" indent="0" algn="ctr">
              <a:buNone/>
            </a:pPr>
            <a:r>
              <a:rPr lang="en-US" sz="1000" b="1" dirty="0">
                <a:solidFill>
                  <a:srgbClr val="FFFFFF"/>
                </a:solidFill>
              </a:rPr>
              <a:t>Frontier Terms</a:t>
            </a:r>
            <a:endParaRPr lang="en-US" sz="1000" dirty="0"/>
          </a:p>
        </p:txBody>
      </p:sp>
      <p:sp>
        <p:nvSpPr>
          <p:cNvPr id="21" name="Text 19"/>
          <p:cNvSpPr/>
          <p:nvPr/>
        </p:nvSpPr>
        <p:spPr>
          <a:xfrm>
            <a:off x="1874520" y="3712464"/>
            <a:ext cx="6629400" cy="301752"/>
          </a:xfrm>
          <a:prstGeom prst="rect">
            <a:avLst/>
          </a:prstGeom>
          <a:noFill/>
          <a:ln/>
        </p:spPr>
        <p:txBody>
          <a:bodyPr wrap="square" rtlCol="0" anchor="ctr"/>
          <a:lstStyle/>
          <a:p>
            <a:pPr marL="0" indent="0">
              <a:buNone/>
            </a:pPr>
            <a:r>
              <a:rPr lang="en-US" sz="1250" b="1" dirty="0">
                <a:solidFill>
                  <a:srgbClr val="1B2E4B"/>
                </a:solidFill>
                <a:latin typeface="Calibri" pitchFamily="34" charset="0"/>
                <a:ea typeface="Calibri" pitchFamily="34" charset="-122"/>
                <a:cs typeface="Calibri" pitchFamily="34" charset="-120"/>
              </a:rPr>
              <a:t>Emerging ideas showing movement and migration across topics over time</a:t>
            </a:r>
            <a:endParaRPr lang="en-US" sz="1250" dirty="0"/>
          </a:p>
        </p:txBody>
      </p:sp>
      <p:sp>
        <p:nvSpPr>
          <p:cNvPr id="22" name="Text 20"/>
          <p:cNvSpPr/>
          <p:nvPr/>
        </p:nvSpPr>
        <p:spPr>
          <a:xfrm>
            <a:off x="594360" y="4078224"/>
            <a:ext cx="7863840" cy="246888"/>
          </a:xfrm>
          <a:prstGeom prst="rect">
            <a:avLst/>
          </a:prstGeom>
          <a:noFill/>
          <a:ln/>
        </p:spPr>
        <p:txBody>
          <a:bodyPr wrap="square" rtlCol="0" anchor="ctr"/>
          <a:lstStyle/>
          <a:p>
            <a:pPr marL="0" indent="0">
              <a:buNone/>
            </a:pPr>
            <a:r>
              <a:rPr lang="en-US" sz="1100" i="1" dirty="0">
                <a:solidFill>
                  <a:srgbClr val="EA580C"/>
                </a:solidFill>
                <a:latin typeface="Calibri" pitchFamily="34" charset="0"/>
                <a:ea typeface="Calibri" pitchFamily="34" charset="-122"/>
                <a:cs typeface="Calibri" pitchFamily="34" charset="-120"/>
              </a:rPr>
              <a:t>e.g.  resilience  ·  complexity  ·  emergence  ·  embodiment  ·  enactivism</a:t>
            </a:r>
            <a:endParaRPr lang="en-US" sz="1100" dirty="0"/>
          </a:p>
        </p:txBody>
      </p:sp>
      <p:sp>
        <p:nvSpPr>
          <p:cNvPr id="23" name="Text 21"/>
          <p:cNvSpPr/>
          <p:nvPr/>
        </p:nvSpPr>
        <p:spPr>
          <a:xfrm>
            <a:off x="594360" y="4352544"/>
            <a:ext cx="7863840" cy="402336"/>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Velocity &gt; 0 across decades — track where the field is expanding and evolving next</a:t>
            </a:r>
            <a:endParaRPr lang="en-US" sz="1100" dirty="0"/>
          </a:p>
        </p:txBody>
      </p:sp>
      <p:sp>
        <p:nvSpPr>
          <p:cNvPr id="24" name="Text 22"/>
          <p:cNvSpPr/>
          <p:nvPr/>
        </p:nvSpPr>
        <p:spPr>
          <a:xfrm>
            <a:off x="457200" y="4919472"/>
            <a:ext cx="8229600" cy="201168"/>
          </a:xfrm>
          <a:prstGeom prst="rect">
            <a:avLst/>
          </a:prstGeom>
          <a:noFill/>
          <a:ln/>
        </p:spPr>
        <p:txBody>
          <a:bodyPr wrap="square"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Terms sourced from book back-indexes — human-curated controlled vocabulary unique to print monographs, independent of LDA word lists  ·  Caveat: index compilation changed across the 70-year span — early indexes hand-compiled (selective, semantically rich); later indexes often computer-assisted (denser, less discriminating)  ·  Velocity visualised in Chart 7 (book_nlp_timeseries.html)</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1B2E4B"/>
                </a:solidFill>
                <a:latin typeface="Georgia" pitchFamily="34" charset="0"/>
                <a:ea typeface="Georgia" pitchFamily="34" charset="-122"/>
                <a:cs typeface="Georgia" pitchFamily="34" charset="-120"/>
              </a:rPr>
              <a:t>The Entity Relational Network</a:t>
            </a:r>
            <a:endParaRPr lang="en-US" sz="2800" dirty="0"/>
          </a:p>
        </p:txBody>
      </p:sp>
      <p:sp>
        <p:nvSpPr>
          <p:cNvPr id="3" name="Shape 1"/>
          <p:cNvSpPr/>
          <p:nvPr/>
        </p:nvSpPr>
        <p:spPr>
          <a:xfrm>
            <a:off x="457200" y="914400"/>
            <a:ext cx="1965960" cy="1508760"/>
          </a:xfrm>
          <a:prstGeom prst="rect">
            <a:avLst/>
          </a:prstGeom>
          <a:solidFill>
            <a:srgbClr val="1D4ED8"/>
          </a:solidFill>
          <a:ln/>
          <a:effectLst>
            <a:outerShdw blurRad="101600" dist="25400" dir="8100000" algn="bl" rotWithShape="0">
              <a:srgbClr val="000000">
                <a:alpha val="11000"/>
              </a:srgbClr>
            </a:outerShdw>
          </a:effectLst>
        </p:spPr>
        <p:txBody>
          <a:bodyPr/>
          <a:lstStyle/>
          <a:p>
            <a:endParaRPr lang="en-US"/>
          </a:p>
        </p:txBody>
      </p:sp>
      <p:sp>
        <p:nvSpPr>
          <p:cNvPr id="4" name="Text 2"/>
          <p:cNvSpPr/>
          <p:nvPr/>
        </p:nvSpPr>
        <p:spPr>
          <a:xfrm>
            <a:off x="457200" y="960120"/>
            <a:ext cx="196596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Persons</a:t>
            </a:r>
            <a:endParaRPr lang="en-US" sz="1600" dirty="0"/>
          </a:p>
        </p:txBody>
      </p:sp>
      <p:sp>
        <p:nvSpPr>
          <p:cNvPr id="5" name="Text 3"/>
          <p:cNvSpPr/>
          <p:nvPr/>
        </p:nvSpPr>
        <p:spPr>
          <a:xfrm>
            <a:off x="530352" y="1463040"/>
            <a:ext cx="1819656" cy="822960"/>
          </a:xfrm>
          <a:prstGeom prst="rect">
            <a:avLst/>
          </a:prstGeom>
          <a:noFill/>
          <a:ln/>
        </p:spPr>
        <p:txBody>
          <a:bodyPr wrap="square"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Wiener · Ashby · Bateson · Beer · von Foerster · Maturana</a:t>
            </a:r>
            <a:endParaRPr lang="en-US" sz="950" dirty="0"/>
          </a:p>
        </p:txBody>
      </p:sp>
      <p:sp>
        <p:nvSpPr>
          <p:cNvPr id="6" name="Shape 4"/>
          <p:cNvSpPr/>
          <p:nvPr/>
        </p:nvSpPr>
        <p:spPr>
          <a:xfrm>
            <a:off x="2633472" y="914400"/>
            <a:ext cx="1965960" cy="1508760"/>
          </a:xfrm>
          <a:prstGeom prst="rect">
            <a:avLst/>
          </a:prstGeom>
          <a:solidFill>
            <a:srgbClr val="0D9488"/>
          </a:solidFill>
          <a:ln/>
          <a:effectLst>
            <a:outerShdw blurRad="101600" dist="25400" dir="8100000" algn="bl" rotWithShape="0">
              <a:srgbClr val="000000">
                <a:alpha val="11000"/>
              </a:srgbClr>
            </a:outerShdw>
          </a:effectLst>
        </p:spPr>
        <p:txBody>
          <a:bodyPr/>
          <a:lstStyle/>
          <a:p>
            <a:endParaRPr lang="en-US"/>
          </a:p>
        </p:txBody>
      </p:sp>
      <p:sp>
        <p:nvSpPr>
          <p:cNvPr id="7" name="Text 5"/>
          <p:cNvSpPr/>
          <p:nvPr/>
        </p:nvSpPr>
        <p:spPr>
          <a:xfrm>
            <a:off x="2633472" y="960120"/>
            <a:ext cx="196596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Concepts</a:t>
            </a:r>
            <a:endParaRPr lang="en-US" sz="1600" dirty="0"/>
          </a:p>
        </p:txBody>
      </p:sp>
      <p:sp>
        <p:nvSpPr>
          <p:cNvPr id="8" name="Text 6"/>
          <p:cNvSpPr/>
          <p:nvPr/>
        </p:nvSpPr>
        <p:spPr>
          <a:xfrm>
            <a:off x="2706624" y="1463040"/>
            <a:ext cx="1819656" cy="822960"/>
          </a:xfrm>
          <a:prstGeom prst="rect">
            <a:avLst/>
          </a:prstGeom>
          <a:noFill/>
          <a:ln/>
        </p:spPr>
        <p:txBody>
          <a:bodyPr wrap="square"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feedback · autopoiesis · requisite variety · entropy · homeostasis</a:t>
            </a:r>
            <a:endParaRPr lang="en-US" sz="950" dirty="0"/>
          </a:p>
        </p:txBody>
      </p:sp>
      <p:sp>
        <p:nvSpPr>
          <p:cNvPr id="9" name="Shape 7"/>
          <p:cNvSpPr/>
          <p:nvPr/>
        </p:nvSpPr>
        <p:spPr>
          <a:xfrm>
            <a:off x="4809744" y="914400"/>
            <a:ext cx="1965960" cy="1508760"/>
          </a:xfrm>
          <a:prstGeom prst="rect">
            <a:avLst/>
          </a:prstGeom>
          <a:solidFill>
            <a:srgbClr val="7C3AED"/>
          </a:solidFill>
          <a:ln/>
          <a:effectLst>
            <a:outerShdw blurRad="101600" dist="25400" dir="8100000" algn="bl" rotWithShape="0">
              <a:srgbClr val="000000">
                <a:alpha val="11000"/>
              </a:srgbClr>
            </a:outerShdw>
          </a:effectLst>
        </p:spPr>
        <p:txBody>
          <a:bodyPr/>
          <a:lstStyle/>
          <a:p>
            <a:endParaRPr lang="en-US"/>
          </a:p>
        </p:txBody>
      </p:sp>
      <p:sp>
        <p:nvSpPr>
          <p:cNvPr id="10" name="Text 8"/>
          <p:cNvSpPr/>
          <p:nvPr/>
        </p:nvSpPr>
        <p:spPr>
          <a:xfrm>
            <a:off x="4809744" y="960120"/>
            <a:ext cx="196596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Organisations</a:t>
            </a:r>
            <a:endParaRPr lang="en-US" sz="1600" dirty="0"/>
          </a:p>
        </p:txBody>
      </p:sp>
      <p:sp>
        <p:nvSpPr>
          <p:cNvPr id="11" name="Text 9"/>
          <p:cNvSpPr/>
          <p:nvPr/>
        </p:nvSpPr>
        <p:spPr>
          <a:xfrm>
            <a:off x="4882896" y="1463040"/>
            <a:ext cx="1819656" cy="822960"/>
          </a:xfrm>
          <a:prstGeom prst="rect">
            <a:avLst/>
          </a:prstGeom>
          <a:noFill/>
          <a:ln/>
        </p:spPr>
        <p:txBody>
          <a:bodyPr wrap="square"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MIT · Macy Foundation · Tavistock Institute · Bell Labs</a:t>
            </a:r>
            <a:endParaRPr lang="en-US" sz="950" dirty="0"/>
          </a:p>
        </p:txBody>
      </p:sp>
      <p:sp>
        <p:nvSpPr>
          <p:cNvPr id="12" name="Shape 10"/>
          <p:cNvSpPr/>
          <p:nvPr/>
        </p:nvSpPr>
        <p:spPr>
          <a:xfrm>
            <a:off x="6986016" y="914400"/>
            <a:ext cx="1965960" cy="1508760"/>
          </a:xfrm>
          <a:prstGeom prst="rect">
            <a:avLst/>
          </a:prstGeom>
          <a:solidFill>
            <a:srgbClr val="EA580C"/>
          </a:solidFill>
          <a:ln/>
          <a:effectLst>
            <a:outerShdw blurRad="101600" dist="25400" dir="8100000" algn="bl" rotWithShape="0">
              <a:srgbClr val="000000">
                <a:alpha val="11000"/>
              </a:srgbClr>
            </a:outerShdw>
          </a:effectLst>
        </p:spPr>
        <p:txBody>
          <a:bodyPr/>
          <a:lstStyle/>
          <a:p>
            <a:endParaRPr lang="en-US"/>
          </a:p>
        </p:txBody>
      </p:sp>
      <p:sp>
        <p:nvSpPr>
          <p:cNvPr id="13" name="Text 11"/>
          <p:cNvSpPr/>
          <p:nvPr/>
        </p:nvSpPr>
        <p:spPr>
          <a:xfrm>
            <a:off x="6986016" y="960120"/>
            <a:ext cx="196596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Locations</a:t>
            </a:r>
            <a:endParaRPr lang="en-US" sz="1600" dirty="0"/>
          </a:p>
        </p:txBody>
      </p:sp>
      <p:sp>
        <p:nvSpPr>
          <p:cNvPr id="14" name="Text 12"/>
          <p:cNvSpPr/>
          <p:nvPr/>
        </p:nvSpPr>
        <p:spPr>
          <a:xfrm>
            <a:off x="7059168" y="1463040"/>
            <a:ext cx="1819656" cy="822960"/>
          </a:xfrm>
          <a:prstGeom prst="rect">
            <a:avLst/>
          </a:prstGeom>
          <a:noFill/>
          <a:ln/>
        </p:spPr>
        <p:txBody>
          <a:bodyPr wrap="square"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Cambridge · Princeton · Palo Alto · New York · London</a:t>
            </a:r>
            <a:endParaRPr lang="en-US" sz="950" dirty="0"/>
          </a:p>
        </p:txBody>
      </p:sp>
      <p:sp>
        <p:nvSpPr>
          <p:cNvPr id="15" name="Shape 13"/>
          <p:cNvSpPr/>
          <p:nvPr/>
        </p:nvSpPr>
        <p:spPr>
          <a:xfrm>
            <a:off x="457200" y="2606040"/>
            <a:ext cx="8229600" cy="224028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6" name="Shape 14"/>
          <p:cNvSpPr/>
          <p:nvPr/>
        </p:nvSpPr>
        <p:spPr>
          <a:xfrm>
            <a:off x="457200" y="2606040"/>
            <a:ext cx="8229600" cy="64008"/>
          </a:xfrm>
          <a:prstGeom prst="rect">
            <a:avLst/>
          </a:prstGeom>
          <a:solidFill>
            <a:srgbClr val="0D9488"/>
          </a:solidFill>
          <a:ln/>
        </p:spPr>
        <p:txBody>
          <a:bodyPr/>
          <a:lstStyle/>
          <a:p>
            <a:endParaRPr lang="en-US"/>
          </a:p>
        </p:txBody>
      </p:sp>
      <p:sp>
        <p:nvSpPr>
          <p:cNvPr id="17" name="Shape 15"/>
          <p:cNvSpPr/>
          <p:nvPr/>
        </p:nvSpPr>
        <p:spPr>
          <a:xfrm>
            <a:off x="457200" y="2606040"/>
            <a:ext cx="73152" cy="2240280"/>
          </a:xfrm>
          <a:prstGeom prst="rect">
            <a:avLst/>
          </a:prstGeom>
          <a:solidFill>
            <a:srgbClr val="0D9488"/>
          </a:solidFill>
          <a:ln/>
        </p:spPr>
        <p:txBody>
          <a:bodyPr/>
          <a:lstStyle/>
          <a:p>
            <a:endParaRPr lang="en-US"/>
          </a:p>
        </p:txBody>
      </p:sp>
      <p:sp>
        <p:nvSpPr>
          <p:cNvPr id="18" name="Text 16"/>
          <p:cNvSpPr/>
          <p:nvPr/>
        </p:nvSpPr>
        <p:spPr>
          <a:xfrm>
            <a:off x="640080" y="2688336"/>
            <a:ext cx="7909560" cy="384048"/>
          </a:xfrm>
          <a:prstGeom prst="rect">
            <a:avLst/>
          </a:prstGeom>
          <a:noFill/>
          <a:ln/>
        </p:spPr>
        <p:txBody>
          <a:bodyPr wrap="square" rtlCol="0" anchor="ctr"/>
          <a:lstStyle/>
          <a:p>
            <a:pPr marL="0" indent="0">
              <a:buNone/>
            </a:pPr>
            <a:r>
              <a:rPr lang="en-US" sz="1400" b="1" dirty="0">
                <a:solidFill>
                  <a:srgbClr val="1B2E4B"/>
                </a:solidFill>
                <a:latin typeface="Georgia" pitchFamily="34" charset="0"/>
                <a:ea typeface="Georgia" pitchFamily="34" charset="-122"/>
                <a:cs typeface="Georgia" pitchFamily="34" charset="-120"/>
              </a:rPr>
              <a:t>How Edges &amp; Classification Work</a:t>
            </a:r>
            <a:endParaRPr lang="en-US" sz="1400" dirty="0"/>
          </a:p>
        </p:txBody>
      </p:sp>
      <p:sp>
        <p:nvSpPr>
          <p:cNvPr id="19" name="Text 17"/>
          <p:cNvSpPr/>
          <p:nvPr/>
        </p:nvSpPr>
        <p:spPr>
          <a:xfrm>
            <a:off x="658368" y="3108960"/>
            <a:ext cx="7863840" cy="30175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Edge weight: PMI × reliability — book-level co-occurrence adjusted for entity frequency</a:t>
            </a:r>
            <a:endParaRPr lang="en-US" sz="1100" dirty="0"/>
          </a:p>
        </p:txBody>
      </p:sp>
      <p:sp>
        <p:nvSpPr>
          <p:cNvPr id="20" name="Text 18"/>
          <p:cNvSpPr/>
          <p:nvPr/>
        </p:nvSpPr>
        <p:spPr>
          <a:xfrm>
            <a:off x="658368" y="3438144"/>
            <a:ext cx="7863840" cy="30175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3-stage NER pipeline: heuristics → spaCy en_core_web_sm → Wikidata REST API (2 req/s, cached permanently)</a:t>
            </a:r>
            <a:endParaRPr lang="en-US" sz="1100" dirty="0"/>
          </a:p>
        </p:txBody>
      </p:sp>
      <p:sp>
        <p:nvSpPr>
          <p:cNvPr id="21" name="Text 19"/>
          <p:cNvSpPr/>
          <p:nvPr/>
        </p:nvSpPr>
        <p:spPr>
          <a:xfrm>
            <a:off x="658368" y="3767328"/>
            <a:ext cx="7863840" cy="30175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121 post-audit manual overrides — e.g. 'stelarc' → person, 'digital' → concept, 'whole earth catalog' → suppress</a:t>
            </a:r>
            <a:endParaRPr lang="en-US" sz="1100" dirty="0"/>
          </a:p>
        </p:txBody>
      </p:sp>
      <p:sp>
        <p:nvSpPr>
          <p:cNvPr id="22" name="Text 20"/>
          <p:cNvSpPr/>
          <p:nvPr/>
        </p:nvSpPr>
        <p:spPr>
          <a:xfrm>
            <a:off x="658368" y="4096512"/>
            <a:ext cx="7863840" cy="30175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4 graph layouts selectable in the UI: Force-directed · Radial · Bipartite · Circular</a:t>
            </a:r>
            <a:endParaRPr lang="en-US" sz="1100" dirty="0"/>
          </a:p>
        </p:txBody>
      </p:sp>
      <p:sp>
        <p:nvSpPr>
          <p:cNvPr id="23" name="Text 21"/>
          <p:cNvSpPr/>
          <p:nvPr/>
        </p:nvSpPr>
        <p:spPr>
          <a:xfrm>
            <a:off x="658368" y="4425696"/>
            <a:ext cx="7863840" cy="30175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  Node-kind toggles + degree percentile filter (p75/p90/p95/p99) in the interactive report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E4B"/>
        </a:solidFill>
        <a:effectLst/>
      </p:bgPr>
    </p:bg>
    <p:spTree>
      <p:nvGrpSpPr>
        <p:cNvPr id="1" name=""/>
        <p:cNvGrpSpPr/>
        <p:nvPr/>
      </p:nvGrpSpPr>
      <p:grpSpPr>
        <a:xfrm>
          <a:off x="0" y="0"/>
          <a:ext cx="0" cy="0"/>
          <a:chOff x="0" y="0"/>
          <a:chExt cx="0" cy="0"/>
        </a:xfrm>
      </p:grpSpPr>
      <p:sp>
        <p:nvSpPr>
          <p:cNvPr id="2" name="Shape 0"/>
          <p:cNvSpPr/>
          <p:nvPr/>
        </p:nvSpPr>
        <p:spPr>
          <a:xfrm>
            <a:off x="5669280" y="274320"/>
            <a:ext cx="128016" cy="128016"/>
          </a:xfrm>
          <a:prstGeom prst="ellipse">
            <a:avLst/>
          </a:prstGeom>
          <a:solidFill>
            <a:srgbClr val="0D9488">
              <a:alpha val="45000"/>
            </a:srgbClr>
          </a:solidFill>
          <a:ln/>
        </p:spPr>
        <p:txBody>
          <a:bodyPr/>
          <a:lstStyle/>
          <a:p>
            <a:endParaRPr lang="en-US"/>
          </a:p>
        </p:txBody>
      </p:sp>
      <p:sp>
        <p:nvSpPr>
          <p:cNvPr id="3" name="Shape 1"/>
          <p:cNvSpPr/>
          <p:nvPr/>
        </p:nvSpPr>
        <p:spPr>
          <a:xfrm>
            <a:off x="6172200" y="274320"/>
            <a:ext cx="128016" cy="128016"/>
          </a:xfrm>
          <a:prstGeom prst="ellipse">
            <a:avLst/>
          </a:prstGeom>
          <a:solidFill>
            <a:srgbClr val="0D9488">
              <a:alpha val="45000"/>
            </a:srgbClr>
          </a:solidFill>
          <a:ln/>
        </p:spPr>
        <p:txBody>
          <a:bodyPr/>
          <a:lstStyle/>
          <a:p>
            <a:endParaRPr lang="en-US"/>
          </a:p>
        </p:txBody>
      </p:sp>
      <p:sp>
        <p:nvSpPr>
          <p:cNvPr id="4" name="Shape 2"/>
          <p:cNvSpPr/>
          <p:nvPr/>
        </p:nvSpPr>
        <p:spPr>
          <a:xfrm>
            <a:off x="6675120" y="274320"/>
            <a:ext cx="128016" cy="128016"/>
          </a:xfrm>
          <a:prstGeom prst="ellipse">
            <a:avLst/>
          </a:prstGeom>
          <a:solidFill>
            <a:srgbClr val="0D9488">
              <a:alpha val="45000"/>
            </a:srgbClr>
          </a:solidFill>
          <a:ln/>
        </p:spPr>
        <p:txBody>
          <a:bodyPr/>
          <a:lstStyle/>
          <a:p>
            <a:endParaRPr lang="en-US"/>
          </a:p>
        </p:txBody>
      </p:sp>
      <p:sp>
        <p:nvSpPr>
          <p:cNvPr id="5" name="Shape 3"/>
          <p:cNvSpPr/>
          <p:nvPr/>
        </p:nvSpPr>
        <p:spPr>
          <a:xfrm>
            <a:off x="7178040" y="274320"/>
            <a:ext cx="128016" cy="128016"/>
          </a:xfrm>
          <a:prstGeom prst="ellipse">
            <a:avLst/>
          </a:prstGeom>
          <a:solidFill>
            <a:srgbClr val="0D9488">
              <a:alpha val="45000"/>
            </a:srgbClr>
          </a:solidFill>
          <a:ln/>
        </p:spPr>
        <p:txBody>
          <a:bodyPr/>
          <a:lstStyle/>
          <a:p>
            <a:endParaRPr lang="en-US"/>
          </a:p>
        </p:txBody>
      </p:sp>
      <p:sp>
        <p:nvSpPr>
          <p:cNvPr id="6" name="Shape 4"/>
          <p:cNvSpPr/>
          <p:nvPr/>
        </p:nvSpPr>
        <p:spPr>
          <a:xfrm>
            <a:off x="7680960" y="274320"/>
            <a:ext cx="128016" cy="128016"/>
          </a:xfrm>
          <a:prstGeom prst="ellipse">
            <a:avLst/>
          </a:prstGeom>
          <a:solidFill>
            <a:srgbClr val="0D9488">
              <a:alpha val="45000"/>
            </a:srgbClr>
          </a:solidFill>
          <a:ln/>
        </p:spPr>
        <p:txBody>
          <a:bodyPr/>
          <a:lstStyle/>
          <a:p>
            <a:endParaRPr lang="en-US"/>
          </a:p>
        </p:txBody>
      </p:sp>
      <p:sp>
        <p:nvSpPr>
          <p:cNvPr id="7" name="Shape 5"/>
          <p:cNvSpPr/>
          <p:nvPr/>
        </p:nvSpPr>
        <p:spPr>
          <a:xfrm>
            <a:off x="5669280" y="777240"/>
            <a:ext cx="128016" cy="128016"/>
          </a:xfrm>
          <a:prstGeom prst="ellipse">
            <a:avLst/>
          </a:prstGeom>
          <a:solidFill>
            <a:srgbClr val="0D9488">
              <a:alpha val="45000"/>
            </a:srgbClr>
          </a:solidFill>
          <a:ln/>
        </p:spPr>
        <p:txBody>
          <a:bodyPr/>
          <a:lstStyle/>
          <a:p>
            <a:endParaRPr lang="en-US"/>
          </a:p>
        </p:txBody>
      </p:sp>
      <p:sp>
        <p:nvSpPr>
          <p:cNvPr id="8" name="Shape 6"/>
          <p:cNvSpPr/>
          <p:nvPr/>
        </p:nvSpPr>
        <p:spPr>
          <a:xfrm>
            <a:off x="6172200" y="777240"/>
            <a:ext cx="128016" cy="128016"/>
          </a:xfrm>
          <a:prstGeom prst="ellipse">
            <a:avLst/>
          </a:prstGeom>
          <a:solidFill>
            <a:srgbClr val="0D9488">
              <a:alpha val="45000"/>
            </a:srgbClr>
          </a:solidFill>
          <a:ln/>
        </p:spPr>
        <p:txBody>
          <a:bodyPr/>
          <a:lstStyle/>
          <a:p>
            <a:endParaRPr lang="en-US"/>
          </a:p>
        </p:txBody>
      </p:sp>
      <p:sp>
        <p:nvSpPr>
          <p:cNvPr id="9" name="Shape 7"/>
          <p:cNvSpPr/>
          <p:nvPr/>
        </p:nvSpPr>
        <p:spPr>
          <a:xfrm>
            <a:off x="6675120" y="777240"/>
            <a:ext cx="128016" cy="128016"/>
          </a:xfrm>
          <a:prstGeom prst="ellipse">
            <a:avLst/>
          </a:prstGeom>
          <a:solidFill>
            <a:srgbClr val="0D9488">
              <a:alpha val="45000"/>
            </a:srgbClr>
          </a:solidFill>
          <a:ln/>
        </p:spPr>
        <p:txBody>
          <a:bodyPr/>
          <a:lstStyle/>
          <a:p>
            <a:endParaRPr lang="en-US"/>
          </a:p>
        </p:txBody>
      </p:sp>
      <p:sp>
        <p:nvSpPr>
          <p:cNvPr id="10" name="Shape 8"/>
          <p:cNvSpPr/>
          <p:nvPr/>
        </p:nvSpPr>
        <p:spPr>
          <a:xfrm>
            <a:off x="7178040" y="777240"/>
            <a:ext cx="128016" cy="128016"/>
          </a:xfrm>
          <a:prstGeom prst="ellipse">
            <a:avLst/>
          </a:prstGeom>
          <a:solidFill>
            <a:srgbClr val="0D9488">
              <a:alpha val="45000"/>
            </a:srgbClr>
          </a:solidFill>
          <a:ln/>
        </p:spPr>
        <p:txBody>
          <a:bodyPr/>
          <a:lstStyle/>
          <a:p>
            <a:endParaRPr lang="en-US"/>
          </a:p>
        </p:txBody>
      </p:sp>
      <p:sp>
        <p:nvSpPr>
          <p:cNvPr id="11" name="Shape 9"/>
          <p:cNvSpPr/>
          <p:nvPr/>
        </p:nvSpPr>
        <p:spPr>
          <a:xfrm>
            <a:off x="7680960" y="777240"/>
            <a:ext cx="128016" cy="128016"/>
          </a:xfrm>
          <a:prstGeom prst="ellipse">
            <a:avLst/>
          </a:prstGeom>
          <a:solidFill>
            <a:srgbClr val="0D9488">
              <a:alpha val="45000"/>
            </a:srgbClr>
          </a:solidFill>
          <a:ln/>
        </p:spPr>
        <p:txBody>
          <a:bodyPr/>
          <a:lstStyle/>
          <a:p>
            <a:endParaRPr lang="en-US"/>
          </a:p>
        </p:txBody>
      </p:sp>
      <p:sp>
        <p:nvSpPr>
          <p:cNvPr id="12" name="Shape 10"/>
          <p:cNvSpPr/>
          <p:nvPr/>
        </p:nvSpPr>
        <p:spPr>
          <a:xfrm>
            <a:off x="5669280" y="1280160"/>
            <a:ext cx="128016" cy="128016"/>
          </a:xfrm>
          <a:prstGeom prst="ellipse">
            <a:avLst/>
          </a:prstGeom>
          <a:solidFill>
            <a:srgbClr val="0D9488">
              <a:alpha val="45000"/>
            </a:srgbClr>
          </a:solidFill>
          <a:ln/>
        </p:spPr>
        <p:txBody>
          <a:bodyPr/>
          <a:lstStyle/>
          <a:p>
            <a:endParaRPr lang="en-US"/>
          </a:p>
        </p:txBody>
      </p:sp>
      <p:sp>
        <p:nvSpPr>
          <p:cNvPr id="13" name="Shape 11"/>
          <p:cNvSpPr/>
          <p:nvPr/>
        </p:nvSpPr>
        <p:spPr>
          <a:xfrm>
            <a:off x="6172200" y="1280160"/>
            <a:ext cx="128016" cy="128016"/>
          </a:xfrm>
          <a:prstGeom prst="ellipse">
            <a:avLst/>
          </a:prstGeom>
          <a:solidFill>
            <a:srgbClr val="0D9488">
              <a:alpha val="45000"/>
            </a:srgbClr>
          </a:solidFill>
          <a:ln/>
        </p:spPr>
        <p:txBody>
          <a:bodyPr/>
          <a:lstStyle/>
          <a:p>
            <a:endParaRPr lang="en-US"/>
          </a:p>
        </p:txBody>
      </p:sp>
      <p:sp>
        <p:nvSpPr>
          <p:cNvPr id="14" name="Shape 12"/>
          <p:cNvSpPr/>
          <p:nvPr/>
        </p:nvSpPr>
        <p:spPr>
          <a:xfrm>
            <a:off x="6675120" y="1280160"/>
            <a:ext cx="128016" cy="128016"/>
          </a:xfrm>
          <a:prstGeom prst="ellipse">
            <a:avLst/>
          </a:prstGeom>
          <a:solidFill>
            <a:srgbClr val="0D9488">
              <a:alpha val="45000"/>
            </a:srgbClr>
          </a:solidFill>
          <a:ln/>
        </p:spPr>
        <p:txBody>
          <a:bodyPr/>
          <a:lstStyle/>
          <a:p>
            <a:endParaRPr lang="en-US"/>
          </a:p>
        </p:txBody>
      </p:sp>
      <p:sp>
        <p:nvSpPr>
          <p:cNvPr id="15" name="Shape 13"/>
          <p:cNvSpPr/>
          <p:nvPr/>
        </p:nvSpPr>
        <p:spPr>
          <a:xfrm>
            <a:off x="7178040" y="1280160"/>
            <a:ext cx="128016" cy="128016"/>
          </a:xfrm>
          <a:prstGeom prst="ellipse">
            <a:avLst/>
          </a:prstGeom>
          <a:solidFill>
            <a:srgbClr val="0D9488">
              <a:alpha val="45000"/>
            </a:srgbClr>
          </a:solidFill>
          <a:ln/>
        </p:spPr>
        <p:txBody>
          <a:bodyPr/>
          <a:lstStyle/>
          <a:p>
            <a:endParaRPr lang="en-US"/>
          </a:p>
        </p:txBody>
      </p:sp>
      <p:sp>
        <p:nvSpPr>
          <p:cNvPr id="16" name="Shape 14"/>
          <p:cNvSpPr/>
          <p:nvPr/>
        </p:nvSpPr>
        <p:spPr>
          <a:xfrm>
            <a:off x="7680960" y="1280160"/>
            <a:ext cx="128016" cy="128016"/>
          </a:xfrm>
          <a:prstGeom prst="ellipse">
            <a:avLst/>
          </a:prstGeom>
          <a:solidFill>
            <a:srgbClr val="0D9488">
              <a:alpha val="45000"/>
            </a:srgbClr>
          </a:solidFill>
          <a:ln/>
        </p:spPr>
        <p:txBody>
          <a:bodyPr/>
          <a:lstStyle/>
          <a:p>
            <a:endParaRPr lang="en-US"/>
          </a:p>
        </p:txBody>
      </p:sp>
      <p:sp>
        <p:nvSpPr>
          <p:cNvPr id="17" name="Shape 15"/>
          <p:cNvSpPr/>
          <p:nvPr/>
        </p:nvSpPr>
        <p:spPr>
          <a:xfrm>
            <a:off x="457200" y="1691640"/>
            <a:ext cx="594360" cy="594360"/>
          </a:xfrm>
          <a:prstGeom prst="ellipse">
            <a:avLst/>
          </a:prstGeom>
          <a:solidFill>
            <a:srgbClr val="0D9488"/>
          </a:solidFill>
          <a:ln/>
        </p:spPr>
        <p:txBody>
          <a:bodyPr/>
          <a:lstStyle/>
          <a:p>
            <a:endParaRPr lang="en-US"/>
          </a:p>
        </p:txBody>
      </p:sp>
      <p:sp>
        <p:nvSpPr>
          <p:cNvPr id="18" name="Text 16"/>
          <p:cNvSpPr/>
          <p:nvPr/>
        </p:nvSpPr>
        <p:spPr>
          <a:xfrm>
            <a:off x="457200" y="169164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rPr>
              <a:t>4</a:t>
            </a:r>
            <a:endParaRPr lang="en-US" sz="2000" dirty="0"/>
          </a:p>
        </p:txBody>
      </p:sp>
      <p:sp>
        <p:nvSpPr>
          <p:cNvPr id="19" name="Text 17"/>
          <p:cNvSpPr/>
          <p:nvPr/>
        </p:nvSpPr>
        <p:spPr>
          <a:xfrm>
            <a:off x="1234440" y="1600200"/>
            <a:ext cx="7406640" cy="822960"/>
          </a:xfrm>
          <a:prstGeom prst="rect">
            <a:avLst/>
          </a:prstGeom>
          <a:noFill/>
          <a:ln/>
        </p:spPr>
        <p:txBody>
          <a:bodyPr wrap="square"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CyberneticsAR</a:t>
            </a:r>
            <a:endParaRPr lang="en-US" sz="4200" dirty="0"/>
          </a:p>
        </p:txBody>
      </p:sp>
      <p:sp>
        <p:nvSpPr>
          <p:cNvPr id="20" name="Text 18"/>
          <p:cNvSpPr/>
          <p:nvPr/>
        </p:nvSpPr>
        <p:spPr>
          <a:xfrm>
            <a:off x="1234440" y="2468880"/>
            <a:ext cx="7406640" cy="502920"/>
          </a:xfrm>
          <a:prstGeom prst="rect">
            <a:avLst/>
          </a:prstGeom>
          <a:noFill/>
          <a:ln/>
        </p:spPr>
        <p:txBody>
          <a:bodyPr wrap="square" rtlCol="0" anchor="ctr"/>
          <a:lstStyle/>
          <a:p>
            <a:pPr marL="0" indent="0">
              <a:buNone/>
            </a:pPr>
            <a:r>
              <a:rPr lang="en-US" sz="1700" i="1" dirty="0">
                <a:solidFill>
                  <a:srgbClr val="CCEFED"/>
                </a:solidFill>
                <a:latin typeface="Calibri" pitchFamily="34" charset="0"/>
                <a:ea typeface="Calibri" pitchFamily="34" charset="-122"/>
                <a:cs typeface="Calibri" pitchFamily="34" charset="-120"/>
              </a:rPr>
              <a:t>The extension — federated AI agents meet augmented reality</a:t>
            </a:r>
            <a:endParaRPr lang="en-US" sz="1700" dirty="0"/>
          </a:p>
        </p:txBody>
      </p:sp>
      <p:sp>
        <p:nvSpPr>
          <p:cNvPr id="21" name="Shape 19"/>
          <p:cNvSpPr/>
          <p:nvPr/>
        </p:nvSpPr>
        <p:spPr>
          <a:xfrm>
            <a:off x="457200" y="4572000"/>
            <a:ext cx="8229600" cy="36576"/>
          </a:xfrm>
          <a:prstGeom prst="rect">
            <a:avLst/>
          </a:prstGeom>
          <a:solidFill>
            <a:srgbClr val="0D9488">
              <a:alpha val="60000"/>
            </a:srgbClr>
          </a:solidFill>
          <a:ln/>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1B2E4B"/>
                </a:solidFill>
                <a:latin typeface="Georgia" pitchFamily="34" charset="0"/>
                <a:ea typeface="Georgia" pitchFamily="34" charset="-122"/>
                <a:cs typeface="Georgia" pitchFamily="34" charset="-120"/>
              </a:rPr>
              <a:t>CyberneticsAR — What Is It?</a:t>
            </a:r>
            <a:endParaRPr lang="en-US" sz="2800" dirty="0"/>
          </a:p>
        </p:txBody>
      </p:sp>
      <p:sp>
        <p:nvSpPr>
          <p:cNvPr id="3" name="Shape 1"/>
          <p:cNvSpPr/>
          <p:nvPr/>
        </p:nvSpPr>
        <p:spPr>
          <a:xfrm>
            <a:off x="457200" y="914400"/>
            <a:ext cx="8229600" cy="91440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4" name="Shape 2"/>
          <p:cNvSpPr/>
          <p:nvPr/>
        </p:nvSpPr>
        <p:spPr>
          <a:xfrm>
            <a:off x="457200" y="914400"/>
            <a:ext cx="8229600" cy="64008"/>
          </a:xfrm>
          <a:prstGeom prst="rect">
            <a:avLst/>
          </a:prstGeom>
          <a:solidFill>
            <a:srgbClr val="EA580C"/>
          </a:solidFill>
          <a:ln/>
        </p:spPr>
        <p:txBody>
          <a:bodyPr/>
          <a:lstStyle/>
          <a:p>
            <a:endParaRPr lang="en-US"/>
          </a:p>
        </p:txBody>
      </p:sp>
      <p:sp>
        <p:nvSpPr>
          <p:cNvPr id="5" name="Text 3"/>
          <p:cNvSpPr/>
          <p:nvPr/>
        </p:nvSpPr>
        <p:spPr>
          <a:xfrm>
            <a:off x="594360" y="987552"/>
            <a:ext cx="7863840" cy="749808"/>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An extension of CyberneticsNLP: a team of federated AI agents — each contributing distinct capabilities — collaborates to produce an Augmented Reality experience grounded in the analytical insights from the NLP pipeline.</a:t>
            </a:r>
            <a:endParaRPr lang="en-US" sz="1300" dirty="0"/>
          </a:p>
        </p:txBody>
      </p:sp>
      <p:sp>
        <p:nvSpPr>
          <p:cNvPr id="6" name="Shape 4"/>
          <p:cNvSpPr/>
          <p:nvPr/>
        </p:nvSpPr>
        <p:spPr>
          <a:xfrm>
            <a:off x="411480" y="1993392"/>
            <a:ext cx="1554480" cy="260604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7" name="Shape 5"/>
          <p:cNvSpPr/>
          <p:nvPr/>
        </p:nvSpPr>
        <p:spPr>
          <a:xfrm>
            <a:off x="411480" y="1993392"/>
            <a:ext cx="1554480" cy="384048"/>
          </a:xfrm>
          <a:prstGeom prst="rect">
            <a:avLst/>
          </a:prstGeom>
          <a:solidFill>
            <a:srgbClr val="0D9488"/>
          </a:solidFill>
          <a:ln/>
        </p:spPr>
        <p:txBody>
          <a:bodyPr/>
          <a:lstStyle/>
          <a:p>
            <a:endParaRPr lang="en-US"/>
          </a:p>
        </p:txBody>
      </p:sp>
      <p:sp>
        <p:nvSpPr>
          <p:cNvPr id="8" name="Text 6"/>
          <p:cNvSpPr/>
          <p:nvPr/>
        </p:nvSpPr>
        <p:spPr>
          <a:xfrm>
            <a:off x="457200" y="1993392"/>
            <a:ext cx="1463040"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Claude</a:t>
            </a:r>
            <a:endParaRPr lang="en-US" sz="1100" dirty="0"/>
          </a:p>
        </p:txBody>
      </p:sp>
      <p:sp>
        <p:nvSpPr>
          <p:cNvPr id="9" name="Text 7"/>
          <p:cNvSpPr/>
          <p:nvPr/>
        </p:nvSpPr>
        <p:spPr>
          <a:xfrm>
            <a:off x="457200" y="2423160"/>
            <a:ext cx="1463040" cy="274320"/>
          </a:xfrm>
          <a:prstGeom prst="rect">
            <a:avLst/>
          </a:prstGeom>
          <a:noFill/>
          <a:ln/>
        </p:spPr>
        <p:txBody>
          <a:bodyPr wrap="square"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Anthropic</a:t>
            </a:r>
            <a:endParaRPr lang="en-US" sz="950" dirty="0"/>
          </a:p>
        </p:txBody>
      </p:sp>
      <p:sp>
        <p:nvSpPr>
          <p:cNvPr id="10" name="Text 8"/>
          <p:cNvSpPr/>
          <p:nvPr/>
        </p:nvSpPr>
        <p:spPr>
          <a:xfrm>
            <a:off x="475488" y="2743200"/>
            <a:ext cx="1426464" cy="1737360"/>
          </a:xfrm>
          <a:prstGeom prst="rect">
            <a:avLst/>
          </a:prstGeom>
          <a:noFill/>
          <a:ln/>
        </p:spPr>
        <p:txBody>
          <a:bodyPr wrap="square" rtlCol="0" anchor="t"/>
          <a:lstStyle/>
          <a:p>
            <a:pPr marL="0" indent="0">
              <a:buNone/>
            </a:pPr>
            <a:r>
              <a:rPr lang="en-US" sz="1050" dirty="0">
                <a:solidFill>
                  <a:srgbClr val="1E293B"/>
                </a:solidFill>
                <a:latin typeface="Calibri" pitchFamily="34" charset="0"/>
                <a:ea typeface="Calibri" pitchFamily="34" charset="-122"/>
                <a:cs typeface="Calibri" pitchFamily="34" charset="-120"/>
              </a:rPr>
              <a:t>NLP analysis, reasoning, documentation, code generation</a:t>
            </a:r>
            <a:endParaRPr lang="en-US" sz="1050" dirty="0"/>
          </a:p>
        </p:txBody>
      </p:sp>
      <p:sp>
        <p:nvSpPr>
          <p:cNvPr id="11" name="Shape 9"/>
          <p:cNvSpPr/>
          <p:nvPr/>
        </p:nvSpPr>
        <p:spPr>
          <a:xfrm>
            <a:off x="2093976" y="1993392"/>
            <a:ext cx="1554480" cy="260604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2" name="Shape 10"/>
          <p:cNvSpPr/>
          <p:nvPr/>
        </p:nvSpPr>
        <p:spPr>
          <a:xfrm>
            <a:off x="2093976" y="1993392"/>
            <a:ext cx="1554480" cy="384048"/>
          </a:xfrm>
          <a:prstGeom prst="rect">
            <a:avLst/>
          </a:prstGeom>
          <a:solidFill>
            <a:srgbClr val="1D4ED8"/>
          </a:solidFill>
          <a:ln/>
        </p:spPr>
        <p:txBody>
          <a:bodyPr/>
          <a:lstStyle/>
          <a:p>
            <a:endParaRPr lang="en-US"/>
          </a:p>
        </p:txBody>
      </p:sp>
      <p:sp>
        <p:nvSpPr>
          <p:cNvPr id="13" name="Text 11"/>
          <p:cNvSpPr/>
          <p:nvPr/>
        </p:nvSpPr>
        <p:spPr>
          <a:xfrm>
            <a:off x="2139696" y="1993392"/>
            <a:ext cx="1463040"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DeepSeek</a:t>
            </a:r>
            <a:endParaRPr lang="en-US" sz="1100" dirty="0"/>
          </a:p>
        </p:txBody>
      </p:sp>
      <p:sp>
        <p:nvSpPr>
          <p:cNvPr id="14" name="Text 12"/>
          <p:cNvSpPr/>
          <p:nvPr/>
        </p:nvSpPr>
        <p:spPr>
          <a:xfrm>
            <a:off x="2139696" y="2423160"/>
            <a:ext cx="1463040" cy="274320"/>
          </a:xfrm>
          <a:prstGeom prst="rect">
            <a:avLst/>
          </a:prstGeom>
          <a:noFill/>
          <a:ln/>
        </p:spPr>
        <p:txBody>
          <a:bodyPr wrap="square"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DeepSeek AI</a:t>
            </a:r>
            <a:endParaRPr lang="en-US" sz="950" dirty="0"/>
          </a:p>
        </p:txBody>
      </p:sp>
      <p:sp>
        <p:nvSpPr>
          <p:cNvPr id="15" name="Text 13"/>
          <p:cNvSpPr/>
          <p:nvPr/>
        </p:nvSpPr>
        <p:spPr>
          <a:xfrm>
            <a:off x="2157984" y="2743200"/>
            <a:ext cx="1426464" cy="1737360"/>
          </a:xfrm>
          <a:prstGeom prst="rect">
            <a:avLst/>
          </a:prstGeom>
          <a:noFill/>
          <a:ln/>
        </p:spPr>
        <p:txBody>
          <a:bodyPr wrap="square" rtlCol="0" anchor="t"/>
          <a:lstStyle/>
          <a:p>
            <a:pPr marL="0" indent="0">
              <a:buNone/>
            </a:pPr>
            <a:r>
              <a:rPr lang="en-US" sz="1050" dirty="0">
                <a:solidFill>
                  <a:srgbClr val="1E293B"/>
                </a:solidFill>
                <a:latin typeface="Calibri" pitchFamily="34" charset="0"/>
                <a:ea typeface="Calibri" pitchFamily="34" charset="-122"/>
                <a:cs typeface="Calibri" pitchFamily="34" charset="-120"/>
              </a:rPr>
              <a:t>Cross-lingual analysis, multilingual corpus support</a:t>
            </a:r>
            <a:endParaRPr lang="en-US" sz="1050" dirty="0"/>
          </a:p>
        </p:txBody>
      </p:sp>
      <p:sp>
        <p:nvSpPr>
          <p:cNvPr id="16" name="Shape 14"/>
          <p:cNvSpPr/>
          <p:nvPr/>
        </p:nvSpPr>
        <p:spPr>
          <a:xfrm>
            <a:off x="3776472" y="1993392"/>
            <a:ext cx="1554480" cy="260604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7" name="Shape 15"/>
          <p:cNvSpPr/>
          <p:nvPr/>
        </p:nvSpPr>
        <p:spPr>
          <a:xfrm>
            <a:off x="3776472" y="1993392"/>
            <a:ext cx="1554480" cy="384048"/>
          </a:xfrm>
          <a:prstGeom prst="rect">
            <a:avLst/>
          </a:prstGeom>
          <a:solidFill>
            <a:srgbClr val="EA580C"/>
          </a:solidFill>
          <a:ln/>
        </p:spPr>
        <p:txBody>
          <a:bodyPr/>
          <a:lstStyle/>
          <a:p>
            <a:endParaRPr lang="en-US"/>
          </a:p>
        </p:txBody>
      </p:sp>
      <p:sp>
        <p:nvSpPr>
          <p:cNvPr id="18" name="Text 16"/>
          <p:cNvSpPr/>
          <p:nvPr/>
        </p:nvSpPr>
        <p:spPr>
          <a:xfrm>
            <a:off x="3822192" y="1993392"/>
            <a:ext cx="1463040"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Gemini</a:t>
            </a:r>
            <a:endParaRPr lang="en-US" sz="1100" dirty="0"/>
          </a:p>
        </p:txBody>
      </p:sp>
      <p:sp>
        <p:nvSpPr>
          <p:cNvPr id="19" name="Text 17"/>
          <p:cNvSpPr/>
          <p:nvPr/>
        </p:nvSpPr>
        <p:spPr>
          <a:xfrm>
            <a:off x="3822192" y="2423160"/>
            <a:ext cx="1463040" cy="274320"/>
          </a:xfrm>
          <a:prstGeom prst="rect">
            <a:avLst/>
          </a:prstGeom>
          <a:noFill/>
          <a:ln/>
        </p:spPr>
        <p:txBody>
          <a:bodyPr wrap="square"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Google</a:t>
            </a:r>
            <a:endParaRPr lang="en-US" sz="950" dirty="0"/>
          </a:p>
        </p:txBody>
      </p:sp>
      <p:sp>
        <p:nvSpPr>
          <p:cNvPr id="20" name="Text 18"/>
          <p:cNvSpPr/>
          <p:nvPr/>
        </p:nvSpPr>
        <p:spPr>
          <a:xfrm>
            <a:off x="3840480" y="2743200"/>
            <a:ext cx="1426464" cy="1737360"/>
          </a:xfrm>
          <a:prstGeom prst="rect">
            <a:avLst/>
          </a:prstGeom>
          <a:noFill/>
          <a:ln/>
        </p:spPr>
        <p:txBody>
          <a:bodyPr wrap="square" rtlCol="0" anchor="t"/>
          <a:lstStyle/>
          <a:p>
            <a:pPr marL="0" indent="0">
              <a:buNone/>
            </a:pPr>
            <a:r>
              <a:rPr lang="en-US" sz="1050" dirty="0">
                <a:solidFill>
                  <a:srgbClr val="1E293B"/>
                </a:solidFill>
                <a:latin typeface="Calibri" pitchFamily="34" charset="0"/>
                <a:ea typeface="Calibri" pitchFamily="34" charset="-122"/>
                <a:cs typeface="Calibri" pitchFamily="34" charset="-120"/>
              </a:rPr>
              <a:t>Multimodal — integrating text, images, and visual data</a:t>
            </a:r>
            <a:endParaRPr lang="en-US" sz="1050" dirty="0"/>
          </a:p>
        </p:txBody>
      </p:sp>
      <p:sp>
        <p:nvSpPr>
          <p:cNvPr id="21" name="Shape 19"/>
          <p:cNvSpPr/>
          <p:nvPr/>
        </p:nvSpPr>
        <p:spPr>
          <a:xfrm>
            <a:off x="5458968" y="1993392"/>
            <a:ext cx="1554480" cy="260604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22" name="Shape 20"/>
          <p:cNvSpPr/>
          <p:nvPr/>
        </p:nvSpPr>
        <p:spPr>
          <a:xfrm>
            <a:off x="5458968" y="1993392"/>
            <a:ext cx="1554480" cy="384048"/>
          </a:xfrm>
          <a:prstGeom prst="rect">
            <a:avLst/>
          </a:prstGeom>
          <a:solidFill>
            <a:srgbClr val="7C3AED"/>
          </a:solidFill>
          <a:ln/>
        </p:spPr>
        <p:txBody>
          <a:bodyPr/>
          <a:lstStyle/>
          <a:p>
            <a:endParaRPr lang="en-US"/>
          </a:p>
        </p:txBody>
      </p:sp>
      <p:sp>
        <p:nvSpPr>
          <p:cNvPr id="23" name="Text 21"/>
          <p:cNvSpPr/>
          <p:nvPr/>
        </p:nvSpPr>
        <p:spPr>
          <a:xfrm>
            <a:off x="5504688" y="1993392"/>
            <a:ext cx="1463040"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GitHub Copilot</a:t>
            </a:r>
            <a:endParaRPr lang="en-US" sz="1100" dirty="0"/>
          </a:p>
        </p:txBody>
      </p:sp>
      <p:sp>
        <p:nvSpPr>
          <p:cNvPr id="24" name="Text 22"/>
          <p:cNvSpPr/>
          <p:nvPr/>
        </p:nvSpPr>
        <p:spPr>
          <a:xfrm>
            <a:off x="5504688" y="2423160"/>
            <a:ext cx="1463040" cy="274320"/>
          </a:xfrm>
          <a:prstGeom prst="rect">
            <a:avLst/>
          </a:prstGeom>
          <a:noFill/>
          <a:ln/>
        </p:spPr>
        <p:txBody>
          <a:bodyPr wrap="square"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Microsoft</a:t>
            </a:r>
            <a:endParaRPr lang="en-US" sz="950" dirty="0"/>
          </a:p>
        </p:txBody>
      </p:sp>
      <p:sp>
        <p:nvSpPr>
          <p:cNvPr id="25" name="Text 23"/>
          <p:cNvSpPr/>
          <p:nvPr/>
        </p:nvSpPr>
        <p:spPr>
          <a:xfrm>
            <a:off x="5522976" y="2743200"/>
            <a:ext cx="1426464" cy="1737360"/>
          </a:xfrm>
          <a:prstGeom prst="rect">
            <a:avLst/>
          </a:prstGeom>
          <a:noFill/>
          <a:ln/>
        </p:spPr>
        <p:txBody>
          <a:bodyPr wrap="square" rtlCol="0" anchor="t"/>
          <a:lstStyle/>
          <a:p>
            <a:pPr marL="0" indent="0">
              <a:buNone/>
            </a:pPr>
            <a:r>
              <a:rPr lang="en-US" sz="1050" dirty="0">
                <a:solidFill>
                  <a:srgbClr val="1E293B"/>
                </a:solidFill>
                <a:latin typeface="Calibri" pitchFamily="34" charset="0"/>
                <a:ea typeface="Calibri" pitchFamily="34" charset="-122"/>
                <a:cs typeface="Calibri" pitchFamily="34" charset="-120"/>
              </a:rPr>
              <a:t>Code scaffolding, repository management, PR review</a:t>
            </a:r>
            <a:endParaRPr lang="en-US" sz="1050" dirty="0"/>
          </a:p>
        </p:txBody>
      </p:sp>
      <p:sp>
        <p:nvSpPr>
          <p:cNvPr id="26" name="Shape 24"/>
          <p:cNvSpPr/>
          <p:nvPr/>
        </p:nvSpPr>
        <p:spPr>
          <a:xfrm>
            <a:off x="7141464" y="1993392"/>
            <a:ext cx="1554480" cy="260604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27" name="Shape 25"/>
          <p:cNvSpPr/>
          <p:nvPr/>
        </p:nvSpPr>
        <p:spPr>
          <a:xfrm>
            <a:off x="7141464" y="1993392"/>
            <a:ext cx="1554480" cy="384048"/>
          </a:xfrm>
          <a:prstGeom prst="rect">
            <a:avLst/>
          </a:prstGeom>
          <a:solidFill>
            <a:srgbClr val="0078D4"/>
          </a:solidFill>
          <a:ln/>
        </p:spPr>
        <p:txBody>
          <a:bodyPr/>
          <a:lstStyle/>
          <a:p>
            <a:endParaRPr lang="en-US"/>
          </a:p>
        </p:txBody>
      </p:sp>
      <p:sp>
        <p:nvSpPr>
          <p:cNvPr id="28" name="Text 26"/>
          <p:cNvSpPr/>
          <p:nvPr/>
        </p:nvSpPr>
        <p:spPr>
          <a:xfrm>
            <a:off x="7187184" y="1993392"/>
            <a:ext cx="1463040"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MS 365 Copilot</a:t>
            </a:r>
            <a:endParaRPr lang="en-US" sz="1100" dirty="0"/>
          </a:p>
        </p:txBody>
      </p:sp>
      <p:sp>
        <p:nvSpPr>
          <p:cNvPr id="29" name="Text 27"/>
          <p:cNvSpPr/>
          <p:nvPr/>
        </p:nvSpPr>
        <p:spPr>
          <a:xfrm>
            <a:off x="7187184" y="2423160"/>
            <a:ext cx="1463040" cy="274320"/>
          </a:xfrm>
          <a:prstGeom prst="rect">
            <a:avLst/>
          </a:prstGeom>
          <a:noFill/>
          <a:ln/>
        </p:spPr>
        <p:txBody>
          <a:bodyPr wrap="square"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Microsoft</a:t>
            </a:r>
            <a:endParaRPr lang="en-US" sz="950" dirty="0"/>
          </a:p>
        </p:txBody>
      </p:sp>
      <p:sp>
        <p:nvSpPr>
          <p:cNvPr id="30" name="Text 28"/>
          <p:cNvSpPr/>
          <p:nvPr/>
        </p:nvSpPr>
        <p:spPr>
          <a:xfrm>
            <a:off x="7205472" y="2743200"/>
            <a:ext cx="1426464" cy="1737360"/>
          </a:xfrm>
          <a:prstGeom prst="rect">
            <a:avLst/>
          </a:prstGeom>
          <a:noFill/>
          <a:ln/>
        </p:spPr>
        <p:txBody>
          <a:bodyPr wrap="square" rtlCol="0" anchor="t"/>
          <a:lstStyle/>
          <a:p>
            <a:pPr marL="0" indent="0">
              <a:buNone/>
            </a:pPr>
            <a:r>
              <a:rPr lang="en-US" sz="1050" dirty="0">
                <a:solidFill>
                  <a:srgbClr val="1E293B"/>
                </a:solidFill>
                <a:latin typeface="Calibri" pitchFamily="34" charset="0"/>
                <a:ea typeface="Calibri" pitchFamily="34" charset="-122"/>
                <a:cs typeface="Calibri" pitchFamily="34" charset="-120"/>
              </a:rPr>
              <a:t>Document workflow, integration with research artefacts</a:t>
            </a:r>
            <a:endParaRPr lang="en-US" sz="1050" dirty="0"/>
          </a:p>
        </p:txBody>
      </p:sp>
      <p:sp>
        <p:nvSpPr>
          <p:cNvPr id="31" name="Text 29"/>
          <p:cNvSpPr/>
          <p:nvPr/>
        </p:nvSpPr>
        <p:spPr>
          <a:xfrm>
            <a:off x="457200" y="4754880"/>
            <a:ext cx="8229600" cy="246888"/>
          </a:xfrm>
          <a:prstGeom prst="rect">
            <a:avLst/>
          </a:prstGeom>
          <a:noFill/>
          <a:ln/>
        </p:spPr>
        <p:txBody>
          <a:bodyPr wrap="square" rtlCol="0" anchor="ctr"/>
          <a:lstStyle/>
          <a:p>
            <a:pPr marL="0" indent="0" algn="ctr">
              <a:buNone/>
            </a:pPr>
            <a:r>
              <a:rPr lang="en-US" sz="1050" i="1" dirty="0">
                <a:solidFill>
                  <a:srgbClr val="64748B"/>
                </a:solidFill>
                <a:latin typeface="Calibri" pitchFamily="34" charset="0"/>
                <a:ea typeface="Calibri" pitchFamily="34" charset="-122"/>
                <a:cs typeface="Calibri" pitchFamily="34" charset="-120"/>
              </a:rPr>
              <a:t>Each agent brings distinct strengths — together they form a federated team for complex research production</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1B2E4B"/>
                </a:solidFill>
                <a:latin typeface="Georgia" pitchFamily="34" charset="0"/>
                <a:ea typeface="Georgia" pitchFamily="34" charset="-122"/>
                <a:cs typeface="Georgia" pitchFamily="34" charset="-120"/>
              </a:rPr>
              <a:t>AI–Human Teaming — The Meta-Perspective</a:t>
            </a:r>
            <a:endParaRPr lang="en-US" sz="2800" dirty="0"/>
          </a:p>
        </p:txBody>
      </p:sp>
      <p:sp>
        <p:nvSpPr>
          <p:cNvPr id="3" name="Shape 1"/>
          <p:cNvSpPr/>
          <p:nvPr/>
        </p:nvSpPr>
        <p:spPr>
          <a:xfrm>
            <a:off x="457200" y="914400"/>
            <a:ext cx="3977640" cy="393192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4" name="Shape 2"/>
          <p:cNvSpPr/>
          <p:nvPr/>
        </p:nvSpPr>
        <p:spPr>
          <a:xfrm>
            <a:off x="457200" y="914400"/>
            <a:ext cx="3977640" cy="64008"/>
          </a:xfrm>
          <a:prstGeom prst="rect">
            <a:avLst/>
          </a:prstGeom>
          <a:solidFill>
            <a:srgbClr val="0D9488"/>
          </a:solidFill>
          <a:ln/>
        </p:spPr>
        <p:txBody>
          <a:bodyPr/>
          <a:lstStyle/>
          <a:p>
            <a:endParaRPr lang="en-US"/>
          </a:p>
        </p:txBody>
      </p:sp>
      <p:sp>
        <p:nvSpPr>
          <p:cNvPr id="5" name="Text 3"/>
          <p:cNvSpPr/>
          <p:nvPr/>
        </p:nvSpPr>
        <p:spPr>
          <a:xfrm>
            <a:off x="594360" y="1005840"/>
            <a:ext cx="3703320" cy="384048"/>
          </a:xfrm>
          <a:prstGeom prst="rect">
            <a:avLst/>
          </a:prstGeom>
          <a:noFill/>
          <a:ln/>
        </p:spPr>
        <p:txBody>
          <a:bodyPr wrap="square" rtlCol="0" anchor="ctr"/>
          <a:lstStyle/>
          <a:p>
            <a:pPr marL="0" indent="0">
              <a:buNone/>
            </a:pPr>
            <a:r>
              <a:rPr lang="en-US" sz="1400" b="1" dirty="0">
                <a:solidFill>
                  <a:srgbClr val="1B2E4B"/>
                </a:solidFill>
                <a:latin typeface="Georgia" pitchFamily="34" charset="0"/>
                <a:ea typeface="Georgia" pitchFamily="34" charset="-122"/>
                <a:cs typeface="Georgia" pitchFamily="34" charset="-120"/>
              </a:rPr>
              <a:t>Two Projects — Different Purposes</a:t>
            </a:r>
            <a:endParaRPr lang="en-US" sz="1400" dirty="0"/>
          </a:p>
        </p:txBody>
      </p:sp>
      <p:sp>
        <p:nvSpPr>
          <p:cNvPr id="6" name="Text 4"/>
          <p:cNvSpPr/>
          <p:nvPr/>
        </p:nvSpPr>
        <p:spPr>
          <a:xfrm>
            <a:off x="594360" y="1481328"/>
            <a:ext cx="3703320" cy="256032"/>
          </a:xfrm>
          <a:prstGeom prst="rect">
            <a:avLst/>
          </a:prstGeom>
          <a:noFill/>
          <a:ln/>
        </p:spPr>
        <p:txBody>
          <a:bodyPr wrap="square"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CyberneticsNLP</a:t>
            </a:r>
            <a:endParaRPr lang="en-US" sz="1200" dirty="0"/>
          </a:p>
        </p:txBody>
      </p:sp>
      <p:sp>
        <p:nvSpPr>
          <p:cNvPr id="7" name="Text 5"/>
          <p:cNvSpPr/>
          <p:nvPr/>
        </p:nvSpPr>
        <p:spPr>
          <a:xfrm>
            <a:off x="594360" y="1737360"/>
            <a:ext cx="370332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Research — understanding an intellectual field through its literature</a:t>
            </a:r>
            <a:endParaRPr lang="en-US" sz="1100" dirty="0"/>
          </a:p>
        </p:txBody>
      </p:sp>
      <p:sp>
        <p:nvSpPr>
          <p:cNvPr id="8" name="Text 6"/>
          <p:cNvSpPr/>
          <p:nvPr/>
        </p:nvSpPr>
        <p:spPr>
          <a:xfrm>
            <a:off x="594360" y="2249424"/>
            <a:ext cx="3703320" cy="256032"/>
          </a:xfrm>
          <a:prstGeom prst="rect">
            <a:avLst/>
          </a:prstGeom>
          <a:noFill/>
          <a:ln/>
        </p:spPr>
        <p:txBody>
          <a:bodyPr wrap="square"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CyberneticsAR</a:t>
            </a:r>
            <a:endParaRPr lang="en-US" sz="1200" dirty="0"/>
          </a:p>
        </p:txBody>
      </p:sp>
      <p:sp>
        <p:nvSpPr>
          <p:cNvPr id="9" name="Text 7"/>
          <p:cNvSpPr/>
          <p:nvPr/>
        </p:nvSpPr>
        <p:spPr>
          <a:xfrm>
            <a:off x="594360" y="2505456"/>
            <a:ext cx="370332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Service/product development — building AI-assisted tools for active use</a:t>
            </a:r>
            <a:endParaRPr lang="en-US" sz="1100" dirty="0"/>
          </a:p>
        </p:txBody>
      </p:sp>
      <p:sp>
        <p:nvSpPr>
          <p:cNvPr id="10" name="Text 8"/>
          <p:cNvSpPr/>
          <p:nvPr/>
        </p:nvSpPr>
        <p:spPr>
          <a:xfrm>
            <a:off x="594360" y="3017520"/>
            <a:ext cx="3703320" cy="256032"/>
          </a:xfrm>
          <a:prstGeom prst="rect">
            <a:avLst/>
          </a:prstGeom>
          <a:noFill/>
          <a:ln/>
        </p:spPr>
        <p:txBody>
          <a:bodyPr wrap="square"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Separation is deliberate</a:t>
            </a:r>
            <a:endParaRPr lang="en-US" sz="1200" dirty="0"/>
          </a:p>
        </p:txBody>
      </p:sp>
      <p:sp>
        <p:nvSpPr>
          <p:cNvPr id="11" name="Text 9"/>
          <p:cNvSpPr/>
          <p:nvPr/>
        </p:nvSpPr>
        <p:spPr>
          <a:xfrm>
            <a:off x="594360" y="3273552"/>
            <a:ext cx="370332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Different goals, different governance, no reverse dependencies between them</a:t>
            </a:r>
            <a:endParaRPr lang="en-US" sz="1100" dirty="0"/>
          </a:p>
        </p:txBody>
      </p:sp>
      <p:sp>
        <p:nvSpPr>
          <p:cNvPr id="12" name="Text 10"/>
          <p:cNvSpPr/>
          <p:nvPr/>
        </p:nvSpPr>
        <p:spPr>
          <a:xfrm>
            <a:off x="594360" y="3785616"/>
            <a:ext cx="3703320" cy="256032"/>
          </a:xfrm>
          <a:prstGeom prst="rect">
            <a:avLst/>
          </a:prstGeom>
          <a:noFill/>
          <a:ln/>
        </p:spPr>
        <p:txBody>
          <a:bodyPr wrap="square"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Both generate meta-data</a:t>
            </a:r>
            <a:endParaRPr lang="en-US" sz="1200" dirty="0"/>
          </a:p>
        </p:txBody>
      </p:sp>
      <p:sp>
        <p:nvSpPr>
          <p:cNvPr id="13" name="Text 11"/>
          <p:cNvSpPr/>
          <p:nvPr/>
        </p:nvSpPr>
        <p:spPr>
          <a:xfrm>
            <a:off x="594360" y="4041648"/>
            <a:ext cx="370332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Session logs, CRediT records, overrides — data about AI–human teaming itself</a:t>
            </a:r>
            <a:endParaRPr lang="en-US" sz="1100" dirty="0"/>
          </a:p>
        </p:txBody>
      </p:sp>
      <p:sp>
        <p:nvSpPr>
          <p:cNvPr id="14" name="Shape 12"/>
          <p:cNvSpPr/>
          <p:nvPr/>
        </p:nvSpPr>
        <p:spPr>
          <a:xfrm>
            <a:off x="4663440" y="914400"/>
            <a:ext cx="4023360" cy="3931920"/>
          </a:xfrm>
          <a:prstGeom prst="rect">
            <a:avLst/>
          </a:prstGeom>
          <a:solidFill>
            <a:srgbClr val="1B2E4B"/>
          </a:solidFill>
          <a:ln/>
          <a:effectLst>
            <a:outerShdw blurRad="101600" dist="25400" dir="8100000" algn="bl" rotWithShape="0">
              <a:srgbClr val="000000">
                <a:alpha val="11000"/>
              </a:srgbClr>
            </a:outerShdw>
          </a:effectLst>
        </p:spPr>
        <p:txBody>
          <a:bodyPr/>
          <a:lstStyle/>
          <a:p>
            <a:endParaRPr lang="en-US"/>
          </a:p>
        </p:txBody>
      </p:sp>
      <p:sp>
        <p:nvSpPr>
          <p:cNvPr id="15" name="Text 13"/>
          <p:cNvSpPr/>
          <p:nvPr/>
        </p:nvSpPr>
        <p:spPr>
          <a:xfrm>
            <a:off x="4800600" y="1005840"/>
            <a:ext cx="3749040" cy="384048"/>
          </a:xfrm>
          <a:prstGeom prst="rect">
            <a:avLst/>
          </a:prstGeom>
          <a:noFill/>
          <a:ln/>
        </p:spPr>
        <p:txBody>
          <a:bodyPr wrap="square" rtlCol="0" anchor="ctr"/>
          <a:lstStyle/>
          <a:p>
            <a:pPr marL="0" indent="0">
              <a:buNone/>
            </a:pPr>
            <a:r>
              <a:rPr lang="en-US" sz="1400" b="1" dirty="0">
                <a:solidFill>
                  <a:srgbClr val="F59E0B"/>
                </a:solidFill>
                <a:latin typeface="Georgia" pitchFamily="34" charset="0"/>
                <a:ea typeface="Georgia" pitchFamily="34" charset="-122"/>
                <a:cs typeface="Georgia" pitchFamily="34" charset="-120"/>
              </a:rPr>
              <a:t>Open Questions</a:t>
            </a:r>
            <a:endParaRPr lang="en-US" sz="1400" dirty="0"/>
          </a:p>
        </p:txBody>
      </p:sp>
      <p:sp>
        <p:nvSpPr>
          <p:cNvPr id="16" name="Text 14"/>
          <p:cNvSpPr/>
          <p:nvPr/>
        </p:nvSpPr>
        <p:spPr>
          <a:xfrm>
            <a:off x="4800600" y="1481328"/>
            <a:ext cx="3749040" cy="256032"/>
          </a:xfrm>
          <a:prstGeom prst="rect">
            <a:avLst/>
          </a:prstGeom>
          <a:noFill/>
          <a:ln/>
        </p:spPr>
        <p:txBody>
          <a:bodyPr wrap="square" rtlCol="0" anchor="ctr"/>
          <a:lstStyle/>
          <a:p>
            <a:pPr marL="0" indent="0">
              <a:buNone/>
            </a:pPr>
            <a:r>
              <a:rPr lang="en-US" sz="1200" b="1" dirty="0">
                <a:solidFill>
                  <a:srgbClr val="CCEFED"/>
                </a:solidFill>
                <a:latin typeface="Calibri" pitchFamily="34" charset="0"/>
                <a:ea typeface="Calibri" pitchFamily="34" charset="-122"/>
                <a:cs typeface="Calibri" pitchFamily="34" charset="-120"/>
              </a:rPr>
              <a:t>Division of labour</a:t>
            </a:r>
            <a:endParaRPr lang="en-US" sz="1200" dirty="0"/>
          </a:p>
        </p:txBody>
      </p:sp>
      <p:sp>
        <p:nvSpPr>
          <p:cNvPr id="17" name="Text 15"/>
          <p:cNvSpPr/>
          <p:nvPr/>
        </p:nvSpPr>
        <p:spPr>
          <a:xfrm>
            <a:off x="4800600" y="1737360"/>
            <a:ext cx="3749040" cy="320040"/>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When should a human direct vs. delegate? What tasks are AI-inappropriate?</a:t>
            </a:r>
            <a:endParaRPr lang="en-US" sz="1050" dirty="0"/>
          </a:p>
        </p:txBody>
      </p:sp>
      <p:sp>
        <p:nvSpPr>
          <p:cNvPr id="18" name="Text 16"/>
          <p:cNvSpPr/>
          <p:nvPr/>
        </p:nvSpPr>
        <p:spPr>
          <a:xfrm>
            <a:off x="4800600" y="2139696"/>
            <a:ext cx="3749040" cy="256032"/>
          </a:xfrm>
          <a:prstGeom prst="rect">
            <a:avLst/>
          </a:prstGeom>
          <a:noFill/>
          <a:ln/>
        </p:spPr>
        <p:txBody>
          <a:bodyPr wrap="square" rtlCol="0" anchor="ctr"/>
          <a:lstStyle/>
          <a:p>
            <a:pPr marL="0" indent="0">
              <a:buNone/>
            </a:pPr>
            <a:r>
              <a:rPr lang="en-US" sz="1200" b="1" dirty="0">
                <a:solidFill>
                  <a:srgbClr val="CCEFED"/>
                </a:solidFill>
                <a:latin typeface="Calibri" pitchFamily="34" charset="0"/>
                <a:ea typeface="Calibri" pitchFamily="34" charset="-122"/>
                <a:cs typeface="Calibri" pitchFamily="34" charset="-120"/>
              </a:rPr>
              <a:t>Trust &amp; validation</a:t>
            </a:r>
            <a:endParaRPr lang="en-US" sz="1200" dirty="0"/>
          </a:p>
        </p:txBody>
      </p:sp>
      <p:sp>
        <p:nvSpPr>
          <p:cNvPr id="19" name="Text 17"/>
          <p:cNvSpPr/>
          <p:nvPr/>
        </p:nvSpPr>
        <p:spPr>
          <a:xfrm>
            <a:off x="4800600" y="2395728"/>
            <a:ext cx="3749040" cy="320040"/>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How do you verify AI-generated code, analysis, or decisions at scale?</a:t>
            </a:r>
            <a:endParaRPr lang="en-US" sz="1050" dirty="0"/>
          </a:p>
        </p:txBody>
      </p:sp>
      <p:sp>
        <p:nvSpPr>
          <p:cNvPr id="20" name="Text 18"/>
          <p:cNvSpPr/>
          <p:nvPr/>
        </p:nvSpPr>
        <p:spPr>
          <a:xfrm>
            <a:off x="4800600" y="2798064"/>
            <a:ext cx="3749040" cy="256032"/>
          </a:xfrm>
          <a:prstGeom prst="rect">
            <a:avLst/>
          </a:prstGeom>
          <a:noFill/>
          <a:ln/>
        </p:spPr>
        <p:txBody>
          <a:bodyPr wrap="square" rtlCol="0" anchor="ctr"/>
          <a:lstStyle/>
          <a:p>
            <a:pPr marL="0" indent="0">
              <a:buNone/>
            </a:pPr>
            <a:r>
              <a:rPr lang="en-US" sz="1200" b="1" dirty="0">
                <a:solidFill>
                  <a:srgbClr val="CCEFED"/>
                </a:solidFill>
                <a:latin typeface="Calibri" pitchFamily="34" charset="0"/>
                <a:ea typeface="Calibri" pitchFamily="34" charset="-122"/>
                <a:cs typeface="Calibri" pitchFamily="34" charset="-120"/>
              </a:rPr>
              <a:t>Attribution</a:t>
            </a:r>
            <a:endParaRPr lang="en-US" sz="1200" dirty="0"/>
          </a:p>
        </p:txBody>
      </p:sp>
      <p:sp>
        <p:nvSpPr>
          <p:cNvPr id="21" name="Text 19"/>
          <p:cNvSpPr/>
          <p:nvPr/>
        </p:nvSpPr>
        <p:spPr>
          <a:xfrm>
            <a:off x="4800600" y="3054096"/>
            <a:ext cx="3749040" cy="320040"/>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If 26 scripts are Claude's code, whose intellectual property is it?</a:t>
            </a:r>
            <a:endParaRPr lang="en-US" sz="1050" dirty="0"/>
          </a:p>
        </p:txBody>
      </p:sp>
      <p:sp>
        <p:nvSpPr>
          <p:cNvPr id="22" name="Text 20"/>
          <p:cNvSpPr/>
          <p:nvPr/>
        </p:nvSpPr>
        <p:spPr>
          <a:xfrm>
            <a:off x="4800600" y="3456432"/>
            <a:ext cx="3749040" cy="256032"/>
          </a:xfrm>
          <a:prstGeom prst="rect">
            <a:avLst/>
          </a:prstGeom>
          <a:noFill/>
          <a:ln/>
        </p:spPr>
        <p:txBody>
          <a:bodyPr wrap="square" rtlCol="0" anchor="ctr"/>
          <a:lstStyle/>
          <a:p>
            <a:pPr marL="0" indent="0">
              <a:buNone/>
            </a:pPr>
            <a:r>
              <a:rPr lang="en-US" sz="1200" b="1" dirty="0">
                <a:solidFill>
                  <a:srgbClr val="CCEFED"/>
                </a:solidFill>
                <a:latin typeface="Calibri" pitchFamily="34" charset="0"/>
                <a:ea typeface="Calibri" pitchFamily="34" charset="-122"/>
                <a:cs typeface="Calibri" pitchFamily="34" charset="-120"/>
              </a:rPr>
              <a:t>Multi-agent dynamics</a:t>
            </a:r>
            <a:endParaRPr lang="en-US" sz="1200" dirty="0"/>
          </a:p>
        </p:txBody>
      </p:sp>
      <p:sp>
        <p:nvSpPr>
          <p:cNvPr id="23" name="Text 21"/>
          <p:cNvSpPr/>
          <p:nvPr/>
        </p:nvSpPr>
        <p:spPr>
          <a:xfrm>
            <a:off x="4800600" y="3712464"/>
            <a:ext cx="3749040" cy="320040"/>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5 AI agents on one project — how do they coordinate without conflict?</a:t>
            </a:r>
            <a:endParaRPr lang="en-US" sz="1050" dirty="0"/>
          </a:p>
        </p:txBody>
      </p:sp>
      <p:sp>
        <p:nvSpPr>
          <p:cNvPr id="24" name="Text 22"/>
          <p:cNvSpPr/>
          <p:nvPr/>
        </p:nvSpPr>
        <p:spPr>
          <a:xfrm>
            <a:off x="4800600" y="4114800"/>
            <a:ext cx="3749040" cy="256032"/>
          </a:xfrm>
          <a:prstGeom prst="rect">
            <a:avLst/>
          </a:prstGeom>
          <a:noFill/>
          <a:ln/>
        </p:spPr>
        <p:txBody>
          <a:bodyPr wrap="square" rtlCol="0" anchor="ctr"/>
          <a:lstStyle/>
          <a:p>
            <a:pPr marL="0" indent="0">
              <a:buNone/>
            </a:pPr>
            <a:r>
              <a:rPr lang="en-US" sz="1200" b="1" dirty="0">
                <a:solidFill>
                  <a:srgbClr val="CCEFED"/>
                </a:solidFill>
                <a:latin typeface="Calibri" pitchFamily="34" charset="0"/>
                <a:ea typeface="Calibri" pitchFamily="34" charset="-122"/>
                <a:cs typeface="Calibri" pitchFamily="34" charset="-120"/>
              </a:rPr>
              <a:t>Reproducibility</a:t>
            </a:r>
            <a:endParaRPr lang="en-US" sz="1200" dirty="0"/>
          </a:p>
        </p:txBody>
      </p:sp>
      <p:sp>
        <p:nvSpPr>
          <p:cNvPr id="25" name="Text 23"/>
          <p:cNvSpPr/>
          <p:nvPr/>
        </p:nvSpPr>
        <p:spPr>
          <a:xfrm>
            <a:off x="4800600" y="4370832"/>
            <a:ext cx="3749040" cy="320040"/>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Can another team reproduce AI-assisted research without the same AI?</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E4B"/>
        </a:solidFill>
        <a:effectLst/>
      </p:bgPr>
    </p:bg>
    <p:spTree>
      <p:nvGrpSpPr>
        <p:cNvPr id="1" name=""/>
        <p:cNvGrpSpPr/>
        <p:nvPr/>
      </p:nvGrpSpPr>
      <p:grpSpPr>
        <a:xfrm>
          <a:off x="0" y="0"/>
          <a:ext cx="0" cy="0"/>
          <a:chOff x="0" y="0"/>
          <a:chExt cx="0" cy="0"/>
        </a:xfrm>
      </p:grpSpPr>
      <p:sp>
        <p:nvSpPr>
          <p:cNvPr id="2" name="Shape 0"/>
          <p:cNvSpPr/>
          <p:nvPr/>
        </p:nvSpPr>
        <p:spPr>
          <a:xfrm>
            <a:off x="5669280" y="274320"/>
            <a:ext cx="128016" cy="128016"/>
          </a:xfrm>
          <a:prstGeom prst="ellipse">
            <a:avLst/>
          </a:prstGeom>
          <a:solidFill>
            <a:srgbClr val="0D9488">
              <a:alpha val="45000"/>
            </a:srgbClr>
          </a:solidFill>
          <a:ln/>
        </p:spPr>
        <p:txBody>
          <a:bodyPr/>
          <a:lstStyle/>
          <a:p>
            <a:endParaRPr lang="en-US"/>
          </a:p>
        </p:txBody>
      </p:sp>
      <p:sp>
        <p:nvSpPr>
          <p:cNvPr id="3" name="Shape 1"/>
          <p:cNvSpPr/>
          <p:nvPr/>
        </p:nvSpPr>
        <p:spPr>
          <a:xfrm>
            <a:off x="6172200" y="274320"/>
            <a:ext cx="128016" cy="128016"/>
          </a:xfrm>
          <a:prstGeom prst="ellipse">
            <a:avLst/>
          </a:prstGeom>
          <a:solidFill>
            <a:srgbClr val="0D9488">
              <a:alpha val="45000"/>
            </a:srgbClr>
          </a:solidFill>
          <a:ln/>
        </p:spPr>
        <p:txBody>
          <a:bodyPr/>
          <a:lstStyle/>
          <a:p>
            <a:endParaRPr lang="en-US"/>
          </a:p>
        </p:txBody>
      </p:sp>
      <p:sp>
        <p:nvSpPr>
          <p:cNvPr id="4" name="Shape 2"/>
          <p:cNvSpPr/>
          <p:nvPr/>
        </p:nvSpPr>
        <p:spPr>
          <a:xfrm>
            <a:off x="6675120" y="274320"/>
            <a:ext cx="128016" cy="128016"/>
          </a:xfrm>
          <a:prstGeom prst="ellipse">
            <a:avLst/>
          </a:prstGeom>
          <a:solidFill>
            <a:srgbClr val="0D9488">
              <a:alpha val="45000"/>
            </a:srgbClr>
          </a:solidFill>
          <a:ln/>
        </p:spPr>
        <p:txBody>
          <a:bodyPr/>
          <a:lstStyle/>
          <a:p>
            <a:endParaRPr lang="en-US"/>
          </a:p>
        </p:txBody>
      </p:sp>
      <p:sp>
        <p:nvSpPr>
          <p:cNvPr id="5" name="Shape 3"/>
          <p:cNvSpPr/>
          <p:nvPr/>
        </p:nvSpPr>
        <p:spPr>
          <a:xfrm>
            <a:off x="7178040" y="274320"/>
            <a:ext cx="128016" cy="128016"/>
          </a:xfrm>
          <a:prstGeom prst="ellipse">
            <a:avLst/>
          </a:prstGeom>
          <a:solidFill>
            <a:srgbClr val="0D9488">
              <a:alpha val="45000"/>
            </a:srgbClr>
          </a:solidFill>
          <a:ln/>
        </p:spPr>
        <p:txBody>
          <a:bodyPr/>
          <a:lstStyle/>
          <a:p>
            <a:endParaRPr lang="en-US"/>
          </a:p>
        </p:txBody>
      </p:sp>
      <p:sp>
        <p:nvSpPr>
          <p:cNvPr id="6" name="Shape 4"/>
          <p:cNvSpPr/>
          <p:nvPr/>
        </p:nvSpPr>
        <p:spPr>
          <a:xfrm>
            <a:off x="7680960" y="274320"/>
            <a:ext cx="128016" cy="128016"/>
          </a:xfrm>
          <a:prstGeom prst="ellipse">
            <a:avLst/>
          </a:prstGeom>
          <a:solidFill>
            <a:srgbClr val="0D9488">
              <a:alpha val="45000"/>
            </a:srgbClr>
          </a:solidFill>
          <a:ln/>
        </p:spPr>
        <p:txBody>
          <a:bodyPr/>
          <a:lstStyle/>
          <a:p>
            <a:endParaRPr lang="en-US"/>
          </a:p>
        </p:txBody>
      </p:sp>
      <p:sp>
        <p:nvSpPr>
          <p:cNvPr id="7" name="Shape 5"/>
          <p:cNvSpPr/>
          <p:nvPr/>
        </p:nvSpPr>
        <p:spPr>
          <a:xfrm>
            <a:off x="5669280" y="777240"/>
            <a:ext cx="128016" cy="128016"/>
          </a:xfrm>
          <a:prstGeom prst="ellipse">
            <a:avLst/>
          </a:prstGeom>
          <a:solidFill>
            <a:srgbClr val="0D9488">
              <a:alpha val="45000"/>
            </a:srgbClr>
          </a:solidFill>
          <a:ln/>
        </p:spPr>
        <p:txBody>
          <a:bodyPr/>
          <a:lstStyle/>
          <a:p>
            <a:endParaRPr lang="en-US"/>
          </a:p>
        </p:txBody>
      </p:sp>
      <p:sp>
        <p:nvSpPr>
          <p:cNvPr id="8" name="Shape 6"/>
          <p:cNvSpPr/>
          <p:nvPr/>
        </p:nvSpPr>
        <p:spPr>
          <a:xfrm>
            <a:off x="6172200" y="777240"/>
            <a:ext cx="128016" cy="128016"/>
          </a:xfrm>
          <a:prstGeom prst="ellipse">
            <a:avLst/>
          </a:prstGeom>
          <a:solidFill>
            <a:srgbClr val="0D9488">
              <a:alpha val="45000"/>
            </a:srgbClr>
          </a:solidFill>
          <a:ln/>
        </p:spPr>
        <p:txBody>
          <a:bodyPr/>
          <a:lstStyle/>
          <a:p>
            <a:endParaRPr lang="en-US"/>
          </a:p>
        </p:txBody>
      </p:sp>
      <p:sp>
        <p:nvSpPr>
          <p:cNvPr id="9" name="Shape 7"/>
          <p:cNvSpPr/>
          <p:nvPr/>
        </p:nvSpPr>
        <p:spPr>
          <a:xfrm>
            <a:off x="6675120" y="777240"/>
            <a:ext cx="128016" cy="128016"/>
          </a:xfrm>
          <a:prstGeom prst="ellipse">
            <a:avLst/>
          </a:prstGeom>
          <a:solidFill>
            <a:srgbClr val="0D9488">
              <a:alpha val="45000"/>
            </a:srgbClr>
          </a:solidFill>
          <a:ln/>
        </p:spPr>
        <p:txBody>
          <a:bodyPr/>
          <a:lstStyle/>
          <a:p>
            <a:endParaRPr lang="en-US"/>
          </a:p>
        </p:txBody>
      </p:sp>
      <p:sp>
        <p:nvSpPr>
          <p:cNvPr id="10" name="Shape 8"/>
          <p:cNvSpPr/>
          <p:nvPr/>
        </p:nvSpPr>
        <p:spPr>
          <a:xfrm>
            <a:off x="7178040" y="777240"/>
            <a:ext cx="128016" cy="128016"/>
          </a:xfrm>
          <a:prstGeom prst="ellipse">
            <a:avLst/>
          </a:prstGeom>
          <a:solidFill>
            <a:srgbClr val="0D9488">
              <a:alpha val="45000"/>
            </a:srgbClr>
          </a:solidFill>
          <a:ln/>
        </p:spPr>
        <p:txBody>
          <a:bodyPr/>
          <a:lstStyle/>
          <a:p>
            <a:endParaRPr lang="en-US"/>
          </a:p>
        </p:txBody>
      </p:sp>
      <p:sp>
        <p:nvSpPr>
          <p:cNvPr id="11" name="Shape 9"/>
          <p:cNvSpPr/>
          <p:nvPr/>
        </p:nvSpPr>
        <p:spPr>
          <a:xfrm>
            <a:off x="7680960" y="777240"/>
            <a:ext cx="128016" cy="128016"/>
          </a:xfrm>
          <a:prstGeom prst="ellipse">
            <a:avLst/>
          </a:prstGeom>
          <a:solidFill>
            <a:srgbClr val="0D9488">
              <a:alpha val="45000"/>
            </a:srgbClr>
          </a:solidFill>
          <a:ln/>
        </p:spPr>
        <p:txBody>
          <a:bodyPr/>
          <a:lstStyle/>
          <a:p>
            <a:endParaRPr lang="en-US"/>
          </a:p>
        </p:txBody>
      </p:sp>
      <p:sp>
        <p:nvSpPr>
          <p:cNvPr id="12" name="Shape 10"/>
          <p:cNvSpPr/>
          <p:nvPr/>
        </p:nvSpPr>
        <p:spPr>
          <a:xfrm>
            <a:off x="5669280" y="1280160"/>
            <a:ext cx="128016" cy="128016"/>
          </a:xfrm>
          <a:prstGeom prst="ellipse">
            <a:avLst/>
          </a:prstGeom>
          <a:solidFill>
            <a:srgbClr val="0D9488">
              <a:alpha val="45000"/>
            </a:srgbClr>
          </a:solidFill>
          <a:ln/>
        </p:spPr>
        <p:txBody>
          <a:bodyPr/>
          <a:lstStyle/>
          <a:p>
            <a:endParaRPr lang="en-US"/>
          </a:p>
        </p:txBody>
      </p:sp>
      <p:sp>
        <p:nvSpPr>
          <p:cNvPr id="13" name="Shape 11"/>
          <p:cNvSpPr/>
          <p:nvPr/>
        </p:nvSpPr>
        <p:spPr>
          <a:xfrm>
            <a:off x="6172200" y="1280160"/>
            <a:ext cx="128016" cy="128016"/>
          </a:xfrm>
          <a:prstGeom prst="ellipse">
            <a:avLst/>
          </a:prstGeom>
          <a:solidFill>
            <a:srgbClr val="0D9488">
              <a:alpha val="45000"/>
            </a:srgbClr>
          </a:solidFill>
          <a:ln/>
        </p:spPr>
        <p:txBody>
          <a:bodyPr/>
          <a:lstStyle/>
          <a:p>
            <a:endParaRPr lang="en-US"/>
          </a:p>
        </p:txBody>
      </p:sp>
      <p:sp>
        <p:nvSpPr>
          <p:cNvPr id="14" name="Shape 12"/>
          <p:cNvSpPr/>
          <p:nvPr/>
        </p:nvSpPr>
        <p:spPr>
          <a:xfrm>
            <a:off x="6675120" y="1280160"/>
            <a:ext cx="128016" cy="128016"/>
          </a:xfrm>
          <a:prstGeom prst="ellipse">
            <a:avLst/>
          </a:prstGeom>
          <a:solidFill>
            <a:srgbClr val="0D9488">
              <a:alpha val="45000"/>
            </a:srgbClr>
          </a:solidFill>
          <a:ln/>
        </p:spPr>
        <p:txBody>
          <a:bodyPr/>
          <a:lstStyle/>
          <a:p>
            <a:endParaRPr lang="en-US"/>
          </a:p>
        </p:txBody>
      </p:sp>
      <p:sp>
        <p:nvSpPr>
          <p:cNvPr id="15" name="Shape 13"/>
          <p:cNvSpPr/>
          <p:nvPr/>
        </p:nvSpPr>
        <p:spPr>
          <a:xfrm>
            <a:off x="7178040" y="1280160"/>
            <a:ext cx="128016" cy="128016"/>
          </a:xfrm>
          <a:prstGeom prst="ellipse">
            <a:avLst/>
          </a:prstGeom>
          <a:solidFill>
            <a:srgbClr val="0D9488">
              <a:alpha val="45000"/>
            </a:srgbClr>
          </a:solidFill>
          <a:ln/>
        </p:spPr>
        <p:txBody>
          <a:bodyPr/>
          <a:lstStyle/>
          <a:p>
            <a:endParaRPr lang="en-US"/>
          </a:p>
        </p:txBody>
      </p:sp>
      <p:sp>
        <p:nvSpPr>
          <p:cNvPr id="16" name="Shape 14"/>
          <p:cNvSpPr/>
          <p:nvPr/>
        </p:nvSpPr>
        <p:spPr>
          <a:xfrm>
            <a:off x="7680960" y="1280160"/>
            <a:ext cx="128016" cy="128016"/>
          </a:xfrm>
          <a:prstGeom prst="ellipse">
            <a:avLst/>
          </a:prstGeom>
          <a:solidFill>
            <a:srgbClr val="0D9488">
              <a:alpha val="45000"/>
            </a:srgbClr>
          </a:solidFill>
          <a:ln/>
        </p:spPr>
        <p:txBody>
          <a:bodyPr/>
          <a:lstStyle/>
          <a:p>
            <a:endParaRPr lang="en-US"/>
          </a:p>
        </p:txBody>
      </p:sp>
      <p:sp>
        <p:nvSpPr>
          <p:cNvPr id="17" name="Shape 15"/>
          <p:cNvSpPr/>
          <p:nvPr/>
        </p:nvSpPr>
        <p:spPr>
          <a:xfrm>
            <a:off x="457200" y="1691640"/>
            <a:ext cx="594360" cy="594360"/>
          </a:xfrm>
          <a:prstGeom prst="ellipse">
            <a:avLst/>
          </a:prstGeom>
          <a:solidFill>
            <a:srgbClr val="0D9488"/>
          </a:solidFill>
          <a:ln/>
        </p:spPr>
        <p:txBody>
          <a:bodyPr/>
          <a:lstStyle/>
          <a:p>
            <a:endParaRPr lang="en-US"/>
          </a:p>
        </p:txBody>
      </p:sp>
      <p:sp>
        <p:nvSpPr>
          <p:cNvPr id="18" name="Text 16"/>
          <p:cNvSpPr/>
          <p:nvPr/>
        </p:nvSpPr>
        <p:spPr>
          <a:xfrm>
            <a:off x="457200" y="169164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rPr>
              <a:t>5</a:t>
            </a:r>
            <a:endParaRPr lang="en-US" sz="2000" dirty="0"/>
          </a:p>
        </p:txBody>
      </p:sp>
      <p:sp>
        <p:nvSpPr>
          <p:cNvPr id="19" name="Text 17"/>
          <p:cNvSpPr/>
          <p:nvPr/>
        </p:nvSpPr>
        <p:spPr>
          <a:xfrm>
            <a:off x="1234440" y="1600200"/>
            <a:ext cx="7406640" cy="822960"/>
          </a:xfrm>
          <a:prstGeom prst="rect">
            <a:avLst/>
          </a:prstGeom>
          <a:noFill/>
          <a:ln/>
        </p:spPr>
        <p:txBody>
          <a:bodyPr wrap="square"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Reflections</a:t>
            </a:r>
            <a:endParaRPr lang="en-US" sz="4200" dirty="0"/>
          </a:p>
        </p:txBody>
      </p:sp>
      <p:sp>
        <p:nvSpPr>
          <p:cNvPr id="20" name="Text 18"/>
          <p:cNvSpPr/>
          <p:nvPr/>
        </p:nvSpPr>
        <p:spPr>
          <a:xfrm>
            <a:off x="1234440" y="2468880"/>
            <a:ext cx="7406640" cy="502920"/>
          </a:xfrm>
          <a:prstGeom prst="rect">
            <a:avLst/>
          </a:prstGeom>
          <a:noFill/>
          <a:ln/>
        </p:spPr>
        <p:txBody>
          <a:bodyPr wrap="square" rtlCol="0" anchor="ctr"/>
          <a:lstStyle/>
          <a:p>
            <a:pPr marL="0" indent="0">
              <a:buNone/>
            </a:pPr>
            <a:r>
              <a:rPr lang="en-US" sz="1700" i="1" dirty="0">
                <a:solidFill>
                  <a:srgbClr val="CCEFED"/>
                </a:solidFill>
                <a:latin typeface="Calibri" pitchFamily="34" charset="0"/>
                <a:ea typeface="Calibri" pitchFamily="34" charset="-122"/>
                <a:cs typeface="Calibri" pitchFamily="34" charset="-120"/>
              </a:rPr>
              <a:t>What worked, what surprised us, and what's next</a:t>
            </a:r>
            <a:endParaRPr lang="en-US" sz="1700" dirty="0"/>
          </a:p>
        </p:txBody>
      </p:sp>
      <p:sp>
        <p:nvSpPr>
          <p:cNvPr id="21" name="Shape 19"/>
          <p:cNvSpPr/>
          <p:nvPr/>
        </p:nvSpPr>
        <p:spPr>
          <a:xfrm>
            <a:off x="457200" y="4572000"/>
            <a:ext cx="8229600" cy="36576"/>
          </a:xfrm>
          <a:prstGeom prst="rect">
            <a:avLst/>
          </a:prstGeom>
          <a:solidFill>
            <a:srgbClr val="0D9488">
              <a:alpha val="60000"/>
            </a:srgbClr>
          </a:solidFill>
          <a:ln/>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2800" b="1" dirty="0">
                <a:solidFill>
                  <a:srgbClr val="1B2E4B"/>
                </a:solidFill>
                <a:latin typeface="Georgia" pitchFamily="34" charset="0"/>
                <a:ea typeface="Georgia" pitchFamily="34" charset="-122"/>
                <a:cs typeface="Georgia" pitchFamily="34" charset="-120"/>
              </a:rPr>
              <a:t>What Worked · What Surprised Us</a:t>
            </a:r>
            <a:endParaRPr lang="en-US" sz="2800" dirty="0"/>
          </a:p>
        </p:txBody>
      </p:sp>
      <p:sp>
        <p:nvSpPr>
          <p:cNvPr id="3" name="Shape 1"/>
          <p:cNvSpPr/>
          <p:nvPr/>
        </p:nvSpPr>
        <p:spPr>
          <a:xfrm>
            <a:off x="457200" y="914400"/>
            <a:ext cx="3977640" cy="393192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4" name="Shape 2"/>
          <p:cNvSpPr/>
          <p:nvPr/>
        </p:nvSpPr>
        <p:spPr>
          <a:xfrm>
            <a:off x="457200" y="914400"/>
            <a:ext cx="3977640" cy="64008"/>
          </a:xfrm>
          <a:prstGeom prst="rect">
            <a:avLst/>
          </a:prstGeom>
          <a:solidFill>
            <a:srgbClr val="0D9488"/>
          </a:solidFill>
          <a:ln/>
        </p:spPr>
        <p:txBody>
          <a:bodyPr/>
          <a:lstStyle/>
          <a:p>
            <a:endParaRPr lang="en-US"/>
          </a:p>
        </p:txBody>
      </p:sp>
      <p:sp>
        <p:nvSpPr>
          <p:cNvPr id="5" name="Text 3"/>
          <p:cNvSpPr/>
          <p:nvPr/>
        </p:nvSpPr>
        <p:spPr>
          <a:xfrm>
            <a:off x="594360" y="1005840"/>
            <a:ext cx="3703320" cy="384048"/>
          </a:xfrm>
          <a:prstGeom prst="rect">
            <a:avLst/>
          </a:prstGeom>
          <a:noFill/>
          <a:ln/>
        </p:spPr>
        <p:txBody>
          <a:bodyPr wrap="square" rtlCol="0" anchor="ctr"/>
          <a:lstStyle/>
          <a:p>
            <a:pPr marL="0" indent="0">
              <a:buNone/>
            </a:pPr>
            <a:r>
              <a:rPr lang="en-US" sz="1400" b="1" dirty="0">
                <a:solidFill>
                  <a:srgbClr val="0D9488"/>
                </a:solidFill>
                <a:latin typeface="Georgia" pitchFamily="34" charset="0"/>
                <a:ea typeface="Georgia" pitchFamily="34" charset="-122"/>
                <a:cs typeface="Georgia" pitchFamily="34" charset="-120"/>
              </a:rPr>
              <a:t>✓  What Worked Well</a:t>
            </a:r>
            <a:endParaRPr lang="en-US" sz="1400" dirty="0"/>
          </a:p>
        </p:txBody>
      </p:sp>
      <p:sp>
        <p:nvSpPr>
          <p:cNvPr id="6" name="Text 4"/>
          <p:cNvSpPr/>
          <p:nvPr/>
        </p:nvSpPr>
        <p:spPr>
          <a:xfrm>
            <a:off x="594360" y="1481328"/>
            <a:ext cx="3703320" cy="576072"/>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  Speed: full 15-step pipeline in 4 sessions — ~1 week</a:t>
            </a:r>
            <a:endParaRPr lang="en-US" sz="1150" dirty="0"/>
          </a:p>
        </p:txBody>
      </p:sp>
      <p:sp>
        <p:nvSpPr>
          <p:cNvPr id="7" name="Text 5"/>
          <p:cNvSpPr/>
          <p:nvPr/>
        </p:nvSpPr>
        <p:spPr>
          <a:xfrm>
            <a:off x="594360" y="2121408"/>
            <a:ext cx="3703320" cy="576072"/>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  Code quality: 15 regression tests, integrity checker, resumable at every step</a:t>
            </a:r>
            <a:endParaRPr lang="en-US" sz="1150" dirty="0"/>
          </a:p>
        </p:txBody>
      </p:sp>
      <p:sp>
        <p:nvSpPr>
          <p:cNvPr id="8" name="Text 6"/>
          <p:cNvSpPr/>
          <p:nvPr/>
        </p:nvSpPr>
        <p:spPr>
          <a:xfrm>
            <a:off x="594360" y="2761488"/>
            <a:ext cx="3703320" cy="576072"/>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  Documentation: methodology, decisions, changelog — all written by Claude</a:t>
            </a:r>
            <a:endParaRPr lang="en-US" sz="1150" dirty="0"/>
          </a:p>
        </p:txBody>
      </p:sp>
      <p:sp>
        <p:nvSpPr>
          <p:cNvPr id="9" name="Text 7"/>
          <p:cNvSpPr/>
          <p:nvPr/>
        </p:nvSpPr>
        <p:spPr>
          <a:xfrm>
            <a:off x="594360" y="3401568"/>
            <a:ext cx="3703320" cy="576072"/>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  Domain adaptation: cybernetics whitelist, 262 name-merge rules, NER audit</a:t>
            </a:r>
            <a:endParaRPr lang="en-US" sz="1150" dirty="0"/>
          </a:p>
        </p:txBody>
      </p:sp>
      <p:sp>
        <p:nvSpPr>
          <p:cNvPr id="10" name="Text 8"/>
          <p:cNvSpPr/>
          <p:nvPr/>
        </p:nvSpPr>
        <p:spPr>
          <a:xfrm>
            <a:off x="594360" y="4041648"/>
            <a:ext cx="3703320" cy="576072"/>
          </a:xfrm>
          <a:prstGeom prst="rect">
            <a:avLst/>
          </a:prstGeom>
          <a:noFill/>
          <a:ln/>
        </p:spPr>
        <p:txBody>
          <a:bodyPr wrap="square" rtlCol="0" anchor="t"/>
          <a:lstStyle/>
          <a:p>
            <a:pPr marL="0" indent="0">
              <a:buNone/>
            </a:pPr>
            <a:r>
              <a:rPr lang="en-US" sz="1150" dirty="0">
                <a:solidFill>
                  <a:srgbClr val="1E293B"/>
                </a:solidFill>
                <a:latin typeface="Calibri" pitchFamily="34" charset="0"/>
                <a:ea typeface="Calibri" pitchFamily="34" charset="-122"/>
                <a:cs typeface="Calibri" pitchFamily="34" charset="-120"/>
              </a:rPr>
              <a:t>·  Iterative co-design: Paul shaped questions; Claude coded answers</a:t>
            </a:r>
            <a:endParaRPr lang="en-US" sz="1150" dirty="0"/>
          </a:p>
        </p:txBody>
      </p:sp>
      <p:sp>
        <p:nvSpPr>
          <p:cNvPr id="11" name="Shape 9"/>
          <p:cNvSpPr/>
          <p:nvPr/>
        </p:nvSpPr>
        <p:spPr>
          <a:xfrm>
            <a:off x="4663440" y="914400"/>
            <a:ext cx="4023360" cy="3931920"/>
          </a:xfrm>
          <a:prstGeom prst="rect">
            <a:avLst/>
          </a:prstGeom>
          <a:solidFill>
            <a:srgbClr val="1B2E4B"/>
          </a:solidFill>
          <a:ln/>
          <a:effectLst>
            <a:outerShdw blurRad="101600" dist="25400" dir="8100000" algn="bl" rotWithShape="0">
              <a:srgbClr val="000000">
                <a:alpha val="11000"/>
              </a:srgbClr>
            </a:outerShdw>
          </a:effectLst>
        </p:spPr>
        <p:txBody>
          <a:bodyPr/>
          <a:lstStyle/>
          <a:p>
            <a:endParaRPr lang="en-US"/>
          </a:p>
        </p:txBody>
      </p:sp>
      <p:sp>
        <p:nvSpPr>
          <p:cNvPr id="12" name="Text 10"/>
          <p:cNvSpPr/>
          <p:nvPr/>
        </p:nvSpPr>
        <p:spPr>
          <a:xfrm>
            <a:off x="4800600" y="1005840"/>
            <a:ext cx="3749040" cy="384048"/>
          </a:xfrm>
          <a:prstGeom prst="rect">
            <a:avLst/>
          </a:prstGeom>
          <a:noFill/>
          <a:ln/>
        </p:spPr>
        <p:txBody>
          <a:bodyPr wrap="square" rtlCol="0" anchor="ctr"/>
          <a:lstStyle/>
          <a:p>
            <a:pPr marL="0" indent="0">
              <a:buNone/>
            </a:pPr>
            <a:r>
              <a:rPr lang="en-US" sz="1400" b="1" dirty="0">
                <a:solidFill>
                  <a:srgbClr val="F59E0B"/>
                </a:solidFill>
                <a:latin typeface="Georgia" pitchFamily="34" charset="0"/>
                <a:ea typeface="Georgia" pitchFamily="34" charset="-122"/>
                <a:cs typeface="Georgia" pitchFamily="34" charset="-120"/>
              </a:rPr>
              <a:t>!  Surprises &amp; Limitations</a:t>
            </a:r>
            <a:endParaRPr lang="en-US" sz="1400" dirty="0"/>
          </a:p>
        </p:txBody>
      </p:sp>
      <p:sp>
        <p:nvSpPr>
          <p:cNvPr id="13" name="Text 11"/>
          <p:cNvSpPr/>
          <p:nvPr/>
        </p:nvSpPr>
        <p:spPr>
          <a:xfrm>
            <a:off x="4800600" y="1481328"/>
            <a:ext cx="3749040" cy="576072"/>
          </a:xfrm>
          <a:prstGeom prst="rect">
            <a:avLst/>
          </a:prstGeom>
          <a:noFill/>
          <a:ln/>
        </p:spPr>
        <p:txBody>
          <a:bodyPr wrap="square" rtlCol="0" anchor="t"/>
          <a:lstStyle/>
          <a:p>
            <a:pPr marL="0" indent="0">
              <a:buNone/>
            </a:pPr>
            <a:r>
              <a:rPr lang="en-US" sz="1150" dirty="0">
                <a:solidFill>
                  <a:srgbClr val="E2E8F0"/>
                </a:solidFill>
                <a:latin typeface="Calibri" pitchFamily="34" charset="0"/>
                <a:ea typeface="Calibri" pitchFamily="34" charset="-122"/>
                <a:cs typeface="Calibri" pitchFamily="34" charset="-120"/>
              </a:rPr>
              <a:t>·  Entity classifier needed 121 manual overrides after automated passes</a:t>
            </a:r>
            <a:endParaRPr lang="en-US" sz="1150" dirty="0"/>
          </a:p>
        </p:txBody>
      </p:sp>
      <p:sp>
        <p:nvSpPr>
          <p:cNvPr id="14" name="Text 12"/>
          <p:cNvSpPr/>
          <p:nvPr/>
        </p:nvSpPr>
        <p:spPr>
          <a:xfrm>
            <a:off x="4800600" y="2121408"/>
            <a:ext cx="3749040" cy="576072"/>
          </a:xfrm>
          <a:prstGeom prst="rect">
            <a:avLst/>
          </a:prstGeom>
          <a:noFill/>
          <a:ln/>
        </p:spPr>
        <p:txBody>
          <a:bodyPr wrap="square" rtlCol="0" anchor="t"/>
          <a:lstStyle/>
          <a:p>
            <a:pPr marL="0" indent="0">
              <a:buNone/>
            </a:pPr>
            <a:r>
              <a:rPr lang="en-US" sz="1150" dirty="0">
                <a:solidFill>
                  <a:srgbClr val="E2E8F0"/>
                </a:solidFill>
                <a:latin typeface="Calibri" pitchFamily="34" charset="0"/>
                <a:ea typeface="Calibri" pitchFamily="34" charset="-122"/>
                <a:cs typeface="Calibri" pitchFamily="34" charset="-120"/>
              </a:rPr>
              <a:t>·  OCR line-break hyphens ('feed-\nback') were a significant noise source</a:t>
            </a:r>
            <a:endParaRPr lang="en-US" sz="1150" dirty="0"/>
          </a:p>
        </p:txBody>
      </p:sp>
      <p:sp>
        <p:nvSpPr>
          <p:cNvPr id="15" name="Text 13"/>
          <p:cNvSpPr/>
          <p:nvPr/>
        </p:nvSpPr>
        <p:spPr>
          <a:xfrm>
            <a:off x="4800600" y="2761488"/>
            <a:ext cx="3749040" cy="576072"/>
          </a:xfrm>
          <a:prstGeom prst="rect">
            <a:avLst/>
          </a:prstGeom>
          <a:noFill/>
          <a:ln/>
        </p:spPr>
        <p:txBody>
          <a:bodyPr wrap="square" rtlCol="0" anchor="t"/>
          <a:lstStyle/>
          <a:p>
            <a:pPr marL="0" indent="0">
              <a:buNone/>
            </a:pPr>
            <a:r>
              <a:rPr lang="en-US" sz="1150" dirty="0">
                <a:solidFill>
                  <a:srgbClr val="E2E8F0"/>
                </a:solidFill>
                <a:latin typeface="Calibri" pitchFamily="34" charset="0"/>
                <a:ea typeface="Calibri" pitchFamily="34" charset="-122"/>
                <a:cs typeface="Calibri" pitchFamily="34" charset="-120"/>
              </a:rPr>
              <a:t>·  Topic stability held across 4 random seeds — unexpectedly robust</a:t>
            </a:r>
            <a:endParaRPr lang="en-US" sz="1150" dirty="0"/>
          </a:p>
        </p:txBody>
      </p:sp>
      <p:sp>
        <p:nvSpPr>
          <p:cNvPr id="16" name="Text 14"/>
          <p:cNvSpPr/>
          <p:nvPr/>
        </p:nvSpPr>
        <p:spPr>
          <a:xfrm>
            <a:off x="4800600" y="3401568"/>
            <a:ext cx="3749040" cy="576072"/>
          </a:xfrm>
          <a:prstGeom prst="rect">
            <a:avLst/>
          </a:prstGeom>
          <a:noFill/>
          <a:ln/>
        </p:spPr>
        <p:txBody>
          <a:bodyPr wrap="square" rtlCol="0" anchor="t"/>
          <a:lstStyle/>
          <a:p>
            <a:pPr marL="0" indent="0">
              <a:buNone/>
            </a:pPr>
            <a:r>
              <a:rPr lang="en-US" sz="1150" dirty="0">
                <a:solidFill>
                  <a:srgbClr val="E2E8F0"/>
                </a:solidFill>
                <a:latin typeface="Calibri" pitchFamily="34" charset="0"/>
                <a:ea typeface="Calibri" pitchFamily="34" charset="-122"/>
                <a:cs typeface="Calibri" pitchFamily="34" charset="-120"/>
              </a:rPr>
              <a:t>·  Wikidata API added genuine disambiguation for ambiguous names</a:t>
            </a:r>
            <a:endParaRPr lang="en-US" sz="1150" dirty="0"/>
          </a:p>
        </p:txBody>
      </p:sp>
      <p:sp>
        <p:nvSpPr>
          <p:cNvPr id="17" name="Text 15"/>
          <p:cNvSpPr/>
          <p:nvPr/>
        </p:nvSpPr>
        <p:spPr>
          <a:xfrm>
            <a:off x="4800600" y="4041648"/>
            <a:ext cx="3749040" cy="576072"/>
          </a:xfrm>
          <a:prstGeom prst="rect">
            <a:avLst/>
          </a:prstGeom>
          <a:noFill/>
          <a:ln/>
        </p:spPr>
        <p:txBody>
          <a:bodyPr wrap="square" rtlCol="0" anchor="t"/>
          <a:lstStyle/>
          <a:p>
            <a:pPr marL="0" indent="0">
              <a:buNone/>
            </a:pPr>
            <a:r>
              <a:rPr lang="en-US" sz="1150" dirty="0">
                <a:solidFill>
                  <a:srgbClr val="E2E8F0"/>
                </a:solidFill>
                <a:latin typeface="Calibri" pitchFamily="34" charset="0"/>
                <a:ea typeface="Calibri" pitchFamily="34" charset="-122"/>
                <a:cs typeface="Calibri" pitchFamily="34" charset="-120"/>
              </a:rPr>
              <a:t>·  17 API summaries failed verbatim-similarity checks — needed regeneration</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marL="0" indent="0">
              <a:buNone/>
            </a:pPr>
            <a:r>
              <a:rPr lang="en-US" sz="3000" b="1" dirty="0">
                <a:solidFill>
                  <a:srgbClr val="1B2E4B"/>
                </a:solidFill>
                <a:latin typeface="Georgia" pitchFamily="34" charset="0"/>
                <a:ea typeface="Georgia" pitchFamily="34" charset="-122"/>
                <a:cs typeface="Georgia" pitchFamily="34" charset="-120"/>
              </a:rPr>
              <a:t>What's Next</a:t>
            </a:r>
            <a:endParaRPr lang="en-US" sz="3000" dirty="0"/>
          </a:p>
        </p:txBody>
      </p:sp>
      <p:sp>
        <p:nvSpPr>
          <p:cNvPr id="3" name="Shape 1"/>
          <p:cNvSpPr/>
          <p:nvPr/>
        </p:nvSpPr>
        <p:spPr>
          <a:xfrm>
            <a:off x="457200" y="914400"/>
            <a:ext cx="2651760" cy="393192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4" name="Shape 2"/>
          <p:cNvSpPr/>
          <p:nvPr/>
        </p:nvSpPr>
        <p:spPr>
          <a:xfrm>
            <a:off x="457200" y="914400"/>
            <a:ext cx="2651760" cy="475488"/>
          </a:xfrm>
          <a:prstGeom prst="rect">
            <a:avLst/>
          </a:prstGeom>
          <a:solidFill>
            <a:srgbClr val="0D9488"/>
          </a:solidFill>
          <a:ln/>
        </p:spPr>
        <p:txBody>
          <a:bodyPr/>
          <a:lstStyle/>
          <a:p>
            <a:endParaRPr lang="en-US"/>
          </a:p>
        </p:txBody>
      </p:sp>
      <p:sp>
        <p:nvSpPr>
          <p:cNvPr id="5" name="Text 3"/>
          <p:cNvSpPr/>
          <p:nvPr/>
        </p:nvSpPr>
        <p:spPr>
          <a:xfrm>
            <a:off x="548640" y="914400"/>
            <a:ext cx="2468880" cy="475488"/>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Immediately</a:t>
            </a:r>
            <a:endParaRPr lang="en-US" sz="1400" dirty="0"/>
          </a:p>
        </p:txBody>
      </p:sp>
      <p:sp>
        <p:nvSpPr>
          <p:cNvPr id="6" name="Text 4"/>
          <p:cNvSpPr/>
          <p:nvPr/>
        </p:nvSpPr>
        <p:spPr>
          <a:xfrm>
            <a:off x="548640" y="1481328"/>
            <a:ext cx="2468880" cy="594360"/>
          </a:xfrm>
          <a:prstGeom prst="rect">
            <a:avLst/>
          </a:prstGeom>
          <a:noFill/>
          <a:ln/>
        </p:spPr>
        <p:txBody>
          <a:bodyPr wrap="square" rtlCol="0" anchor="t"/>
          <a:lstStyle/>
          <a:p>
            <a:pPr marL="0" indent="0">
              <a:buNone/>
            </a:pPr>
            <a:r>
              <a:rPr lang="en-US" sz="1200" b="1" dirty="0">
                <a:solidFill>
                  <a:srgbClr val="0D9488"/>
                </a:solidFill>
                <a:latin typeface="Calibri" pitchFamily="34" charset="0"/>
                <a:ea typeface="Calibri" pitchFamily="34" charset="-122"/>
                <a:cs typeface="Calibri" pitchFamily="34" charset="-120"/>
              </a:rPr>
              <a:t xml:space="preserve">→  </a:t>
            </a:r>
            <a:r>
              <a:rPr lang="en-US" sz="1200" dirty="0">
                <a:solidFill>
                  <a:srgbClr val="1E293B"/>
                </a:solidFill>
                <a:latin typeface="Calibri" pitchFamily="34" charset="0"/>
                <a:ea typeface="Calibri" pitchFamily="34" charset="-122"/>
                <a:cs typeface="Calibri" pitchFamily="34" charset="-120"/>
              </a:rPr>
              <a:t>Data quality: filter entity noise (OCR artefacts, suffix fragments)</a:t>
            </a:r>
            <a:endParaRPr lang="en-US" sz="1200" dirty="0"/>
          </a:p>
        </p:txBody>
      </p:sp>
      <p:sp>
        <p:nvSpPr>
          <p:cNvPr id="7" name="Text 5"/>
          <p:cNvSpPr/>
          <p:nvPr/>
        </p:nvSpPr>
        <p:spPr>
          <a:xfrm>
            <a:off x="548640" y="2139696"/>
            <a:ext cx="2468880" cy="594360"/>
          </a:xfrm>
          <a:prstGeom prst="rect">
            <a:avLst/>
          </a:prstGeom>
          <a:noFill/>
          <a:ln/>
        </p:spPr>
        <p:txBody>
          <a:bodyPr wrap="square" rtlCol="0" anchor="t"/>
          <a:lstStyle/>
          <a:p>
            <a:pPr marL="0" indent="0">
              <a:buNone/>
            </a:pPr>
            <a:r>
              <a:rPr lang="en-US" sz="1200" b="1" dirty="0">
                <a:solidFill>
                  <a:srgbClr val="0D9488"/>
                </a:solidFill>
                <a:latin typeface="Calibri" pitchFamily="34" charset="0"/>
                <a:ea typeface="Calibri" pitchFamily="34" charset="-122"/>
                <a:cs typeface="Calibri" pitchFamily="34" charset="-120"/>
              </a:rPr>
              <a:t xml:space="preserve">→  </a:t>
            </a:r>
            <a:r>
              <a:rPr lang="en-US" sz="1200" dirty="0">
                <a:solidFill>
                  <a:srgbClr val="1E293B"/>
                </a:solidFill>
                <a:latin typeface="Calibri" pitchFamily="34" charset="0"/>
                <a:ea typeface="Calibri" pitchFamily="34" charset="-122"/>
                <a:cs typeface="Calibri" pitchFamily="34" charset="-120"/>
              </a:rPr>
              <a:t>Document unit decision: proceedings &amp; anthology exclusion policy</a:t>
            </a:r>
            <a:endParaRPr lang="en-US" sz="1200" dirty="0"/>
          </a:p>
        </p:txBody>
      </p:sp>
      <p:sp>
        <p:nvSpPr>
          <p:cNvPr id="8" name="Text 6"/>
          <p:cNvSpPr/>
          <p:nvPr/>
        </p:nvSpPr>
        <p:spPr>
          <a:xfrm>
            <a:off x="548640" y="2798064"/>
            <a:ext cx="2468880" cy="594360"/>
          </a:xfrm>
          <a:prstGeom prst="rect">
            <a:avLst/>
          </a:prstGeom>
          <a:noFill/>
          <a:ln/>
        </p:spPr>
        <p:txBody>
          <a:bodyPr wrap="square" rtlCol="0" anchor="t"/>
          <a:lstStyle/>
          <a:p>
            <a:pPr marL="0" indent="0">
              <a:buNone/>
            </a:pPr>
            <a:r>
              <a:rPr lang="en-US" sz="1200" b="1" dirty="0">
                <a:solidFill>
                  <a:srgbClr val="0D9488"/>
                </a:solidFill>
                <a:latin typeface="Calibri" pitchFamily="34" charset="0"/>
                <a:ea typeface="Calibri" pitchFamily="34" charset="-122"/>
                <a:cs typeface="Calibri" pitchFamily="34" charset="-120"/>
              </a:rPr>
              <a:t xml:space="preserve">→  </a:t>
            </a:r>
            <a:r>
              <a:rPr lang="en-US" sz="1200" dirty="0">
                <a:solidFill>
                  <a:srgbClr val="1E293B"/>
                </a:solidFill>
                <a:latin typeface="Calibri" pitchFamily="34" charset="0"/>
                <a:ea typeface="Calibri" pitchFamily="34" charset="-122"/>
                <a:cs typeface="Calibri" pitchFamily="34" charset="-120"/>
              </a:rPr>
              <a:t>Regenerate 17 missing summaries</a:t>
            </a:r>
            <a:endParaRPr lang="en-US" sz="1200" dirty="0"/>
          </a:p>
        </p:txBody>
      </p:sp>
      <p:sp>
        <p:nvSpPr>
          <p:cNvPr id="9" name="Text 7"/>
          <p:cNvSpPr/>
          <p:nvPr/>
        </p:nvSpPr>
        <p:spPr>
          <a:xfrm>
            <a:off x="548640" y="3456432"/>
            <a:ext cx="2468880" cy="594360"/>
          </a:xfrm>
          <a:prstGeom prst="rect">
            <a:avLst/>
          </a:prstGeom>
          <a:noFill/>
          <a:ln/>
        </p:spPr>
        <p:txBody>
          <a:bodyPr wrap="square" rtlCol="0" anchor="t"/>
          <a:lstStyle/>
          <a:p>
            <a:pPr marL="0" indent="0">
              <a:buNone/>
            </a:pPr>
            <a:r>
              <a:rPr lang="en-US" sz="1200" b="1" dirty="0">
                <a:solidFill>
                  <a:srgbClr val="0D9488"/>
                </a:solidFill>
                <a:latin typeface="Calibri" pitchFamily="34" charset="0"/>
                <a:ea typeface="Calibri" pitchFamily="34" charset="-122"/>
                <a:cs typeface="Calibri" pitchFamily="34" charset="-120"/>
              </a:rPr>
              <a:t xml:space="preserve">→  </a:t>
            </a:r>
            <a:r>
              <a:rPr lang="en-US" sz="1200" dirty="0">
                <a:solidFill>
                  <a:srgbClr val="1E293B"/>
                </a:solidFill>
                <a:latin typeface="Calibri" pitchFamily="34" charset="0"/>
                <a:ea typeface="Calibri" pitchFamily="34" charset="-122"/>
                <a:cs typeface="Calibri" pitchFamily="34" charset="-120"/>
              </a:rPr>
              <a:t>Full spaCy + Wikidata entity pass</a:t>
            </a:r>
            <a:endParaRPr lang="en-US" sz="1200" dirty="0"/>
          </a:p>
        </p:txBody>
      </p:sp>
      <p:sp>
        <p:nvSpPr>
          <p:cNvPr id="10" name="Shape 8"/>
          <p:cNvSpPr/>
          <p:nvPr/>
        </p:nvSpPr>
        <p:spPr>
          <a:xfrm>
            <a:off x="3319272" y="914400"/>
            <a:ext cx="2651760" cy="393192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1" name="Shape 9"/>
          <p:cNvSpPr/>
          <p:nvPr/>
        </p:nvSpPr>
        <p:spPr>
          <a:xfrm>
            <a:off x="3319272" y="914400"/>
            <a:ext cx="2651760" cy="475488"/>
          </a:xfrm>
          <a:prstGeom prst="rect">
            <a:avLst/>
          </a:prstGeom>
          <a:solidFill>
            <a:srgbClr val="1D4ED8"/>
          </a:solidFill>
          <a:ln/>
        </p:spPr>
        <p:txBody>
          <a:bodyPr/>
          <a:lstStyle/>
          <a:p>
            <a:endParaRPr lang="en-US"/>
          </a:p>
        </p:txBody>
      </p:sp>
      <p:sp>
        <p:nvSpPr>
          <p:cNvPr id="12" name="Text 10"/>
          <p:cNvSpPr/>
          <p:nvPr/>
        </p:nvSpPr>
        <p:spPr>
          <a:xfrm>
            <a:off x="3410712" y="914400"/>
            <a:ext cx="2468880" cy="475488"/>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Phase 2 — Analysis</a:t>
            </a:r>
            <a:endParaRPr lang="en-US" sz="1400" dirty="0"/>
          </a:p>
        </p:txBody>
      </p:sp>
      <p:sp>
        <p:nvSpPr>
          <p:cNvPr id="13" name="Text 11"/>
          <p:cNvSpPr/>
          <p:nvPr/>
        </p:nvSpPr>
        <p:spPr>
          <a:xfrm>
            <a:off x="3410712" y="1481328"/>
            <a:ext cx="2468880" cy="594360"/>
          </a:xfrm>
          <a:prstGeom prst="rect">
            <a:avLst/>
          </a:prstGeom>
          <a:noFill/>
          <a:ln/>
        </p:spPr>
        <p:txBody>
          <a:bodyPr wrap="square" rtlCol="0" anchor="t"/>
          <a:lstStyle/>
          <a:p>
            <a:pPr marL="0" indent="0">
              <a:buNone/>
            </a:pPr>
            <a:r>
              <a:rPr lang="en-US" sz="1200" b="1" dirty="0">
                <a:solidFill>
                  <a:srgbClr val="1D4ED8"/>
                </a:solidFill>
                <a:latin typeface="Calibri" pitchFamily="34" charset="0"/>
                <a:ea typeface="Calibri" pitchFamily="34" charset="-122"/>
                <a:cs typeface="Calibri" pitchFamily="34" charset="-120"/>
              </a:rPr>
              <a:t xml:space="preserve">→  </a:t>
            </a:r>
            <a:r>
              <a:rPr lang="en-US" sz="1200" dirty="0">
                <a:solidFill>
                  <a:srgbClr val="1E293B"/>
                </a:solidFill>
                <a:latin typeface="Calibri" pitchFamily="34" charset="0"/>
                <a:ea typeface="Calibri" pitchFamily="34" charset="-122"/>
                <a:cs typeface="Calibri" pitchFamily="34" charset="-120"/>
              </a:rPr>
              <a:t>PhD theses corpus: same pipeline on ~1,300 cybernetics dissertations</a:t>
            </a:r>
            <a:endParaRPr lang="en-US" sz="1200" dirty="0"/>
          </a:p>
        </p:txBody>
      </p:sp>
      <p:sp>
        <p:nvSpPr>
          <p:cNvPr id="14" name="Text 12"/>
          <p:cNvSpPr/>
          <p:nvPr/>
        </p:nvSpPr>
        <p:spPr>
          <a:xfrm>
            <a:off x="3410712" y="2139696"/>
            <a:ext cx="2468880" cy="594360"/>
          </a:xfrm>
          <a:prstGeom prst="rect">
            <a:avLst/>
          </a:prstGeom>
          <a:noFill/>
          <a:ln/>
        </p:spPr>
        <p:txBody>
          <a:bodyPr wrap="square" rtlCol="0" anchor="t"/>
          <a:lstStyle/>
          <a:p>
            <a:pPr marL="0" indent="0">
              <a:buNone/>
            </a:pPr>
            <a:r>
              <a:rPr lang="en-US" sz="1200" b="1" dirty="0">
                <a:solidFill>
                  <a:srgbClr val="1D4ED8"/>
                </a:solidFill>
                <a:latin typeface="Calibri" pitchFamily="34" charset="0"/>
                <a:ea typeface="Calibri" pitchFamily="34" charset="-122"/>
                <a:cs typeface="Calibri" pitchFamily="34" charset="-120"/>
              </a:rPr>
              <a:t xml:space="preserve">→  </a:t>
            </a:r>
            <a:r>
              <a:rPr lang="en-US" sz="1200" dirty="0">
                <a:solidFill>
                  <a:srgbClr val="1E293B"/>
                </a:solidFill>
                <a:latin typeface="Calibri" pitchFamily="34" charset="0"/>
                <a:ea typeface="Calibri" pitchFamily="34" charset="-122"/>
                <a:cs typeface="Calibri" pitchFamily="34" charset="-120"/>
              </a:rPr>
              <a:t>Events analysis (conferences, milestones)</a:t>
            </a:r>
            <a:endParaRPr lang="en-US" sz="1200" dirty="0"/>
          </a:p>
        </p:txBody>
      </p:sp>
      <p:sp>
        <p:nvSpPr>
          <p:cNvPr id="15" name="Text 13"/>
          <p:cNvSpPr/>
          <p:nvPr/>
        </p:nvSpPr>
        <p:spPr>
          <a:xfrm>
            <a:off x="3410712" y="2798064"/>
            <a:ext cx="2468880" cy="594360"/>
          </a:xfrm>
          <a:prstGeom prst="rect">
            <a:avLst/>
          </a:prstGeom>
          <a:noFill/>
          <a:ln/>
        </p:spPr>
        <p:txBody>
          <a:bodyPr wrap="square" rtlCol="0" anchor="t"/>
          <a:lstStyle/>
          <a:p>
            <a:pPr marL="0" indent="0">
              <a:buNone/>
            </a:pPr>
            <a:r>
              <a:rPr lang="en-US" sz="1200" b="1" dirty="0">
                <a:solidFill>
                  <a:srgbClr val="1D4ED8"/>
                </a:solidFill>
                <a:latin typeface="Calibri" pitchFamily="34" charset="0"/>
                <a:ea typeface="Calibri" pitchFamily="34" charset="-122"/>
                <a:cs typeface="Calibri" pitchFamily="34" charset="-120"/>
              </a:rPr>
              <a:t xml:space="preserve">→  </a:t>
            </a:r>
            <a:r>
              <a:rPr lang="en-US" sz="1200" dirty="0">
                <a:solidFill>
                  <a:srgbClr val="1E293B"/>
                </a:solidFill>
                <a:latin typeface="Calibri" pitchFamily="34" charset="0"/>
                <a:ea typeface="Calibri" pitchFamily="34" charset="-122"/>
                <a:cs typeface="Calibri" pitchFamily="34" charset="-120"/>
              </a:rPr>
              <a:t>Co-citation network from bibliographies</a:t>
            </a:r>
            <a:endParaRPr lang="en-US" sz="1200" dirty="0"/>
          </a:p>
        </p:txBody>
      </p:sp>
      <p:sp>
        <p:nvSpPr>
          <p:cNvPr id="16" name="Text 14"/>
          <p:cNvSpPr/>
          <p:nvPr/>
        </p:nvSpPr>
        <p:spPr>
          <a:xfrm>
            <a:off x="3410712" y="3456432"/>
            <a:ext cx="2468880" cy="594360"/>
          </a:xfrm>
          <a:prstGeom prst="rect">
            <a:avLst/>
          </a:prstGeom>
          <a:noFill/>
          <a:ln/>
        </p:spPr>
        <p:txBody>
          <a:bodyPr wrap="square" rtlCol="0" anchor="t"/>
          <a:lstStyle/>
          <a:p>
            <a:pPr marL="0" indent="0">
              <a:buNone/>
            </a:pPr>
            <a:r>
              <a:rPr lang="en-US" sz="1200" b="1" dirty="0">
                <a:solidFill>
                  <a:srgbClr val="1D4ED8"/>
                </a:solidFill>
                <a:latin typeface="Calibri" pitchFamily="34" charset="0"/>
                <a:ea typeface="Calibri" pitchFamily="34" charset="-122"/>
                <a:cs typeface="Calibri" pitchFamily="34" charset="-120"/>
              </a:rPr>
              <a:t xml:space="preserve">→  </a:t>
            </a:r>
            <a:r>
              <a:rPr lang="en-US" sz="1200" dirty="0">
                <a:solidFill>
                  <a:srgbClr val="1E293B"/>
                </a:solidFill>
                <a:latin typeface="Calibri" pitchFamily="34" charset="0"/>
                <a:ea typeface="Calibri" pitchFamily="34" charset="-122"/>
                <a:cs typeface="Calibri" pitchFamily="34" charset="-120"/>
              </a:rPr>
              <a:t>Temporal entity analysis across decades</a:t>
            </a:r>
            <a:endParaRPr lang="en-US" sz="1200" dirty="0"/>
          </a:p>
        </p:txBody>
      </p:sp>
      <p:sp>
        <p:nvSpPr>
          <p:cNvPr id="17" name="Shape 15"/>
          <p:cNvSpPr/>
          <p:nvPr/>
        </p:nvSpPr>
        <p:spPr>
          <a:xfrm>
            <a:off x="6181344" y="914400"/>
            <a:ext cx="2651760" cy="3931920"/>
          </a:xfrm>
          <a:prstGeom prst="rect">
            <a:avLst/>
          </a:prstGeom>
          <a:solidFill>
            <a:srgbClr val="FFFFFF"/>
          </a:solidFill>
          <a:ln w="5080">
            <a:solidFill>
              <a:srgbClr val="E2E8F0"/>
            </a:solidFill>
            <a:prstDash val="solid"/>
          </a:ln>
          <a:effectLst>
            <a:outerShdw blurRad="101600" dist="25400" dir="8100000" algn="bl" rotWithShape="0">
              <a:srgbClr val="000000">
                <a:alpha val="11000"/>
              </a:srgbClr>
            </a:outerShdw>
          </a:effectLst>
        </p:spPr>
        <p:txBody>
          <a:bodyPr/>
          <a:lstStyle/>
          <a:p>
            <a:endParaRPr lang="en-US"/>
          </a:p>
        </p:txBody>
      </p:sp>
      <p:sp>
        <p:nvSpPr>
          <p:cNvPr id="18" name="Shape 16"/>
          <p:cNvSpPr/>
          <p:nvPr/>
        </p:nvSpPr>
        <p:spPr>
          <a:xfrm>
            <a:off x="6181344" y="914400"/>
            <a:ext cx="2651760" cy="475488"/>
          </a:xfrm>
          <a:prstGeom prst="rect">
            <a:avLst/>
          </a:prstGeom>
          <a:solidFill>
            <a:srgbClr val="7C3AED"/>
          </a:solidFill>
          <a:ln/>
        </p:spPr>
        <p:txBody>
          <a:bodyPr/>
          <a:lstStyle/>
          <a:p>
            <a:endParaRPr lang="en-US"/>
          </a:p>
        </p:txBody>
      </p:sp>
      <p:sp>
        <p:nvSpPr>
          <p:cNvPr id="19" name="Text 17"/>
          <p:cNvSpPr/>
          <p:nvPr/>
        </p:nvSpPr>
        <p:spPr>
          <a:xfrm>
            <a:off x="6272784" y="914400"/>
            <a:ext cx="2468880" cy="475488"/>
          </a:xfrm>
          <a:prstGeom prst="rect">
            <a:avLst/>
          </a:prstGeom>
          <a:noFill/>
          <a:ln/>
        </p:spPr>
        <p:txBody>
          <a:bodyPr wrap="square"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Phase 3 — Publication</a:t>
            </a:r>
            <a:endParaRPr lang="en-US" sz="1400" dirty="0"/>
          </a:p>
        </p:txBody>
      </p:sp>
      <p:sp>
        <p:nvSpPr>
          <p:cNvPr id="20" name="Text 18"/>
          <p:cNvSpPr/>
          <p:nvPr/>
        </p:nvSpPr>
        <p:spPr>
          <a:xfrm>
            <a:off x="6272784" y="1481328"/>
            <a:ext cx="2468880" cy="594360"/>
          </a:xfrm>
          <a:prstGeom prst="rect">
            <a:avLst/>
          </a:prstGeom>
          <a:noFill/>
          <a:ln/>
        </p:spPr>
        <p:txBody>
          <a:bodyPr wrap="square" rtlCol="0" anchor="t"/>
          <a:lstStyle/>
          <a:p>
            <a:pPr marL="0" indent="0">
              <a:buNone/>
            </a:pPr>
            <a:r>
              <a:rPr lang="en-US" sz="1200" b="1" dirty="0">
                <a:solidFill>
                  <a:srgbClr val="7C3AED"/>
                </a:solidFill>
                <a:latin typeface="Calibri" pitchFamily="34" charset="0"/>
                <a:ea typeface="Calibri" pitchFamily="34" charset="-122"/>
                <a:cs typeface="Calibri" pitchFamily="34" charset="-120"/>
              </a:rPr>
              <a:t xml:space="preserve">→  </a:t>
            </a:r>
            <a:r>
              <a:rPr lang="en-US" sz="1200" dirty="0">
                <a:solidFill>
                  <a:srgbClr val="1E293B"/>
                </a:solidFill>
                <a:latin typeface="Calibri" pitchFamily="34" charset="0"/>
                <a:ea typeface="Calibri" pitchFamily="34" charset="-122"/>
                <a:cs typeface="Calibri" pitchFamily="34" charset="-120"/>
              </a:rPr>
              <a:t>Paper: Mapping the Cybernetics Intellectual Landscape</a:t>
            </a:r>
            <a:endParaRPr lang="en-US" sz="1200" dirty="0"/>
          </a:p>
        </p:txBody>
      </p:sp>
      <p:sp>
        <p:nvSpPr>
          <p:cNvPr id="21" name="Text 19"/>
          <p:cNvSpPr/>
          <p:nvPr/>
        </p:nvSpPr>
        <p:spPr>
          <a:xfrm>
            <a:off x="6272784" y="2139696"/>
            <a:ext cx="2468880" cy="594360"/>
          </a:xfrm>
          <a:prstGeom prst="rect">
            <a:avLst/>
          </a:prstGeom>
          <a:noFill/>
          <a:ln/>
        </p:spPr>
        <p:txBody>
          <a:bodyPr wrap="square" rtlCol="0" anchor="t"/>
          <a:lstStyle/>
          <a:p>
            <a:pPr marL="0" indent="0">
              <a:buNone/>
            </a:pPr>
            <a:r>
              <a:rPr lang="en-US" sz="1200" b="1" dirty="0">
                <a:solidFill>
                  <a:srgbClr val="7C3AED"/>
                </a:solidFill>
                <a:latin typeface="Calibri" pitchFamily="34" charset="0"/>
                <a:ea typeface="Calibri" pitchFamily="34" charset="-122"/>
                <a:cs typeface="Calibri" pitchFamily="34" charset="-120"/>
              </a:rPr>
              <a:t xml:space="preserve">→  </a:t>
            </a:r>
            <a:r>
              <a:rPr lang="en-US" sz="1200" dirty="0">
                <a:solidFill>
                  <a:srgbClr val="1E293B"/>
                </a:solidFill>
                <a:latin typeface="Calibri" pitchFamily="34" charset="0"/>
                <a:ea typeface="Calibri" pitchFamily="34" charset="-122"/>
                <a:cs typeface="Calibri" pitchFamily="34" charset="-120"/>
              </a:rPr>
              <a:t>Targets: Kybernetes · DHQ · Systems Research</a:t>
            </a:r>
            <a:endParaRPr lang="en-US" sz="1200" dirty="0"/>
          </a:p>
        </p:txBody>
      </p:sp>
      <p:sp>
        <p:nvSpPr>
          <p:cNvPr id="22" name="Text 20"/>
          <p:cNvSpPr/>
          <p:nvPr/>
        </p:nvSpPr>
        <p:spPr>
          <a:xfrm>
            <a:off x="6272784" y="2798064"/>
            <a:ext cx="2468880" cy="594360"/>
          </a:xfrm>
          <a:prstGeom prst="rect">
            <a:avLst/>
          </a:prstGeom>
          <a:noFill/>
          <a:ln/>
        </p:spPr>
        <p:txBody>
          <a:bodyPr wrap="square" rtlCol="0" anchor="t"/>
          <a:lstStyle/>
          <a:p>
            <a:pPr marL="0" indent="0">
              <a:buNone/>
            </a:pPr>
            <a:r>
              <a:rPr lang="en-US" sz="1200" b="1" dirty="0">
                <a:solidFill>
                  <a:srgbClr val="7C3AED"/>
                </a:solidFill>
                <a:latin typeface="Calibri" pitchFamily="34" charset="0"/>
                <a:ea typeface="Calibri" pitchFamily="34" charset="-122"/>
                <a:cs typeface="Calibri" pitchFamily="34" charset="-120"/>
              </a:rPr>
              <a:t xml:space="preserve">→  </a:t>
            </a:r>
            <a:r>
              <a:rPr lang="en-US" sz="1200" dirty="0">
                <a:solidFill>
                  <a:srgbClr val="1E293B"/>
                </a:solidFill>
                <a:latin typeface="Calibri" pitchFamily="34" charset="0"/>
                <a:ea typeface="Calibri" pitchFamily="34" charset="-122"/>
                <a:cs typeface="Calibri" pitchFamily="34" charset="-120"/>
              </a:rPr>
              <a:t>Zenodo DOI deposit + GitHub v1.0 release</a:t>
            </a:r>
            <a:endParaRPr lang="en-US" sz="1200" dirty="0"/>
          </a:p>
        </p:txBody>
      </p:sp>
      <p:sp>
        <p:nvSpPr>
          <p:cNvPr id="23" name="Text 21"/>
          <p:cNvSpPr/>
          <p:nvPr/>
        </p:nvSpPr>
        <p:spPr>
          <a:xfrm>
            <a:off x="6272784" y="3456432"/>
            <a:ext cx="2468880" cy="594360"/>
          </a:xfrm>
          <a:prstGeom prst="rect">
            <a:avLst/>
          </a:prstGeom>
          <a:noFill/>
          <a:ln/>
        </p:spPr>
        <p:txBody>
          <a:bodyPr wrap="square" rtlCol="0" anchor="t"/>
          <a:lstStyle/>
          <a:p>
            <a:pPr marL="0" indent="0">
              <a:buNone/>
            </a:pPr>
            <a:r>
              <a:rPr lang="en-US" sz="1200" b="1" dirty="0">
                <a:solidFill>
                  <a:srgbClr val="7C3AED"/>
                </a:solidFill>
                <a:latin typeface="Calibri" pitchFamily="34" charset="0"/>
                <a:ea typeface="Calibri" pitchFamily="34" charset="-122"/>
                <a:cs typeface="Calibri" pitchFamily="34" charset="-120"/>
              </a:rPr>
              <a:t xml:space="preserve">→  </a:t>
            </a:r>
            <a:r>
              <a:rPr lang="en-US" sz="1200" dirty="0">
                <a:solidFill>
                  <a:srgbClr val="1E293B"/>
                </a:solidFill>
                <a:latin typeface="Calibri" pitchFamily="34" charset="0"/>
                <a:ea typeface="Calibri" pitchFamily="34" charset="-122"/>
                <a:cs typeface="Calibri" pitchFamily="34" charset="-120"/>
              </a:rPr>
              <a:t>CyberneticsAR extension continues in parallel</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E4B"/>
        </a:solidFill>
        <a:effectLst/>
      </p:bgPr>
    </p:bg>
    <p:spTree>
      <p:nvGrpSpPr>
        <p:cNvPr id="1" name=""/>
        <p:cNvGrpSpPr/>
        <p:nvPr/>
      </p:nvGrpSpPr>
      <p:grpSpPr>
        <a:xfrm>
          <a:off x="0" y="0"/>
          <a:ext cx="0" cy="0"/>
          <a:chOff x="0" y="0"/>
          <a:chExt cx="0" cy="0"/>
        </a:xfrm>
      </p:grpSpPr>
      <p:sp>
        <p:nvSpPr>
          <p:cNvPr id="2" name="Shape 0"/>
          <p:cNvSpPr/>
          <p:nvPr/>
        </p:nvSpPr>
        <p:spPr>
          <a:xfrm>
            <a:off x="5029200" y="228600"/>
            <a:ext cx="109728" cy="109728"/>
          </a:xfrm>
          <a:prstGeom prst="ellipse">
            <a:avLst/>
          </a:prstGeom>
          <a:solidFill>
            <a:srgbClr val="0D9488">
              <a:alpha val="38000"/>
            </a:srgbClr>
          </a:solidFill>
          <a:ln/>
        </p:spPr>
        <p:txBody>
          <a:bodyPr/>
          <a:lstStyle/>
          <a:p>
            <a:endParaRPr lang="en-US"/>
          </a:p>
        </p:txBody>
      </p:sp>
      <p:sp>
        <p:nvSpPr>
          <p:cNvPr id="3" name="Shape 1"/>
          <p:cNvSpPr/>
          <p:nvPr/>
        </p:nvSpPr>
        <p:spPr>
          <a:xfrm>
            <a:off x="5577840" y="228600"/>
            <a:ext cx="109728" cy="109728"/>
          </a:xfrm>
          <a:prstGeom prst="ellipse">
            <a:avLst/>
          </a:prstGeom>
          <a:solidFill>
            <a:srgbClr val="0D9488">
              <a:alpha val="38000"/>
            </a:srgbClr>
          </a:solidFill>
          <a:ln/>
        </p:spPr>
        <p:txBody>
          <a:bodyPr/>
          <a:lstStyle/>
          <a:p>
            <a:endParaRPr lang="en-US"/>
          </a:p>
        </p:txBody>
      </p:sp>
      <p:sp>
        <p:nvSpPr>
          <p:cNvPr id="4" name="Shape 2"/>
          <p:cNvSpPr/>
          <p:nvPr/>
        </p:nvSpPr>
        <p:spPr>
          <a:xfrm>
            <a:off x="6126480" y="228600"/>
            <a:ext cx="109728" cy="109728"/>
          </a:xfrm>
          <a:prstGeom prst="ellipse">
            <a:avLst/>
          </a:prstGeom>
          <a:solidFill>
            <a:srgbClr val="0D9488">
              <a:alpha val="38000"/>
            </a:srgbClr>
          </a:solidFill>
          <a:ln/>
        </p:spPr>
        <p:txBody>
          <a:bodyPr/>
          <a:lstStyle/>
          <a:p>
            <a:endParaRPr lang="en-US"/>
          </a:p>
        </p:txBody>
      </p:sp>
      <p:sp>
        <p:nvSpPr>
          <p:cNvPr id="5" name="Shape 3"/>
          <p:cNvSpPr/>
          <p:nvPr/>
        </p:nvSpPr>
        <p:spPr>
          <a:xfrm>
            <a:off x="6675120" y="228600"/>
            <a:ext cx="109728" cy="109728"/>
          </a:xfrm>
          <a:prstGeom prst="ellipse">
            <a:avLst/>
          </a:prstGeom>
          <a:solidFill>
            <a:srgbClr val="0D9488">
              <a:alpha val="38000"/>
            </a:srgbClr>
          </a:solidFill>
          <a:ln/>
        </p:spPr>
        <p:txBody>
          <a:bodyPr/>
          <a:lstStyle/>
          <a:p>
            <a:endParaRPr lang="en-US"/>
          </a:p>
        </p:txBody>
      </p:sp>
      <p:sp>
        <p:nvSpPr>
          <p:cNvPr id="6" name="Shape 4"/>
          <p:cNvSpPr/>
          <p:nvPr/>
        </p:nvSpPr>
        <p:spPr>
          <a:xfrm>
            <a:off x="7223760" y="228600"/>
            <a:ext cx="109728" cy="109728"/>
          </a:xfrm>
          <a:prstGeom prst="ellipse">
            <a:avLst/>
          </a:prstGeom>
          <a:solidFill>
            <a:srgbClr val="0D9488">
              <a:alpha val="38000"/>
            </a:srgbClr>
          </a:solidFill>
          <a:ln/>
        </p:spPr>
        <p:txBody>
          <a:bodyPr/>
          <a:lstStyle/>
          <a:p>
            <a:endParaRPr lang="en-US"/>
          </a:p>
        </p:txBody>
      </p:sp>
      <p:sp>
        <p:nvSpPr>
          <p:cNvPr id="7" name="Shape 5"/>
          <p:cNvSpPr/>
          <p:nvPr/>
        </p:nvSpPr>
        <p:spPr>
          <a:xfrm>
            <a:off x="7772400" y="228600"/>
            <a:ext cx="109728" cy="109728"/>
          </a:xfrm>
          <a:prstGeom prst="ellipse">
            <a:avLst/>
          </a:prstGeom>
          <a:solidFill>
            <a:srgbClr val="0D9488">
              <a:alpha val="38000"/>
            </a:srgbClr>
          </a:solidFill>
          <a:ln/>
        </p:spPr>
        <p:txBody>
          <a:bodyPr/>
          <a:lstStyle/>
          <a:p>
            <a:endParaRPr lang="en-US"/>
          </a:p>
        </p:txBody>
      </p:sp>
      <p:sp>
        <p:nvSpPr>
          <p:cNvPr id="8" name="Shape 6"/>
          <p:cNvSpPr/>
          <p:nvPr/>
        </p:nvSpPr>
        <p:spPr>
          <a:xfrm>
            <a:off x="5029200" y="731520"/>
            <a:ext cx="109728" cy="109728"/>
          </a:xfrm>
          <a:prstGeom prst="ellipse">
            <a:avLst/>
          </a:prstGeom>
          <a:solidFill>
            <a:srgbClr val="0D9488">
              <a:alpha val="38000"/>
            </a:srgbClr>
          </a:solidFill>
          <a:ln/>
        </p:spPr>
        <p:txBody>
          <a:bodyPr/>
          <a:lstStyle/>
          <a:p>
            <a:endParaRPr lang="en-US"/>
          </a:p>
        </p:txBody>
      </p:sp>
      <p:sp>
        <p:nvSpPr>
          <p:cNvPr id="9" name="Shape 7"/>
          <p:cNvSpPr/>
          <p:nvPr/>
        </p:nvSpPr>
        <p:spPr>
          <a:xfrm>
            <a:off x="5577840" y="731520"/>
            <a:ext cx="109728" cy="109728"/>
          </a:xfrm>
          <a:prstGeom prst="ellipse">
            <a:avLst/>
          </a:prstGeom>
          <a:solidFill>
            <a:srgbClr val="0D9488">
              <a:alpha val="38000"/>
            </a:srgbClr>
          </a:solidFill>
          <a:ln/>
        </p:spPr>
        <p:txBody>
          <a:bodyPr/>
          <a:lstStyle/>
          <a:p>
            <a:endParaRPr lang="en-US"/>
          </a:p>
        </p:txBody>
      </p:sp>
      <p:sp>
        <p:nvSpPr>
          <p:cNvPr id="10" name="Shape 8"/>
          <p:cNvSpPr/>
          <p:nvPr/>
        </p:nvSpPr>
        <p:spPr>
          <a:xfrm>
            <a:off x="6126480" y="731520"/>
            <a:ext cx="109728" cy="109728"/>
          </a:xfrm>
          <a:prstGeom prst="ellipse">
            <a:avLst/>
          </a:prstGeom>
          <a:solidFill>
            <a:srgbClr val="0D9488">
              <a:alpha val="38000"/>
            </a:srgbClr>
          </a:solidFill>
          <a:ln/>
        </p:spPr>
        <p:txBody>
          <a:bodyPr/>
          <a:lstStyle/>
          <a:p>
            <a:endParaRPr lang="en-US"/>
          </a:p>
        </p:txBody>
      </p:sp>
      <p:sp>
        <p:nvSpPr>
          <p:cNvPr id="11" name="Shape 9"/>
          <p:cNvSpPr/>
          <p:nvPr/>
        </p:nvSpPr>
        <p:spPr>
          <a:xfrm>
            <a:off x="6675120" y="731520"/>
            <a:ext cx="109728" cy="109728"/>
          </a:xfrm>
          <a:prstGeom prst="ellipse">
            <a:avLst/>
          </a:prstGeom>
          <a:solidFill>
            <a:srgbClr val="0D9488">
              <a:alpha val="38000"/>
            </a:srgbClr>
          </a:solidFill>
          <a:ln/>
        </p:spPr>
        <p:txBody>
          <a:bodyPr/>
          <a:lstStyle/>
          <a:p>
            <a:endParaRPr lang="en-US"/>
          </a:p>
        </p:txBody>
      </p:sp>
      <p:sp>
        <p:nvSpPr>
          <p:cNvPr id="12" name="Shape 10"/>
          <p:cNvSpPr/>
          <p:nvPr/>
        </p:nvSpPr>
        <p:spPr>
          <a:xfrm>
            <a:off x="7223760" y="731520"/>
            <a:ext cx="109728" cy="109728"/>
          </a:xfrm>
          <a:prstGeom prst="ellipse">
            <a:avLst/>
          </a:prstGeom>
          <a:solidFill>
            <a:srgbClr val="0D9488">
              <a:alpha val="38000"/>
            </a:srgbClr>
          </a:solidFill>
          <a:ln/>
        </p:spPr>
        <p:txBody>
          <a:bodyPr/>
          <a:lstStyle/>
          <a:p>
            <a:endParaRPr lang="en-US"/>
          </a:p>
        </p:txBody>
      </p:sp>
      <p:sp>
        <p:nvSpPr>
          <p:cNvPr id="13" name="Shape 11"/>
          <p:cNvSpPr/>
          <p:nvPr/>
        </p:nvSpPr>
        <p:spPr>
          <a:xfrm>
            <a:off x="7772400" y="731520"/>
            <a:ext cx="109728" cy="109728"/>
          </a:xfrm>
          <a:prstGeom prst="ellipse">
            <a:avLst/>
          </a:prstGeom>
          <a:solidFill>
            <a:srgbClr val="0D9488">
              <a:alpha val="38000"/>
            </a:srgbClr>
          </a:solidFill>
          <a:ln/>
        </p:spPr>
        <p:txBody>
          <a:bodyPr/>
          <a:lstStyle/>
          <a:p>
            <a:endParaRPr lang="en-US"/>
          </a:p>
        </p:txBody>
      </p:sp>
      <p:sp>
        <p:nvSpPr>
          <p:cNvPr id="14" name="Shape 12"/>
          <p:cNvSpPr/>
          <p:nvPr/>
        </p:nvSpPr>
        <p:spPr>
          <a:xfrm>
            <a:off x="5029200" y="1234440"/>
            <a:ext cx="109728" cy="109728"/>
          </a:xfrm>
          <a:prstGeom prst="ellipse">
            <a:avLst/>
          </a:prstGeom>
          <a:solidFill>
            <a:srgbClr val="0D9488">
              <a:alpha val="38000"/>
            </a:srgbClr>
          </a:solidFill>
          <a:ln/>
        </p:spPr>
        <p:txBody>
          <a:bodyPr/>
          <a:lstStyle/>
          <a:p>
            <a:endParaRPr lang="en-US"/>
          </a:p>
        </p:txBody>
      </p:sp>
      <p:sp>
        <p:nvSpPr>
          <p:cNvPr id="15" name="Shape 13"/>
          <p:cNvSpPr/>
          <p:nvPr/>
        </p:nvSpPr>
        <p:spPr>
          <a:xfrm>
            <a:off x="5577840" y="1234440"/>
            <a:ext cx="109728" cy="109728"/>
          </a:xfrm>
          <a:prstGeom prst="ellipse">
            <a:avLst/>
          </a:prstGeom>
          <a:solidFill>
            <a:srgbClr val="0D9488">
              <a:alpha val="38000"/>
            </a:srgbClr>
          </a:solidFill>
          <a:ln/>
        </p:spPr>
        <p:txBody>
          <a:bodyPr/>
          <a:lstStyle/>
          <a:p>
            <a:endParaRPr lang="en-US"/>
          </a:p>
        </p:txBody>
      </p:sp>
      <p:sp>
        <p:nvSpPr>
          <p:cNvPr id="16" name="Shape 14"/>
          <p:cNvSpPr/>
          <p:nvPr/>
        </p:nvSpPr>
        <p:spPr>
          <a:xfrm>
            <a:off x="6126480" y="1234440"/>
            <a:ext cx="109728" cy="109728"/>
          </a:xfrm>
          <a:prstGeom prst="ellipse">
            <a:avLst/>
          </a:prstGeom>
          <a:solidFill>
            <a:srgbClr val="0D9488">
              <a:alpha val="38000"/>
            </a:srgbClr>
          </a:solidFill>
          <a:ln/>
        </p:spPr>
        <p:txBody>
          <a:bodyPr/>
          <a:lstStyle/>
          <a:p>
            <a:endParaRPr lang="en-US"/>
          </a:p>
        </p:txBody>
      </p:sp>
      <p:sp>
        <p:nvSpPr>
          <p:cNvPr id="17" name="Shape 15"/>
          <p:cNvSpPr/>
          <p:nvPr/>
        </p:nvSpPr>
        <p:spPr>
          <a:xfrm>
            <a:off x="6675120" y="1234440"/>
            <a:ext cx="109728" cy="109728"/>
          </a:xfrm>
          <a:prstGeom prst="ellipse">
            <a:avLst/>
          </a:prstGeom>
          <a:solidFill>
            <a:srgbClr val="0D9488">
              <a:alpha val="38000"/>
            </a:srgbClr>
          </a:solidFill>
          <a:ln/>
        </p:spPr>
        <p:txBody>
          <a:bodyPr/>
          <a:lstStyle/>
          <a:p>
            <a:endParaRPr lang="en-US"/>
          </a:p>
        </p:txBody>
      </p:sp>
      <p:sp>
        <p:nvSpPr>
          <p:cNvPr id="18" name="Shape 16"/>
          <p:cNvSpPr/>
          <p:nvPr/>
        </p:nvSpPr>
        <p:spPr>
          <a:xfrm>
            <a:off x="7223760" y="1234440"/>
            <a:ext cx="109728" cy="109728"/>
          </a:xfrm>
          <a:prstGeom prst="ellipse">
            <a:avLst/>
          </a:prstGeom>
          <a:solidFill>
            <a:srgbClr val="0D9488">
              <a:alpha val="38000"/>
            </a:srgbClr>
          </a:solidFill>
          <a:ln/>
        </p:spPr>
        <p:txBody>
          <a:bodyPr/>
          <a:lstStyle/>
          <a:p>
            <a:endParaRPr lang="en-US"/>
          </a:p>
        </p:txBody>
      </p:sp>
      <p:sp>
        <p:nvSpPr>
          <p:cNvPr id="19" name="Shape 17"/>
          <p:cNvSpPr/>
          <p:nvPr/>
        </p:nvSpPr>
        <p:spPr>
          <a:xfrm>
            <a:off x="7772400" y="1234440"/>
            <a:ext cx="109728" cy="109728"/>
          </a:xfrm>
          <a:prstGeom prst="ellipse">
            <a:avLst/>
          </a:prstGeom>
          <a:solidFill>
            <a:srgbClr val="0D9488">
              <a:alpha val="38000"/>
            </a:srgbClr>
          </a:solidFill>
          <a:ln/>
        </p:spPr>
        <p:txBody>
          <a:bodyPr/>
          <a:lstStyle/>
          <a:p>
            <a:endParaRPr lang="en-US"/>
          </a:p>
        </p:txBody>
      </p:sp>
      <p:sp>
        <p:nvSpPr>
          <p:cNvPr id="20" name="Shape 18"/>
          <p:cNvSpPr/>
          <p:nvPr/>
        </p:nvSpPr>
        <p:spPr>
          <a:xfrm>
            <a:off x="5029200" y="1737360"/>
            <a:ext cx="109728" cy="109728"/>
          </a:xfrm>
          <a:prstGeom prst="ellipse">
            <a:avLst/>
          </a:prstGeom>
          <a:solidFill>
            <a:srgbClr val="0D9488">
              <a:alpha val="38000"/>
            </a:srgbClr>
          </a:solidFill>
          <a:ln/>
        </p:spPr>
        <p:txBody>
          <a:bodyPr/>
          <a:lstStyle/>
          <a:p>
            <a:endParaRPr lang="en-US"/>
          </a:p>
        </p:txBody>
      </p:sp>
      <p:sp>
        <p:nvSpPr>
          <p:cNvPr id="21" name="Shape 19"/>
          <p:cNvSpPr/>
          <p:nvPr/>
        </p:nvSpPr>
        <p:spPr>
          <a:xfrm>
            <a:off x="5577840" y="1737360"/>
            <a:ext cx="109728" cy="109728"/>
          </a:xfrm>
          <a:prstGeom prst="ellipse">
            <a:avLst/>
          </a:prstGeom>
          <a:solidFill>
            <a:srgbClr val="0D9488">
              <a:alpha val="38000"/>
            </a:srgbClr>
          </a:solidFill>
          <a:ln/>
        </p:spPr>
        <p:txBody>
          <a:bodyPr/>
          <a:lstStyle/>
          <a:p>
            <a:endParaRPr lang="en-US"/>
          </a:p>
        </p:txBody>
      </p:sp>
      <p:sp>
        <p:nvSpPr>
          <p:cNvPr id="22" name="Shape 20"/>
          <p:cNvSpPr/>
          <p:nvPr/>
        </p:nvSpPr>
        <p:spPr>
          <a:xfrm>
            <a:off x="6126480" y="1737360"/>
            <a:ext cx="109728" cy="109728"/>
          </a:xfrm>
          <a:prstGeom prst="ellipse">
            <a:avLst/>
          </a:prstGeom>
          <a:solidFill>
            <a:srgbClr val="0D9488">
              <a:alpha val="38000"/>
            </a:srgbClr>
          </a:solidFill>
          <a:ln/>
        </p:spPr>
        <p:txBody>
          <a:bodyPr/>
          <a:lstStyle/>
          <a:p>
            <a:endParaRPr lang="en-US"/>
          </a:p>
        </p:txBody>
      </p:sp>
      <p:sp>
        <p:nvSpPr>
          <p:cNvPr id="23" name="Shape 21"/>
          <p:cNvSpPr/>
          <p:nvPr/>
        </p:nvSpPr>
        <p:spPr>
          <a:xfrm>
            <a:off x="6675120" y="1737360"/>
            <a:ext cx="109728" cy="109728"/>
          </a:xfrm>
          <a:prstGeom prst="ellipse">
            <a:avLst/>
          </a:prstGeom>
          <a:solidFill>
            <a:srgbClr val="0D9488">
              <a:alpha val="38000"/>
            </a:srgbClr>
          </a:solidFill>
          <a:ln/>
        </p:spPr>
        <p:txBody>
          <a:bodyPr/>
          <a:lstStyle/>
          <a:p>
            <a:endParaRPr lang="en-US"/>
          </a:p>
        </p:txBody>
      </p:sp>
      <p:sp>
        <p:nvSpPr>
          <p:cNvPr id="24" name="Shape 22"/>
          <p:cNvSpPr/>
          <p:nvPr/>
        </p:nvSpPr>
        <p:spPr>
          <a:xfrm>
            <a:off x="7223760" y="1737360"/>
            <a:ext cx="109728" cy="109728"/>
          </a:xfrm>
          <a:prstGeom prst="ellipse">
            <a:avLst/>
          </a:prstGeom>
          <a:solidFill>
            <a:srgbClr val="0D9488">
              <a:alpha val="38000"/>
            </a:srgbClr>
          </a:solidFill>
          <a:ln/>
        </p:spPr>
        <p:txBody>
          <a:bodyPr/>
          <a:lstStyle/>
          <a:p>
            <a:endParaRPr lang="en-US"/>
          </a:p>
        </p:txBody>
      </p:sp>
      <p:sp>
        <p:nvSpPr>
          <p:cNvPr id="25" name="Shape 23"/>
          <p:cNvSpPr/>
          <p:nvPr/>
        </p:nvSpPr>
        <p:spPr>
          <a:xfrm>
            <a:off x="7772400" y="1737360"/>
            <a:ext cx="109728" cy="109728"/>
          </a:xfrm>
          <a:prstGeom prst="ellipse">
            <a:avLst/>
          </a:prstGeom>
          <a:solidFill>
            <a:srgbClr val="0D9488">
              <a:alpha val="38000"/>
            </a:srgbClr>
          </a:solidFill>
          <a:ln/>
        </p:spPr>
        <p:txBody>
          <a:bodyPr/>
          <a:lstStyle/>
          <a:p>
            <a:endParaRPr lang="en-US"/>
          </a:p>
        </p:txBody>
      </p:sp>
      <p:sp>
        <p:nvSpPr>
          <p:cNvPr id="26" name="Shape 24"/>
          <p:cNvSpPr/>
          <p:nvPr/>
        </p:nvSpPr>
        <p:spPr>
          <a:xfrm>
            <a:off x="457200" y="1005840"/>
            <a:ext cx="82296" cy="3108960"/>
          </a:xfrm>
          <a:prstGeom prst="rect">
            <a:avLst/>
          </a:prstGeom>
          <a:solidFill>
            <a:srgbClr val="0D9488"/>
          </a:solidFill>
          <a:ln/>
        </p:spPr>
        <p:txBody>
          <a:bodyPr/>
          <a:lstStyle/>
          <a:p>
            <a:endParaRPr lang="en-US"/>
          </a:p>
        </p:txBody>
      </p:sp>
      <p:sp>
        <p:nvSpPr>
          <p:cNvPr id="27" name="Text 25"/>
          <p:cNvSpPr/>
          <p:nvPr/>
        </p:nvSpPr>
        <p:spPr>
          <a:xfrm>
            <a:off x="713232" y="1005840"/>
            <a:ext cx="7772400" cy="548640"/>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Key Takeaways</a:t>
            </a:r>
            <a:endParaRPr lang="en-US" sz="3200" dirty="0"/>
          </a:p>
        </p:txBody>
      </p:sp>
      <p:sp>
        <p:nvSpPr>
          <p:cNvPr id="28" name="Shape 26"/>
          <p:cNvSpPr/>
          <p:nvPr/>
        </p:nvSpPr>
        <p:spPr>
          <a:xfrm>
            <a:off x="713232" y="1691640"/>
            <a:ext cx="347472" cy="347472"/>
          </a:xfrm>
          <a:prstGeom prst="ellipse">
            <a:avLst/>
          </a:prstGeom>
          <a:solidFill>
            <a:srgbClr val="0D9488"/>
          </a:solidFill>
          <a:ln/>
        </p:spPr>
        <p:txBody>
          <a:bodyPr/>
          <a:lstStyle/>
          <a:p>
            <a:endParaRPr lang="en-US"/>
          </a:p>
        </p:txBody>
      </p:sp>
      <p:sp>
        <p:nvSpPr>
          <p:cNvPr id="29" name="Text 27"/>
          <p:cNvSpPr/>
          <p:nvPr/>
        </p:nvSpPr>
        <p:spPr>
          <a:xfrm>
            <a:off x="713232" y="169164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30" name="Text 28"/>
          <p:cNvSpPr/>
          <p:nvPr/>
        </p:nvSpPr>
        <p:spPr>
          <a:xfrm>
            <a:off x="1188720" y="1673352"/>
            <a:ext cx="7406640" cy="548640"/>
          </a:xfrm>
          <a:prstGeom prst="rect">
            <a:avLst/>
          </a:prstGeom>
          <a:noFill/>
          <a:ln/>
        </p:spPr>
        <p:txBody>
          <a:bodyPr wrap="square" rtlCol="0" anchor="ctr"/>
          <a:lstStyle/>
          <a:p>
            <a:pPr marL="0" indent="0">
              <a:buNone/>
            </a:pPr>
            <a:r>
              <a:rPr lang="en-US" sz="1300" dirty="0">
                <a:solidFill>
                  <a:srgbClr val="E2E8F0"/>
                </a:solidFill>
                <a:latin typeface="Calibri" pitchFamily="34" charset="0"/>
                <a:ea typeface="Calibri" pitchFamily="34" charset="-122"/>
                <a:cs typeface="Calibri" pitchFamily="34" charset="-120"/>
              </a:rPr>
              <a:t>Large-scale corpus analysis affords qualitatively different epistemic access than reading individual books — topic structure, temporal evolution, and network centrality are only visible at corpus scale (695 books, 70 years)</a:t>
            </a:r>
            <a:endParaRPr lang="en-US" sz="1300" dirty="0"/>
          </a:p>
        </p:txBody>
      </p:sp>
      <p:sp>
        <p:nvSpPr>
          <p:cNvPr id="31" name="Shape 29"/>
          <p:cNvSpPr/>
          <p:nvPr/>
        </p:nvSpPr>
        <p:spPr>
          <a:xfrm>
            <a:off x="713232" y="2313432"/>
            <a:ext cx="347472" cy="347472"/>
          </a:xfrm>
          <a:prstGeom prst="ellipse">
            <a:avLst/>
          </a:prstGeom>
          <a:solidFill>
            <a:srgbClr val="0D9488"/>
          </a:solidFill>
          <a:ln/>
        </p:spPr>
        <p:txBody>
          <a:bodyPr/>
          <a:lstStyle/>
          <a:p>
            <a:endParaRPr lang="en-US"/>
          </a:p>
        </p:txBody>
      </p:sp>
      <p:sp>
        <p:nvSpPr>
          <p:cNvPr id="32" name="Text 30"/>
          <p:cNvSpPr/>
          <p:nvPr/>
        </p:nvSpPr>
        <p:spPr>
          <a:xfrm>
            <a:off x="713232" y="231343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33" name="Text 31"/>
          <p:cNvSpPr/>
          <p:nvPr/>
        </p:nvSpPr>
        <p:spPr>
          <a:xfrm>
            <a:off x="1188720" y="2295144"/>
            <a:ext cx="7406640" cy="548640"/>
          </a:xfrm>
          <a:prstGeom prst="rect">
            <a:avLst/>
          </a:prstGeom>
          <a:noFill/>
          <a:ln/>
        </p:spPr>
        <p:txBody>
          <a:bodyPr wrap="square" rtlCol="0" anchor="ctr"/>
          <a:lstStyle/>
          <a:p>
            <a:pPr marL="0" indent="0">
              <a:buNone/>
            </a:pPr>
            <a:r>
              <a:rPr lang="en-US" sz="1300" dirty="0">
                <a:solidFill>
                  <a:srgbClr val="E2E8F0"/>
                </a:solidFill>
                <a:latin typeface="Calibri" pitchFamily="34" charset="0"/>
                <a:ea typeface="Calibri" pitchFamily="34" charset="-122"/>
                <a:cs typeface="Calibri" pitchFamily="34" charset="-120"/>
              </a:rPr>
              <a:t>Concept velocity reveals which ideas are stable anchors and which are migrating to the frontier</a:t>
            </a:r>
            <a:endParaRPr lang="en-US" sz="1300" dirty="0"/>
          </a:p>
        </p:txBody>
      </p:sp>
      <p:sp>
        <p:nvSpPr>
          <p:cNvPr id="34" name="Shape 32"/>
          <p:cNvSpPr/>
          <p:nvPr/>
        </p:nvSpPr>
        <p:spPr>
          <a:xfrm>
            <a:off x="713232" y="2935224"/>
            <a:ext cx="347472" cy="347472"/>
          </a:xfrm>
          <a:prstGeom prst="ellipse">
            <a:avLst/>
          </a:prstGeom>
          <a:solidFill>
            <a:srgbClr val="0D9488"/>
          </a:solidFill>
          <a:ln/>
        </p:spPr>
        <p:txBody>
          <a:bodyPr/>
          <a:lstStyle/>
          <a:p>
            <a:endParaRPr lang="en-US"/>
          </a:p>
        </p:txBody>
      </p:sp>
      <p:sp>
        <p:nvSpPr>
          <p:cNvPr id="35" name="Text 33"/>
          <p:cNvSpPr/>
          <p:nvPr/>
        </p:nvSpPr>
        <p:spPr>
          <a:xfrm>
            <a:off x="713232" y="293522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36" name="Text 34"/>
          <p:cNvSpPr/>
          <p:nvPr/>
        </p:nvSpPr>
        <p:spPr>
          <a:xfrm>
            <a:off x="1188720" y="2916936"/>
            <a:ext cx="7406640" cy="548640"/>
          </a:xfrm>
          <a:prstGeom prst="rect">
            <a:avLst/>
          </a:prstGeom>
          <a:noFill/>
          <a:ln/>
        </p:spPr>
        <p:txBody>
          <a:bodyPr wrap="square" rtlCol="0" anchor="ctr"/>
          <a:lstStyle/>
          <a:p>
            <a:pPr marL="0" indent="0">
              <a:buNone/>
            </a:pPr>
            <a:r>
              <a:rPr lang="en-US" sz="1300" dirty="0">
                <a:solidFill>
                  <a:srgbClr val="E2E8F0"/>
                </a:solidFill>
                <a:latin typeface="Calibri" pitchFamily="34" charset="0"/>
                <a:ea typeface="Calibri" pitchFamily="34" charset="-122"/>
                <a:cs typeface="Calibri" pitchFamily="34" charset="-120"/>
              </a:rPr>
              <a:t>Human–AI collaboration can produce research-grade software in days, not months — Claude's claim; Paul remains healthily sceptical</a:t>
            </a:r>
            <a:endParaRPr lang="en-US" sz="1300" dirty="0"/>
          </a:p>
        </p:txBody>
      </p:sp>
      <p:sp>
        <p:nvSpPr>
          <p:cNvPr id="37" name="Shape 35"/>
          <p:cNvSpPr/>
          <p:nvPr/>
        </p:nvSpPr>
        <p:spPr>
          <a:xfrm>
            <a:off x="713232" y="3557016"/>
            <a:ext cx="347472" cy="347472"/>
          </a:xfrm>
          <a:prstGeom prst="ellipse">
            <a:avLst/>
          </a:prstGeom>
          <a:solidFill>
            <a:srgbClr val="0D9488"/>
          </a:solidFill>
          <a:ln/>
        </p:spPr>
        <p:txBody>
          <a:bodyPr/>
          <a:lstStyle/>
          <a:p>
            <a:endParaRPr lang="en-US"/>
          </a:p>
        </p:txBody>
      </p:sp>
      <p:sp>
        <p:nvSpPr>
          <p:cNvPr id="38" name="Text 36"/>
          <p:cNvSpPr/>
          <p:nvPr/>
        </p:nvSpPr>
        <p:spPr>
          <a:xfrm>
            <a:off x="713232" y="355701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39" name="Text 37"/>
          <p:cNvSpPr/>
          <p:nvPr/>
        </p:nvSpPr>
        <p:spPr>
          <a:xfrm>
            <a:off x="1188720" y="3538728"/>
            <a:ext cx="7406640" cy="548640"/>
          </a:xfrm>
          <a:prstGeom prst="rect">
            <a:avLst/>
          </a:prstGeom>
          <a:noFill/>
          <a:ln/>
        </p:spPr>
        <p:txBody>
          <a:bodyPr wrap="square" rtlCol="0" anchor="ctr"/>
          <a:lstStyle/>
          <a:p>
            <a:pPr marL="0" indent="0">
              <a:buNone/>
            </a:pPr>
            <a:r>
              <a:rPr lang="en-US" sz="1300" dirty="0">
                <a:solidFill>
                  <a:srgbClr val="E2E8F0"/>
                </a:solidFill>
                <a:latin typeface="Calibri" pitchFamily="34" charset="0"/>
                <a:ea typeface="Calibri" pitchFamily="34" charset="-122"/>
                <a:cs typeface="Calibri" pitchFamily="34" charset="-120"/>
              </a:rPr>
              <a:t>CyberneticsNLP (research) and CyberneticsAR (product development) are deliberately kept separate: different goals, different governance, no reverse dependencies</a:t>
            </a:r>
            <a:endParaRPr lang="en-US" sz="1300" dirty="0"/>
          </a:p>
        </p:txBody>
      </p:sp>
      <p:sp>
        <p:nvSpPr>
          <p:cNvPr id="40" name="Shape 38"/>
          <p:cNvSpPr/>
          <p:nvPr/>
        </p:nvSpPr>
        <p:spPr>
          <a:xfrm>
            <a:off x="713232" y="4178808"/>
            <a:ext cx="347472" cy="347472"/>
          </a:xfrm>
          <a:prstGeom prst="ellipse">
            <a:avLst/>
          </a:prstGeom>
          <a:solidFill>
            <a:srgbClr val="0D9488"/>
          </a:solidFill>
          <a:ln/>
        </p:spPr>
        <p:txBody>
          <a:bodyPr/>
          <a:lstStyle/>
          <a:p>
            <a:endParaRPr lang="en-US"/>
          </a:p>
        </p:txBody>
      </p:sp>
      <p:sp>
        <p:nvSpPr>
          <p:cNvPr id="41" name="Text 39"/>
          <p:cNvSpPr/>
          <p:nvPr/>
        </p:nvSpPr>
        <p:spPr>
          <a:xfrm>
            <a:off x="713232" y="417880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42" name="Text 40"/>
          <p:cNvSpPr/>
          <p:nvPr/>
        </p:nvSpPr>
        <p:spPr>
          <a:xfrm>
            <a:off x="1188720" y="4160520"/>
            <a:ext cx="7406640" cy="548640"/>
          </a:xfrm>
          <a:prstGeom prst="rect">
            <a:avLst/>
          </a:prstGeom>
          <a:noFill/>
          <a:ln/>
        </p:spPr>
        <p:txBody>
          <a:bodyPr wrap="square" rtlCol="0" anchor="ctr"/>
          <a:lstStyle/>
          <a:p>
            <a:pPr marL="0" indent="0">
              <a:buNone/>
            </a:pPr>
            <a:r>
              <a:rPr lang="en-US" sz="1300" dirty="0">
                <a:solidFill>
                  <a:srgbClr val="E2E8F0"/>
                </a:solidFill>
                <a:latin typeface="Calibri" pitchFamily="34" charset="0"/>
                <a:ea typeface="Calibri" pitchFamily="34" charset="-122"/>
                <a:cs typeface="Calibri" pitchFamily="34" charset="-120"/>
              </a:rPr>
              <a:t>AI agents still need humans to keep them honest — the AG2 framework makes that explicit through session-driven, human-mediated decisions</a:t>
            </a:r>
            <a:endParaRPr lang="en-US" sz="1300" dirty="0"/>
          </a:p>
        </p:txBody>
      </p:sp>
      <p:sp>
        <p:nvSpPr>
          <p:cNvPr id="43" name="Shape 41"/>
          <p:cNvSpPr/>
          <p:nvPr/>
        </p:nvSpPr>
        <p:spPr>
          <a:xfrm>
            <a:off x="457200" y="4663440"/>
            <a:ext cx="8229600" cy="36576"/>
          </a:xfrm>
          <a:prstGeom prst="rect">
            <a:avLst/>
          </a:prstGeom>
          <a:solidFill>
            <a:srgbClr val="0D9488">
              <a:alpha val="60000"/>
            </a:srgbClr>
          </a:solidFill>
          <a:ln/>
        </p:spPr>
        <p:txBody>
          <a:bodyPr/>
          <a:lstStyle/>
          <a:p>
            <a:endParaRPr lang="en-US"/>
          </a:p>
        </p:txBody>
      </p:sp>
      <p:sp>
        <p:nvSpPr>
          <p:cNvPr id="44" name="Text 42"/>
          <p:cNvSpPr/>
          <p:nvPr/>
        </p:nvSpPr>
        <p:spPr>
          <a:xfrm>
            <a:off x="457200" y="4754880"/>
            <a:ext cx="8229600" cy="246888"/>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github.com/cyberneticbookshelf-stack/cyberneticsNLP  ·  paul.wong@anu.edu.au</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77F235-44CF-51D8-9256-4DAB10BFABB1}"/>
              </a:ext>
            </a:extLst>
          </p:cNvPr>
          <p:cNvSpPr txBox="1"/>
          <p:nvPr/>
        </p:nvSpPr>
        <p:spPr>
          <a:xfrm>
            <a:off x="840059" y="1418052"/>
            <a:ext cx="7761248" cy="1477328"/>
          </a:xfrm>
          <a:prstGeom prst="rect">
            <a:avLst/>
          </a:prstGeom>
          <a:noFill/>
        </p:spPr>
        <p:txBody>
          <a:bodyPr wrap="square">
            <a:spAutoFit/>
          </a:bodyPr>
          <a:lstStyle/>
          <a:p>
            <a:r>
              <a:rPr lang="en-US" dirty="0" err="1"/>
              <a:t>Tymgecyoipla</a:t>
            </a:r>
            <a:r>
              <a:rPr lang="en-US" dirty="0"/>
              <a:t xml:space="preserve"> </a:t>
            </a:r>
            <a:r>
              <a:rPr lang="en-US" dirty="0" err="1"/>
              <a:t>trikcs</a:t>
            </a:r>
            <a:r>
              <a:rPr lang="en-US" dirty="0"/>
              <a:t xml:space="preserve"> the </a:t>
            </a:r>
            <a:r>
              <a:rPr lang="en-US" dirty="0" err="1"/>
              <a:t>brian</a:t>
            </a:r>
            <a:r>
              <a:rPr lang="en-US" dirty="0"/>
              <a:t xml:space="preserve"> </a:t>
            </a:r>
            <a:r>
              <a:rPr lang="en-US" dirty="0" err="1"/>
              <a:t>beacsue</a:t>
            </a:r>
            <a:r>
              <a:rPr lang="en-US" dirty="0"/>
              <a:t xml:space="preserve"> we </a:t>
            </a:r>
            <a:r>
              <a:rPr lang="en-US" dirty="0" err="1"/>
              <a:t>dno't</a:t>
            </a:r>
            <a:r>
              <a:rPr lang="en-US" dirty="0"/>
              <a:t xml:space="preserve"> </a:t>
            </a:r>
            <a:r>
              <a:rPr lang="en-US" dirty="0" err="1"/>
              <a:t>raed</a:t>
            </a:r>
            <a:r>
              <a:rPr lang="en-US" dirty="0"/>
              <a:t xml:space="preserve"> </a:t>
            </a:r>
            <a:r>
              <a:rPr lang="en-US" dirty="0" err="1"/>
              <a:t>erevy</a:t>
            </a:r>
            <a:r>
              <a:rPr lang="en-US" dirty="0"/>
              <a:t xml:space="preserve"> </a:t>
            </a:r>
            <a:r>
              <a:rPr lang="en-US" dirty="0" err="1"/>
              <a:t>lteetr</a:t>
            </a:r>
            <a:r>
              <a:rPr lang="en-US" dirty="0"/>
              <a:t xml:space="preserve"> </a:t>
            </a:r>
            <a:r>
              <a:rPr lang="en-US" dirty="0" err="1"/>
              <a:t>sluenleitqay</a:t>
            </a:r>
            <a:r>
              <a:rPr lang="en-US" dirty="0"/>
              <a:t xml:space="preserve">. </a:t>
            </a:r>
            <a:r>
              <a:rPr lang="en-US" dirty="0" err="1"/>
              <a:t>Isneatd</a:t>
            </a:r>
            <a:r>
              <a:rPr lang="en-US" dirty="0"/>
              <a:t xml:space="preserve">, our </a:t>
            </a:r>
            <a:r>
              <a:rPr lang="en-US" dirty="0" err="1"/>
              <a:t>binars</a:t>
            </a:r>
            <a:r>
              <a:rPr lang="en-US" dirty="0"/>
              <a:t xml:space="preserve"> use </a:t>
            </a:r>
            <a:r>
              <a:rPr lang="en-US" dirty="0" err="1"/>
              <a:t>ptteran</a:t>
            </a:r>
            <a:r>
              <a:rPr lang="en-US" dirty="0"/>
              <a:t xml:space="preserve"> </a:t>
            </a:r>
            <a:r>
              <a:rPr lang="en-US" dirty="0" err="1"/>
              <a:t>reoicgtoinn</a:t>
            </a:r>
            <a:r>
              <a:rPr lang="en-US" dirty="0"/>
              <a:t xml:space="preserve"> to </a:t>
            </a:r>
            <a:r>
              <a:rPr lang="en-US" dirty="0" err="1"/>
              <a:t>pcosres</a:t>
            </a:r>
            <a:r>
              <a:rPr lang="en-US" dirty="0"/>
              <a:t xml:space="preserve"> </a:t>
            </a:r>
            <a:r>
              <a:rPr lang="en-US" dirty="0" err="1"/>
              <a:t>fliimaar</a:t>
            </a:r>
            <a:r>
              <a:rPr lang="en-US" dirty="0"/>
              <a:t xml:space="preserve"> word </a:t>
            </a:r>
            <a:r>
              <a:rPr lang="en-US" dirty="0" err="1"/>
              <a:t>sphaes</a:t>
            </a:r>
            <a:r>
              <a:rPr lang="en-US" dirty="0"/>
              <a:t xml:space="preserve"> and key letter </a:t>
            </a:r>
            <a:r>
              <a:rPr lang="en-US" dirty="0" err="1"/>
              <a:t>pootnisis</a:t>
            </a:r>
            <a:r>
              <a:rPr lang="en-US" dirty="0"/>
              <a:t xml:space="preserve"> (</a:t>
            </a:r>
            <a:r>
              <a:rPr lang="en-US" dirty="0" err="1"/>
              <a:t>lilpeaecsy</a:t>
            </a:r>
            <a:r>
              <a:rPr lang="en-US" dirty="0"/>
              <a:t xml:space="preserve"> </a:t>
            </a:r>
            <a:r>
              <a:rPr lang="en-US" dirty="0" err="1"/>
              <a:t>fsirt</a:t>
            </a:r>
            <a:r>
              <a:rPr lang="en-US" dirty="0"/>
              <a:t xml:space="preserve"> and last lets)ter. This </a:t>
            </a:r>
            <a:r>
              <a:rPr lang="en-US" dirty="0" err="1"/>
              <a:t>aolwls</a:t>
            </a:r>
            <a:r>
              <a:rPr lang="en-US" dirty="0"/>
              <a:t xml:space="preserve"> us to read </a:t>
            </a:r>
            <a:r>
              <a:rPr lang="en-US" dirty="0" err="1"/>
              <a:t>qliucky</a:t>
            </a:r>
            <a:r>
              <a:rPr lang="en-US" dirty="0"/>
              <a:t xml:space="preserve"> and even </a:t>
            </a:r>
            <a:r>
              <a:rPr lang="en-US" dirty="0" err="1"/>
              <a:t>usnrdeantd</a:t>
            </a:r>
            <a:r>
              <a:rPr lang="en-US" dirty="0"/>
              <a:t xml:space="preserve"> </a:t>
            </a:r>
            <a:r>
              <a:rPr lang="en-US" dirty="0" err="1"/>
              <a:t>txet</a:t>
            </a:r>
            <a:r>
              <a:rPr lang="en-US" dirty="0"/>
              <a:t xml:space="preserve"> </a:t>
            </a:r>
            <a:r>
              <a:rPr lang="en-US" dirty="0" err="1"/>
              <a:t>wehn</a:t>
            </a:r>
            <a:r>
              <a:rPr lang="en-US" dirty="0"/>
              <a:t xml:space="preserve"> the </a:t>
            </a:r>
            <a:r>
              <a:rPr lang="en-US" dirty="0" err="1"/>
              <a:t>ieonritr</a:t>
            </a:r>
            <a:r>
              <a:rPr lang="en-US" dirty="0"/>
              <a:t xml:space="preserve"> </a:t>
            </a:r>
            <a:r>
              <a:rPr lang="en-US" dirty="0" err="1"/>
              <a:t>leettrs</a:t>
            </a:r>
            <a:r>
              <a:rPr lang="en-US" dirty="0"/>
              <a:t xml:space="preserve"> are </a:t>
            </a:r>
            <a:r>
              <a:rPr lang="en-US" dirty="0" err="1"/>
              <a:t>scamerlbd</a:t>
            </a:r>
            <a:r>
              <a:rPr lang="en-US" dirty="0"/>
              <a:t xml:space="preserve"> or </a:t>
            </a:r>
            <a:r>
              <a:rPr lang="en-US" dirty="0" err="1"/>
              <a:t>cnaiotn</a:t>
            </a:r>
            <a:r>
              <a:rPr lang="en-US" dirty="0"/>
              <a:t xml:space="preserve"> </a:t>
            </a:r>
            <a:r>
              <a:rPr lang="en-US" dirty="0" err="1"/>
              <a:t>tospy</a:t>
            </a:r>
            <a:r>
              <a:rPr lang="en-US" dirty="0"/>
              <a:t>.</a:t>
            </a:r>
          </a:p>
        </p:txBody>
      </p:sp>
      <p:sp>
        <p:nvSpPr>
          <p:cNvPr id="4" name="TextBox 3">
            <a:extLst>
              <a:ext uri="{FF2B5EF4-FFF2-40B4-BE49-F238E27FC236}">
                <a16:creationId xmlns:a16="http://schemas.microsoft.com/office/drawing/2014/main" id="{FF1ADB4D-D403-6FF1-1B5B-42D89B85C81D}"/>
              </a:ext>
            </a:extLst>
          </p:cNvPr>
          <p:cNvSpPr txBox="1"/>
          <p:nvPr/>
        </p:nvSpPr>
        <p:spPr>
          <a:xfrm>
            <a:off x="2230246" y="869795"/>
            <a:ext cx="4962512" cy="369332"/>
          </a:xfrm>
          <a:prstGeom prst="rect">
            <a:avLst/>
          </a:prstGeom>
          <a:noFill/>
        </p:spPr>
        <p:txBody>
          <a:bodyPr wrap="none" rtlCol="0">
            <a:spAutoFit/>
          </a:bodyPr>
          <a:lstStyle/>
          <a:p>
            <a:r>
              <a:rPr lang="en-US" dirty="0" err="1"/>
              <a:t>Typoglycemia</a:t>
            </a:r>
            <a:r>
              <a:rPr lang="en-US" dirty="0"/>
              <a:t xml:space="preserve">, Filling-in, Intelligence, and Stupidity </a:t>
            </a:r>
          </a:p>
        </p:txBody>
      </p:sp>
    </p:spTree>
    <p:extLst>
      <p:ext uri="{BB962C8B-B14F-4D97-AF65-F5344CB8AC3E}">
        <p14:creationId xmlns:p14="http://schemas.microsoft.com/office/powerpoint/2010/main" val="27047150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2406</Words>
  <Application>Microsoft Macintosh PowerPoint</Application>
  <PresentationFormat>On-screen Show (16:9)</PresentationFormat>
  <Paragraphs>363</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Informetrics of Cybernetics</dc:title>
  <dc:subject>PptxGenJS Presentation</dc:subject>
  <dc:creator>Paul Wong</dc:creator>
  <cp:lastModifiedBy>Paul Wong</cp:lastModifiedBy>
  <cp:revision>9</cp:revision>
  <dcterms:created xsi:type="dcterms:W3CDTF">2026-03-30T04:43:47Z</dcterms:created>
  <dcterms:modified xsi:type="dcterms:W3CDTF">2026-04-14T11:39:02Z</dcterms:modified>
</cp:coreProperties>
</file>