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EC08D2-94A7-6C77-5D87-818355955A9E}" v="3" dt="2026-03-30T12:05:28.7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ul Wong" userId="S::u9714433@anu.edu.au::5e64d0a3-bab2-48bb-9a3e-8a148f9f6928" providerId="AD" clId="Web-{CDEC08D2-94A7-6C77-5D87-818355955A9E}"/>
    <pc:docChg chg="modSld">
      <pc:chgData name="Paul Wong" userId="S::u9714433@anu.edu.au::5e64d0a3-bab2-48bb-9a3e-8a148f9f6928" providerId="AD" clId="Web-{CDEC08D2-94A7-6C77-5D87-818355955A9E}" dt="2026-03-30T12:05:28.719" v="2" actId="1076"/>
      <pc:docMkLst>
        <pc:docMk/>
      </pc:docMkLst>
      <pc:sldChg chg="addSp modSp">
        <pc:chgData name="Paul Wong" userId="S::u9714433@anu.edu.au::5e64d0a3-bab2-48bb-9a3e-8a148f9f6928" providerId="AD" clId="Web-{CDEC08D2-94A7-6C77-5D87-818355955A9E}" dt="2026-03-30T12:05:28.719" v="2" actId="1076"/>
        <pc:sldMkLst>
          <pc:docMk/>
          <pc:sldMk cId="0" sldId="257"/>
        </pc:sldMkLst>
        <pc:picChg chg="add mod">
          <ac:chgData name="Paul Wong" userId="S::u9714433@anu.edu.au::5e64d0a3-bab2-48bb-9a3e-8a148f9f6928" providerId="AD" clId="Web-{CDEC08D2-94A7-6C77-5D87-818355955A9E}" dt="2026-03-30T12:05:28.719" v="2" actId="1076"/>
          <ac:picMkLst>
            <pc:docMk/>
            <pc:sldMk cId="0" sldId="257"/>
            <ac:picMk id="24" creationId="{1751FD9A-E57A-DE50-691A-DB8B4AF1302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7017ED-2D8C-4973-B524-FD7C29B480D6}" type="datetimeFigureOut"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ECA9D7-41BA-4B16-81E9-1C2E4446407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688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E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1828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760720" y="1828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217920" y="1828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675120" y="1828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132320" y="1828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589520" y="1828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046720" y="1828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303520" y="6400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760720" y="6400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0" y="6400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675120" y="6400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132320" y="6400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589520" y="6400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0" y="6400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303520" y="10972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760720" y="10972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0972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0" y="10972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0" y="10972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589520" y="10972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046720" y="10972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303520" y="15544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0" y="15544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0" y="15544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675120" y="15544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132320" y="15544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589520" y="15544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046720" y="15544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303520" y="20116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760720" y="20116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217920" y="20116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675120" y="20116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132320" y="20116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589520" y="20116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046720" y="2011680"/>
            <a:ext cx="91440" cy="91440"/>
          </a:xfrm>
          <a:prstGeom prst="ellipse">
            <a:avLst/>
          </a:prstGeom>
          <a:solidFill>
            <a:srgbClr val="0D9488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57200" y="1188720"/>
            <a:ext cx="82296" cy="2743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1188720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Informetrics of Cybernetics</a:t>
            </a:r>
            <a:endParaRPr lang="en-US" sz="3600" dirty="0"/>
          </a:p>
        </p:txBody>
      </p:sp>
      <p:sp>
        <p:nvSpPr>
          <p:cNvPr id="39" name="Text 37"/>
          <p:cNvSpPr/>
          <p:nvPr/>
        </p:nvSpPr>
        <p:spPr>
          <a:xfrm>
            <a:off x="713232" y="214884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CEF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(or When Nerds Meet Cool Kids)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457200" y="2834640"/>
            <a:ext cx="8229600" cy="36576"/>
          </a:xfrm>
          <a:prstGeom prst="rect">
            <a:avLst/>
          </a:prstGeom>
          <a:solidFill>
            <a:srgbClr val="0D9488">
              <a:alpha val="5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30175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Wong  ·  School of Cybernetics, ANU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3232" y="33832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Claude Sonnet 4.6 (Anthropic)  ·  Work in Progress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315200" y="3383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the Speaker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926080" cy="3840480"/>
          </a:xfrm>
          <a:prstGeom prst="rect">
            <a:avLst/>
          </a:prstGeom>
          <a:solidFill>
            <a:srgbClr val="1B2E4B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515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Paul Wong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48132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F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 Wong Man  ·  aka School Fairy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207568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Deviant logician (with pride)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4360" y="2423160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PhD: Automated Reasoning, ANU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" y="277063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Public service → DSTO → ANU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3118104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Senior Lecturer, School of Cybernetics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3465576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Consultant: Chief Scientist, DFAT, Qatar Foundation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381304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Playback Theatre practitioner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4160520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Experimental / improvised musician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566160" y="914400"/>
            <a:ext cx="5120640" cy="18288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66160" y="914400"/>
            <a:ext cx="512064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3703320" y="1097280"/>
            <a:ext cx="4800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"disobedient · impolite · hyperactive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i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talkative · inattentive"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03320" y="1938528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Elementary school report card  (wears this as a badge of honour)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566160" y="2880360"/>
            <a:ext cx="5120640" cy="187452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566160" y="2880360"/>
            <a:ext cx="512064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3703320" y="299923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Talk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703320" y="341071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is Informetrics?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03320" y="3712464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CyberneticsNLP — the pipeline &amp; findings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703320" y="4014216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CyberneticsAR — the extension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03320" y="431596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AI–Human teaming as a research agenda</a:t>
            </a:r>
            <a:endParaRPr lang="en-US" sz="12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751FD9A-E57A-DE50-691A-DB8B4AF13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796" y="3120306"/>
            <a:ext cx="1246632" cy="138494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Informetrics?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00584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024128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Informetrics is the statistical and quantitative analysis of information-theoretic phenomena applied to social processes, knowledge systems, and scholarly activities. It treats information itself as a measurable object of study.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651760" cy="27432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103120"/>
            <a:ext cx="265176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2103120"/>
            <a:ext cx="25054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Bibliometrics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63347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scholarly practice of attribution through bibliographies — citation analysis, reference patterns, h-index, journal impact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4096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cites whom? How do ideas propagate?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37560" y="2103120"/>
            <a:ext cx="2651760" cy="27432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2103120"/>
            <a:ext cx="2651760" cy="4572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3410712" y="2103120"/>
            <a:ext cx="25054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Scientometrics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263347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study of scientific practice — output, collaboration networks, institutional productivity, field growth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29000" y="4096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science evolve as a social enterprise?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2103120"/>
            <a:ext cx="2651760" cy="27432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2103120"/>
            <a:ext cx="265176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103120"/>
            <a:ext cx="25054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Informetrics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9360" y="263347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NLP, topic modelling, network analysis, machine learning — extracting structure from large text corpora at scale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09360" y="4096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700 cybernetics books look like as a map?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Cybernetic Bookshelf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920240" cy="1463040"/>
          </a:xfrm>
          <a:prstGeom prst="rect">
            <a:avLst/>
          </a:prstGeom>
          <a:solidFill>
            <a:srgbClr val="1B2E4B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005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675+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7556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06040" y="960120"/>
            <a:ext cx="1920240" cy="1463040"/>
          </a:xfrm>
          <a:prstGeom prst="rect">
            <a:avLst/>
          </a:prstGeom>
          <a:solidFill>
            <a:srgbClr val="1B2E4B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606040" y="1005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7,349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606040" y="17556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960120"/>
            <a:ext cx="1920240" cy="1463040"/>
          </a:xfrm>
          <a:prstGeom prst="rect">
            <a:avLst/>
          </a:prstGeom>
          <a:solidFill>
            <a:srgbClr val="1B2E4B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005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70+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754880" y="17556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1954–2025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03720" y="960120"/>
            <a:ext cx="1920240" cy="1463040"/>
          </a:xfrm>
          <a:prstGeom prst="rect">
            <a:avLst/>
          </a:prstGeom>
          <a:solidFill>
            <a:srgbClr val="1B2E4B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03720" y="1005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903720" y="17556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source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(Calibre)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606040"/>
            <a:ext cx="8229600" cy="224028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606040"/>
            <a:ext cx="82296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606040"/>
            <a:ext cx="82296" cy="2240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724912"/>
            <a:ext cx="7863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1940s–60s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works — Wiener, Ashby, Beer, Shannon, McCulloch &amp; Pitts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209544"/>
            <a:ext cx="7863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1960s–70s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Second-order cybernetics — von Foerster, Maturana, Varela, Bateson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694176"/>
            <a:ext cx="7863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1950s–90s*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Systems Theory (Bertalanffy 1950s+), management cybernetics, biosemiotics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4178808"/>
            <a:ext cx="7863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1990s–now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Complexity, enactivism, digital humanities, ANU School of Cybernetics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681728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GST dates from the 1950s; corpus coverage of that period may be incomplete.  Findings are provisional — the collection is not exhaustive.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Are We Trying to Find Out?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87552"/>
            <a:ext cx="82296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1152144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52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15568" y="1097280"/>
            <a:ext cx="6309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major intellectual ideas within cybernetics?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516368" y="1188720"/>
            <a:ext cx="1005840" cy="301752"/>
          </a:xfrm>
          <a:prstGeom prst="rect">
            <a:avLst/>
          </a:prstGeom>
          <a:solidFill>
            <a:srgbClr val="0D9488">
              <a:alpha val="2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7516368" y="1188720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792224"/>
            <a:ext cx="822960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792224"/>
            <a:ext cx="82296" cy="69494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" y="1956816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15568" y="1901952"/>
            <a:ext cx="6309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the field evolved since the 1950s — who and what has driven change?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16368" y="1993392"/>
            <a:ext cx="1005840" cy="301752"/>
          </a:xfrm>
          <a:prstGeom prst="rect">
            <a:avLst/>
          </a:prstGeom>
          <a:solidFill>
            <a:srgbClr val="1D4ED8">
              <a:alpha val="2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7516368" y="1993392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596896"/>
            <a:ext cx="82296" cy="69494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276148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15568" y="2706624"/>
            <a:ext cx="6309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concepts and persons are most central across the literature?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516368" y="2798064"/>
            <a:ext cx="1005840" cy="301752"/>
          </a:xfrm>
          <a:prstGeom prst="rect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516368" y="279806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01568"/>
            <a:ext cx="822960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401568"/>
            <a:ext cx="82296" cy="694944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" y="356616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15568" y="3511296"/>
            <a:ext cx="6309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key terms migrate between subdisciplines over time?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516368" y="3602736"/>
            <a:ext cx="1005840" cy="301752"/>
          </a:xfrm>
          <a:prstGeom prst="rect">
            <a:avLst/>
          </a:prstGeom>
          <a:solidFill>
            <a:srgbClr val="DB2777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7516368" y="3602736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206240"/>
            <a:ext cx="822960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4206240"/>
            <a:ext cx="82296" cy="69494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792" y="4370832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" y="4370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115568" y="4315968"/>
            <a:ext cx="6309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AI-human teaming look like in practice for research?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516368" y="4407408"/>
            <a:ext cx="1005840" cy="301752"/>
          </a:xfrm>
          <a:prstGeom prst="rect">
            <a:avLst/>
          </a:prstGeom>
          <a:solidFill>
            <a:srgbClr val="EA580C">
              <a:alpha val="2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7516368" y="440740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E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17220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67512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17804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8096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17220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17804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17220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7804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8096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169164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234440" y="16002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Collaboration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234440" y="246888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C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+ AI co-authorship — what it looks like in practice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4572000"/>
            <a:ext cx="8229600" cy="36576"/>
          </a:xfrm>
          <a:prstGeom prst="rect">
            <a:avLst/>
          </a:prstGeom>
          <a:solidFill>
            <a:srgbClr val="0D9488">
              <a:alpha val="60000"/>
            </a:srgbClr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Did What?  (CRediT Taxonomy)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356616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Wong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Sonnet 4.6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Conceptualisation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✦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expertise (cybernetics)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✦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 (26 pipeline scripts)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◆ Supporting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✦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✦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✦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curation (corpus assembly)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✦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◆ Supporting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Documentation  (1,600+ lines)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◆ Supporting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✦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Supervision &amp; Project 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✦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451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Lead  ·  ◆ Supporting  ·  — Not involved     |     Taxonomy proposed by Claude, reviewed and modified by Paul — expected to evolve as the work continues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CyberneticsNLP — 5 Sessions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2304288"/>
            <a:ext cx="8046720" cy="54864"/>
          </a:xfrm>
          <a:prstGeom prst="rect">
            <a:avLst/>
          </a:prstGeom>
          <a:solidFill>
            <a:srgbClr val="0D9488">
              <a:alpha val="6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12064" y="166420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 20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94944" y="1993392"/>
            <a:ext cx="658368" cy="228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99339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v0.1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9536" y="2203704"/>
            <a:ext cx="347472" cy="347472"/>
          </a:xfrm>
          <a:prstGeom prst="ellipse">
            <a:avLst/>
          </a:prstGeom>
          <a:solidFill>
            <a:srgbClr val="1B2E4B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" y="2697480"/>
            <a:ext cx="1508760" cy="20574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" y="2697480"/>
            <a:ext cx="150876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283464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1–10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ingestion,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LDA/NMF topics,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reports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176272" y="166420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 21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59152" y="1993392"/>
            <a:ext cx="658368" cy="228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2359152" y="199339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v0.2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523744" y="2203704"/>
            <a:ext cx="347472" cy="347472"/>
          </a:xfrm>
          <a:prstGeom prst="ellipse">
            <a:avLst/>
          </a:prstGeom>
          <a:solidFill>
            <a:srgbClr val="1B2E4B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03120" y="2697480"/>
            <a:ext cx="1508760" cy="20574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03120" y="2697480"/>
            <a:ext cx="150876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2176272" y="283464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grounding,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velocity,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comparison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40480" y="166420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 24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23360" y="1993392"/>
            <a:ext cx="658368" cy="228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4023360" y="199339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v0.3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87952" y="2203704"/>
            <a:ext cx="347472" cy="347472"/>
          </a:xfrm>
          <a:prstGeom prst="ellipse">
            <a:avLst/>
          </a:prstGeom>
          <a:solidFill>
            <a:srgbClr val="1B2E4B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67328" y="2697480"/>
            <a:ext cx="1508760" cy="20574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767328" y="2697480"/>
            <a:ext cx="150876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0" y="283464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network,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classifier,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checker,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tests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504688" y="166420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 27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87568" y="1993392"/>
            <a:ext cx="658368" cy="228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5687568" y="199339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v0.4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852160" y="2203704"/>
            <a:ext cx="347472" cy="347472"/>
          </a:xfrm>
          <a:prstGeom prst="ellipse">
            <a:avLst/>
          </a:prstGeom>
          <a:solidFill>
            <a:srgbClr val="1B2E4B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31536" y="2697480"/>
            <a:ext cx="1508760" cy="20574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31536" y="2697480"/>
            <a:ext cx="150876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5504688" y="283464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 NER corrections,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262 name-merge rules,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graph layouts,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rewrite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168896" y="166420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 30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51776" y="1993392"/>
            <a:ext cx="658368" cy="228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4" name="Text 32"/>
          <p:cNvSpPr/>
          <p:nvPr/>
        </p:nvSpPr>
        <p:spPr>
          <a:xfrm>
            <a:off x="7351776" y="199339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v0.5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16368" y="2203704"/>
            <a:ext cx="347472" cy="347472"/>
          </a:xfrm>
          <a:prstGeom prst="ellipse">
            <a:avLst/>
          </a:prstGeom>
          <a:solidFill>
            <a:srgbClr val="1B2E4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95744" y="2697480"/>
            <a:ext cx="1508760" cy="20574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095744" y="2697480"/>
            <a:ext cx="150876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7168896" y="283464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preparation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session):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deck, PDF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extracts, AG2 review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pipeline scripts  ·  1,600+ line methodology doc  ·  900+ line decision log  ·  15 regression tests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E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17220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67512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17804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8096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17220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17804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17220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7804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8096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169164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234440" y="16002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Pipeline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234440" y="246888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C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15-step reproducible NLP architecture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4572000"/>
            <a:ext cx="8229600" cy="36576"/>
          </a:xfrm>
          <a:prstGeom prst="rect">
            <a:avLst/>
          </a:prstGeom>
          <a:solidFill>
            <a:srgbClr val="0D9488">
              <a:alpha val="60000"/>
            </a:srgbClr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at a Glance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84048" y="914400"/>
            <a:ext cx="1261872" cy="868680"/>
          </a:xfrm>
          <a:prstGeom prst="rect">
            <a:avLst/>
          </a:prstGeom>
          <a:solidFill>
            <a:srgbClr val="0D9488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84048" y="91440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0" y="1316736"/>
            <a:ext cx="173736" cy="6400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" name="Shape 4"/>
          <p:cNvSpPr/>
          <p:nvPr/>
        </p:nvSpPr>
        <p:spPr>
          <a:xfrm>
            <a:off x="1819656" y="914400"/>
            <a:ext cx="1261872" cy="868680"/>
          </a:xfrm>
          <a:prstGeom prst="rect">
            <a:avLst/>
          </a:prstGeom>
          <a:solidFill>
            <a:srgbClr val="1D4ED8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9656" y="91440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81528" y="1316736"/>
            <a:ext cx="173736" cy="6400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9" name="Shape 7"/>
          <p:cNvSpPr/>
          <p:nvPr/>
        </p:nvSpPr>
        <p:spPr>
          <a:xfrm>
            <a:off x="3255264" y="914400"/>
            <a:ext cx="1261872" cy="868680"/>
          </a:xfrm>
          <a:prstGeom prst="rect">
            <a:avLst/>
          </a:prstGeom>
          <a:solidFill>
            <a:srgbClr val="1D4ED8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55264" y="91440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(API)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17136" y="1316736"/>
            <a:ext cx="173736" cy="6400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2" name="Shape 10"/>
          <p:cNvSpPr/>
          <p:nvPr/>
        </p:nvSpPr>
        <p:spPr>
          <a:xfrm>
            <a:off x="4690872" y="914400"/>
            <a:ext cx="1261872" cy="868680"/>
          </a:xfrm>
          <a:prstGeom prst="rect">
            <a:avLst/>
          </a:prstGeom>
          <a:solidFill>
            <a:srgbClr val="7C3AED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91440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52744" y="1316736"/>
            <a:ext cx="173736" cy="6400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6480" y="914400"/>
            <a:ext cx="1261872" cy="868680"/>
          </a:xfrm>
          <a:prstGeom prst="rect">
            <a:avLst/>
          </a:prstGeom>
          <a:solidFill>
            <a:srgbClr val="DB2777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26480" y="91440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Velocity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88352" y="1316736"/>
            <a:ext cx="173736" cy="6400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62088" y="914400"/>
            <a:ext cx="1261872" cy="868680"/>
          </a:xfrm>
          <a:prstGeom prst="rect">
            <a:avLst/>
          </a:prstGeom>
          <a:solidFill>
            <a:srgbClr val="EA580C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562088" y="91440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1993392"/>
            <a:ext cx="82296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048256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0–2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00200" y="204825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&amp; Cleaning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49040" y="2048256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CSV parse · state-machine boilerplate removal · Hunspell + regex filtering · 7–16% token removal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514600"/>
            <a:ext cx="8229600" cy="475488"/>
          </a:xfrm>
          <a:prstGeom prst="rect">
            <a:avLst/>
          </a:prstGeom>
          <a:solidFill>
            <a:srgbClr val="EDF2F7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2569464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3–4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600200" y="256946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Modelling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49040" y="2569464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(7 topics, book-level, TF-IDF 3 000 features) · NMF (6 topics, chapter-level) · seed 99, stable across 4 seeds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035808"/>
            <a:ext cx="82296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090672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600200" y="309067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Summaries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749040" y="3090672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· 675 books · ~$25–35 · fully resumable · verbatim similarity checking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557016"/>
            <a:ext cx="8229600" cy="475488"/>
          </a:xfrm>
          <a:prstGeom prst="rect">
            <a:avLst/>
          </a:prstGeom>
          <a:solidFill>
            <a:srgbClr val="EDF2F7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6118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9–12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600200" y="3611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&amp; Grounding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749040" y="36118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term extraction · 262 person-name merge rules · lift scores · concept density scatter · concept velocity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4078224"/>
            <a:ext cx="82296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133088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14–15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00200" y="41330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Network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749040" y="413308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3-stage NER: heuristics → spaCy → Wikidata · PMI × reliability edges · 4 node kinds · 4 graph layouts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Topic Modelling — LDA &amp; NMF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3977640" cy="393192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868680"/>
            <a:ext cx="397764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96012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Book-Level  ·  LDA  ·  7 Topics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316736"/>
            <a:ext cx="3749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Dirichlet Allocation — probabilistic model that treats each document as a mixture of topics, discovering word co-occurrence patterns across the full corpus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4360" y="1938528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TF-IDF · 3,000 features · 4+ char tokens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606040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7 topics selected via coherence + interpretability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4360" y="3273552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Topic names: API-proposed, Paul reviewed — further automation planned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3941064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Tested across 4 random seeds — additional seeds needed to validate stability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868680"/>
            <a:ext cx="3977640" cy="393192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868680"/>
            <a:ext cx="3977640" cy="6400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4773168" y="96012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Chapter-Level  ·  NMF  ·  6 Topics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73168" y="1316736"/>
            <a:ext cx="3749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Non-negative Matrix Factorisation — parts-based decomposition of a term matrix; tends to produce more focused, distinct topics than LDA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00600" y="1938528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Input: abstractive summaries (not raw text)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800600" y="2606040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6 topics vs 7 (LDA): summaries are shorter &amp; denser; fewer latent dimensions emerge naturally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800600" y="3273552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Runs independently of book-level pipeline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00600" y="3941064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Chapter-level clustering analysed separately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873752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stability across seeds is promising but requires further validation  ·  More automated naming approaches are under development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E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17220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67512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17804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8096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17220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17804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17220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7804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8096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169164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234440" y="16002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Findings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234440" y="246888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C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corpus reveals about the cybernetics intellectual landscape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4572000"/>
            <a:ext cx="8229600" cy="36576"/>
          </a:xfrm>
          <a:prstGeom prst="rect">
            <a:avLst/>
          </a:prstGeom>
          <a:solidFill>
            <a:srgbClr val="0D9488">
              <a:alpha val="60000"/>
            </a:srgbClr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Intellectual Map — 7 LDA Topics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names: Claude inspected the top-20 words per topic and proposed labels; Paul reviewed and accepted or modified each. This is a provisional naming — more automated approaches are under development.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4069080" cy="758952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15568"/>
            <a:ext cx="73152" cy="7589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1207008"/>
            <a:ext cx="347472" cy="24688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0700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24128" y="1170432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&amp; Social Experience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24128" y="157276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· media · technology · social · cybernetic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4069080" cy="758952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29968"/>
            <a:ext cx="73152" cy="7589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121408"/>
            <a:ext cx="347472" cy="24688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12140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24128" y="2084832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&amp; Formal Systems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24128" y="248716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wiener · machine · mathematical · computer · language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069080" cy="758952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944368"/>
            <a:ext cx="73152" cy="7589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035808"/>
            <a:ext cx="347472" cy="24688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03580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4128" y="2999232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Systems Theory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024128" y="340156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· cybernetics · social · management · design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58768"/>
            <a:ext cx="4069080" cy="758952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58768"/>
            <a:ext cx="73152" cy="7589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950208"/>
            <a:ext cx="347472" cy="2468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395020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24128" y="3913632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&amp; Philosophy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24128" y="431596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· human · theory · life · knowledge · philosophy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1115568"/>
            <a:ext cx="4069080" cy="105156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1115568"/>
            <a:ext cx="73152" cy="105156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30" name="Shape 28"/>
          <p:cNvSpPr/>
          <p:nvPr/>
        </p:nvSpPr>
        <p:spPr>
          <a:xfrm>
            <a:off x="4846320" y="1207008"/>
            <a:ext cx="347472" cy="246888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120700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276088" y="1170432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2nd-Order Cybernetics &amp; Bateson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276088" y="157276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bateson · communication · living · order · self · reality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09160" y="2331720"/>
            <a:ext cx="4069080" cy="105156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2331720"/>
            <a:ext cx="73152" cy="105156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6320" y="2423160"/>
            <a:ext cx="347472" cy="24688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7" name="Text 35"/>
          <p:cNvSpPr/>
          <p:nvPr/>
        </p:nvSpPr>
        <p:spPr>
          <a:xfrm>
            <a:off x="4846320" y="242316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76088" y="2386584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Theory &amp; Engineering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276088" y="2788920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· systems · behavior · feedback · model · function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09160" y="3547872"/>
            <a:ext cx="4069080" cy="105156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709160" y="3547872"/>
            <a:ext cx="73152" cy="10515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4846320" y="3639312"/>
            <a:ext cx="347472" cy="24688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3" name="Text 41"/>
          <p:cNvSpPr/>
          <p:nvPr/>
        </p:nvSpPr>
        <p:spPr>
          <a:xfrm>
            <a:off x="4846320" y="363931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T7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276088" y="360273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&amp; Applied Cybernetics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276088" y="4005072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· world · human · life · make · years · think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Field Has Evolved: 1954–2025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069080" cy="173736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4069080" cy="43891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960120"/>
            <a:ext cx="3886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Era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1940s – 1960s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3886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theory, cybernetics, information theory born simultaneously. Wiener, Ashby, Shannon, Beer. The Macy Conferences unite biologists, engineers, and mathematicians.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414016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Dominant: T2 Mathematical · T6 Control Theory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069080" cy="173736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960120"/>
            <a:ext cx="4069080" cy="4389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4800600" y="960120"/>
            <a:ext cx="3886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Second-Order Wave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1960s – 1970s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00600" y="1435608"/>
            <a:ext cx="3886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Foerster, Maturana &amp; Varela (autopoiesis), Bateson. Cybernetics turns on itself — the observer enters the system. Biology and philosophy intersect.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0600" y="2414016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Dominant: T5 2nd-Order · T4 History &amp; Philosophy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4069080" cy="173736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880360"/>
            <a:ext cx="4069080" cy="43891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880360"/>
            <a:ext cx="3886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Fragmentation &amp; Specialisation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1980s – 1990s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355848"/>
            <a:ext cx="3886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splits into management cybernetics, biosemiotics, AI, complexity. VSM (Beer), Luhmann's social systems theory. Smaller but denser publishing.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334256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Dominant: T3 Systems Theory · T6 Control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4069080" cy="173736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880360"/>
            <a:ext cx="4069080" cy="438912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2880360"/>
            <a:ext cx="3886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&amp; Revival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2000s – 2025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55848"/>
            <a:ext cx="3886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science, enactivism, digital humanities, ANU School of Cybernetics. Largest publication volume. New voices, interdisciplinary reach.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0600" y="4334256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Dominant: T1 Human &amp; Social · T7 Popular &amp; Applied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 Velocity: How Terms Migrate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18872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73152" cy="1188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033272"/>
            <a:ext cx="1143000" cy="2926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Anchor Terms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74520" y="1024128"/>
            <a:ext cx="6629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pervasive — present across all topics and all decades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1389888"/>
            <a:ext cx="78638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feedback  ·  system  ·  control  ·  information  ·  communication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664208"/>
            <a:ext cx="7863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density, low lift — define the field's shared vocabulary but don't discriminate between traditions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8229600" cy="118872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304288"/>
            <a:ext cx="73152" cy="1188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377440"/>
            <a:ext cx="1143000" cy="2926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3774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Signal Terms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74520" y="2368296"/>
            <a:ext cx="6629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discriminating — strongly associated with one tradition only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" y="2734056"/>
            <a:ext cx="78638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autopoiesis  ·  schismogenesis  ·  eigenform  ·  requisite variety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08376"/>
            <a:ext cx="7863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lift within one topic — reveal the unique conceptual DNA of each intellectual tradition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48456"/>
            <a:ext cx="8229600" cy="118872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648456"/>
            <a:ext cx="73152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721608"/>
            <a:ext cx="1143000" cy="2926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7216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Frontier Terms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3712464"/>
            <a:ext cx="6629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ideas showing movement and migration across topics over time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4360" y="4078224"/>
            <a:ext cx="78638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resilience  ·  complexity  ·  emergence  ·  embodiment  ·  enactivism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4352544"/>
            <a:ext cx="7863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&gt; 0 across decades — track where the field is expanding and evolving next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Visualised in Chart 7 of the time series report (book_nlp_timeseries.html)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Entity Relational Network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965960" cy="1508760"/>
          </a:xfrm>
          <a:prstGeom prst="rect">
            <a:avLst/>
          </a:prstGeom>
          <a:solidFill>
            <a:srgbClr val="1D4ED8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96012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30352" y="146304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Wiener · Ashby · Bateson · Beer · von Foerster · Maturana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33472" y="914400"/>
            <a:ext cx="1965960" cy="1508760"/>
          </a:xfrm>
          <a:prstGeom prst="rect">
            <a:avLst/>
          </a:prstGeom>
          <a:solidFill>
            <a:srgbClr val="0D9488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633472" y="96012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06624" y="146304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· autopoiesis · requisite variety · entropy · homeostasis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809744" y="914400"/>
            <a:ext cx="1965960" cy="1508760"/>
          </a:xfrm>
          <a:prstGeom prst="rect">
            <a:avLst/>
          </a:prstGeom>
          <a:solidFill>
            <a:srgbClr val="7C3AED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9744" y="96012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82896" y="146304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· Macy Foundation · Tavistock Institute · Bell Labs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986016" y="914400"/>
            <a:ext cx="1965960" cy="1508760"/>
          </a:xfrm>
          <a:prstGeom prst="rect">
            <a:avLst/>
          </a:prstGeom>
          <a:solidFill>
            <a:srgbClr val="EA580C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86016" y="96012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59168" y="146304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Cambridge · Princeton · Palo Alto · New York · London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606040"/>
            <a:ext cx="8229600" cy="224028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606040"/>
            <a:ext cx="82296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606040"/>
            <a:ext cx="73152" cy="2240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688336"/>
            <a:ext cx="7909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Edges &amp; Classification Work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" y="3108960"/>
            <a:ext cx="7863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Edge weight: PMI × reliability — book-level co-occurrence adjusted for entity frequency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3438144"/>
            <a:ext cx="7863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3-stage NER pipeline: heuristics → spaCy en_core_web_sm → Wikidata REST API (2 req/s, cached permanently)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3767328"/>
            <a:ext cx="7863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121 post-audit manual overrides — e.g. 'stelarc' → person, 'digital' → concept, 'whole earth catalog' → suppress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4096512"/>
            <a:ext cx="7863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4 graph layouts selectable in the UI: Force-directed · Radial · Bipartite · Circular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" y="4425696"/>
            <a:ext cx="7863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Node-kind toggles + degree percentile filter (p75/p90/p95/p99) in the interactive report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E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17220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67512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17804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8096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17220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17804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17220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7804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8096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169164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234440" y="16002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CyberneticsAR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234440" y="246888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C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— federated AI agents meet augmented reality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4572000"/>
            <a:ext cx="8229600" cy="36576"/>
          </a:xfrm>
          <a:prstGeom prst="rect">
            <a:avLst/>
          </a:prstGeom>
          <a:solidFill>
            <a:srgbClr val="0D9488">
              <a:alpha val="60000"/>
            </a:srgbClr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CyberneticsAR — What Is It?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987552"/>
            <a:ext cx="7863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extension of CyberneticsNLP: a team of federated AI agents — each contributing distinct capabilities — collaborates to produce an Augmented Reality experience grounded in the analytical insights from the NLP pipeline.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993392"/>
            <a:ext cx="1554480" cy="260604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993392"/>
            <a:ext cx="1554480" cy="3840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99339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5488" y="2743200"/>
            <a:ext cx="142646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analysis, reasoning, documentation, code generation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93976" y="1993392"/>
            <a:ext cx="1554480" cy="260604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93976" y="1993392"/>
            <a:ext cx="1554480" cy="3840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2139696" y="199339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39696" y="2423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AI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57984" y="2743200"/>
            <a:ext cx="142646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analysis, multilingual corpus support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776472" y="1993392"/>
            <a:ext cx="1554480" cy="260604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776472" y="1993392"/>
            <a:ext cx="1554480" cy="38404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3822192" y="199339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22192" y="2423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2743200"/>
            <a:ext cx="142646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— integrating text, images, and visual data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58968" y="1993392"/>
            <a:ext cx="1554480" cy="260604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58968" y="1993392"/>
            <a:ext cx="1554480" cy="3840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5504688" y="199339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04688" y="2423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522976" y="2743200"/>
            <a:ext cx="142646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scaffolding, repository management, PR review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41464" y="1993392"/>
            <a:ext cx="1554480" cy="260604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41464" y="1993392"/>
            <a:ext cx="1554480" cy="3840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8" name="Text 26"/>
          <p:cNvSpPr/>
          <p:nvPr/>
        </p:nvSpPr>
        <p:spPr>
          <a:xfrm>
            <a:off x="7187184" y="199339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365 Copilot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87184" y="2423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05472" y="2743200"/>
            <a:ext cx="142646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workflow, integration with research artefacts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47548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brings distinct strengths — together they form a federated team for complex research production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AI–Human Teaming — The Meta-Perspective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77640" cy="393192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397764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00584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Projects — Different Purposes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481328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CyberneticsNLP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— understanding an intellectual field through its literature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249424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CyberneticsAR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505456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Service/product development — building AI-assisted tools for active use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017520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is deliberate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273552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goals, different governance, no reverse dependencies between them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7856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generate meta-data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4041648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logs, CRediT records, overrides — data about AI–human teaming itself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914400"/>
            <a:ext cx="4023360" cy="3931920"/>
          </a:xfrm>
          <a:prstGeom prst="rect">
            <a:avLst/>
          </a:prstGeom>
          <a:solidFill>
            <a:srgbClr val="1B2E4B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00600" y="100584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Questions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148132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of labour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a human direct vs. delegate? What tasks are AI-inappropriate?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00600" y="21396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validation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239572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verify AI-generated code, analysis, or decisions at scale?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00600" y="2798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0540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26 scripts are Claude's code, whose intellectual property is it?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0600" y="345643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dynamics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7124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AI agents on one project — how do they coordinate without conflict?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00600" y="41148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00600" y="437083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another team reproduce AI-assisted research without the same AI?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E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17220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67512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17804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80960" y="27432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17220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17804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0" y="77724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17220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7804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80960" y="1280160"/>
            <a:ext cx="128016" cy="128016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169164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234440" y="16002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Reflections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234440" y="246888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C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worked, what surprised us, and what's next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4572000"/>
            <a:ext cx="8229600" cy="36576"/>
          </a:xfrm>
          <a:prstGeom prst="rect">
            <a:avLst/>
          </a:prstGeom>
          <a:solidFill>
            <a:srgbClr val="0D9488">
              <a:alpha val="60000"/>
            </a:srgbClr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Worked · What Surprised 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77640" cy="393192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397764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00584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 What Worked Well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481328"/>
            <a:ext cx="370332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Speed: full 15-step pipeline in 4 sessions — ~1 week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94360" y="2121408"/>
            <a:ext cx="370332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Code quality: 15 regression tests, integrity checker, resumable at every step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761488"/>
            <a:ext cx="370332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Documentation: methodology, decisions, changelog — all written by Claude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4360" y="3401568"/>
            <a:ext cx="370332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Domain adaptation: cybernetics whitelist, 262 name-merge rules, NER audit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4041648"/>
            <a:ext cx="370332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Iterative co-design: Paul shaped questions; Claude coded answers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914400"/>
            <a:ext cx="4023360" cy="3931920"/>
          </a:xfrm>
          <a:prstGeom prst="rect">
            <a:avLst/>
          </a:prstGeom>
          <a:solidFill>
            <a:srgbClr val="1B2E4B"/>
          </a:solidFill>
          <a:ln/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00600" y="100584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  Surprises &amp; Limitations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1481328"/>
            <a:ext cx="374904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Entity classifier needed 121 manual overrides after automated passes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00600" y="2121408"/>
            <a:ext cx="374904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OCR line-break hyphens ('feed-\nback') were a significant noise source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00600" y="2761488"/>
            <a:ext cx="374904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Topic stability held across 4 random seeds — unexpectedly robust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800600" y="3401568"/>
            <a:ext cx="374904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Wikidata API added genuine disambiguation for ambiguous names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800600" y="4041648"/>
            <a:ext cx="374904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17 API summaries failed verbatim-similarity checks — needed regeneration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E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51760" cy="393192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2651760" cy="47548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91440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Immediately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quality: filter entity noise (OCR artefacts, suffix fragments)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1396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validation: rerun LDA/NMF across more random seeds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980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 17 missing summaries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456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spaCy + Wikidata entity pass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9272" y="914400"/>
            <a:ext cx="2651760" cy="393192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914400"/>
            <a:ext cx="2651760" cy="47548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3410712" y="91440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— Analysis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10712" y="148132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theses corpus: same pipeline on ~1,300 cybernetics dissertations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10712" y="21396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analysis (conferences, milestones)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10712" y="27980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Co-citation network from bibliographies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10712" y="3456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entity analysis across decades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81344" y="914400"/>
            <a:ext cx="2651760" cy="393192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81344" y="914400"/>
            <a:ext cx="2651760" cy="4754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6272784" y="91440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 — Publication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72784" y="148132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Mapping the Cybernetics Intellectual Landscape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72784" y="21396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Targets: Kybernetes · DHQ · Systems Research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72784" y="27980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Zenodo DOI deposit + GitHub v1.0 release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72784" y="3456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CyberneticsAR extension continues in parallel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E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22860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577840" y="22860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126480" y="22860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675120" y="22860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22860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772400" y="22860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029200" y="73152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77840" y="73152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126480" y="73152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0" y="73152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223760" y="73152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0" y="73152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0" y="123444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577840" y="123444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126480" y="123444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0" y="123444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223760" y="123444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0" y="123444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0" y="173736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0" y="173736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26480" y="173736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75120" y="173736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7223760" y="173736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0" y="1737360"/>
            <a:ext cx="109728" cy="109728"/>
          </a:xfrm>
          <a:prstGeom prst="ellipse">
            <a:avLst/>
          </a:prstGeom>
          <a:solidFill>
            <a:srgbClr val="0D9488">
              <a:alpha val="3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1005840"/>
            <a:ext cx="82296" cy="3108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" y="10058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28" name="Shape 26"/>
          <p:cNvSpPr/>
          <p:nvPr/>
        </p:nvSpPr>
        <p:spPr>
          <a:xfrm>
            <a:off x="713232" y="1691640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" y="1691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88720" y="1673352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Cybernetics is an evolving intellectual tradition and practice, with different thematic emphases across time and application domains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13232" y="2313432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713232" y="23134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88720" y="2295144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velocity reveals which ideas are stable anchors and which are migrating to the frontier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13232" y="2935224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5" name="Text 33"/>
          <p:cNvSpPr/>
          <p:nvPr/>
        </p:nvSpPr>
        <p:spPr>
          <a:xfrm>
            <a:off x="713232" y="2935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188720" y="2916936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Human–AI collaboration can produce research-grade software in days, not months — Claude's claim; Paul remains healthily sceptical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13232" y="3557016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3557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188720" y="3538728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CyberneticsNLP (research) and CyberneticsAR (product development) are deliberately kept separate: different goals, different governance, no reverse dependencies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13232" y="4178808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4178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188720" y="416052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still need humans to keep them honest — the AG2 framework makes that explicit through session-driven, human-mediated decisions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4663440"/>
            <a:ext cx="8229600" cy="36576"/>
          </a:xfrm>
          <a:prstGeom prst="rect">
            <a:avLst/>
          </a:prstGeom>
          <a:solidFill>
            <a:srgbClr val="0D9488">
              <a:alpha val="60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47548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github.com/cyberneticbookshelf-stack/cyberneticsNLP  ·  paul.wong@anu.edu.au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Informetrics of Cybernetics</dc:title>
  <dc:subject>PptxGenJS Presentation</dc:subject>
  <dc:creator>Paul Wong</dc:creator>
  <cp:lastModifiedBy>Paul Wong</cp:lastModifiedBy>
  <cp:revision>4</cp:revision>
  <dcterms:created xsi:type="dcterms:W3CDTF">2026-03-30T04:43:47Z</dcterms:created>
  <dcterms:modified xsi:type="dcterms:W3CDTF">2026-03-30T12:05:30Z</dcterms:modified>
</cp:coreProperties>
</file>