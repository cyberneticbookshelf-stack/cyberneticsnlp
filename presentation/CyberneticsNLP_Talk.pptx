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1828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1828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1828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1828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1828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1828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1828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03520" y="6400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0" y="6400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6400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6400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6400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6400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6400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10972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10972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0972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10972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0972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10972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0" y="10972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15544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0" y="15544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5544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0" y="15544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15544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15544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15544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03520" y="20116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20116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20116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20116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0" y="20116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89520" y="20116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46720" y="2011680"/>
            <a:ext cx="91440" cy="9144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1188720"/>
            <a:ext cx="82296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1188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Informetrics of Cybernetics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713232" y="2148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CEF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(or When Nerds Meet Cool Kids)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457200" y="2834640"/>
            <a:ext cx="82296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Wong  ·  School of Cybernetics, ANU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3232" y="3383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Sonnet 4.6 (Anthropic)  ·  Work in Progress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Speaker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926080" cy="384048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Wong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 Wong Man  ·  aka School Fairy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07568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Deviant logician (with pride)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PhD: Automated Reasoning, ANU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77063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Public service → DSTO → ANU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11810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Senior Lecturer, School of Cybernetics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4655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Consultant: Chief Scientist, DFAT, Qatar Foundation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8130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Playback Theatre practitioner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Experimental / improvised musician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914400"/>
            <a:ext cx="512064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914400"/>
            <a:ext cx="5120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09728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"disobedient · impolite · hyperactive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talkative · inattentive"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1938528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Elementary school report card  (wears this as a badge of honour)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880360"/>
            <a:ext cx="5120640" cy="18745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2880360"/>
            <a:ext cx="5120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29992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Talk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3410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Informetrics?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03320" y="37124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CyberneticsNLP — the pipeline &amp; findings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3320" y="40142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CyberneticsAR — the extension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0332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AI–Human teaming as a research agenda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Informetrics?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2412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Informetrics is the statistical and quantitative analysis of information-theoretic phenomena applied to social processes, knowledge systems, and scholarly activities. It treats information itself as a measurable object of study.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103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Bibliometrics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scholarly practice of attribution through bibliographies — citation analysis, reference patterns, h-index, journal impact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096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cites whom? How do ideas propagate?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517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103120"/>
            <a:ext cx="265176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2103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Scientometrics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63347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study of scientific practice — output, collaboration networks, institutional productivity, field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4096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science evolve as a social enterprise?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51760" cy="2743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103120"/>
            <a:ext cx="2651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2103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Informetrics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63347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topic modelling, network analysis, machine learning — extracting structure from large text corpora at scale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4096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700 cybernetics books look like as a map?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Cybernetic Bookshelf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146304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675+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960120"/>
            <a:ext cx="1920240" cy="146304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005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7,349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606040" y="17556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1920240" cy="146304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05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17556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1954–2025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960120"/>
            <a:ext cx="1920240" cy="146304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005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903720" y="17556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(Calibre)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22402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06040"/>
            <a:ext cx="82296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06040"/>
            <a:ext cx="82296" cy="2240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2491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1940s–60s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works — Wiener, Ashby, Beer, Shannon, McCulloch &amp; Pitts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0954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1960s–70s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cybernetics — von Foerster, Maturana, Varela, Bateson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69417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1950s–90s*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Systems Theory (Bertalanffy 1950s+), management cybernetics, biosemiotics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17880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1990s–now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enactivism, digital humanities, ANU School of Cybernetics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GST dates from the 1950s; corpus coverage of that period may be incomplete.  Findings are provisional — the collection is not exhaustive.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We Trying to Find Out?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87552"/>
            <a:ext cx="82296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1521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09728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major intellectual ideas within cybernetics?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16368" y="1188720"/>
            <a:ext cx="1005840" cy="301752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1887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92224"/>
            <a:ext cx="82296" cy="69494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95681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190195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field evolved since the 1950s — who and what has driven change?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16368" y="1993392"/>
            <a:ext cx="1005840" cy="301752"/>
          </a:xfrm>
          <a:prstGeom prst="rect">
            <a:avLst/>
          </a:prstGeom>
          <a:solidFill>
            <a:srgbClr val="1D4ED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516368" y="199339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27614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270662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concepts and persons are most central across the literature?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16368" y="2798064"/>
            <a:ext cx="1005840" cy="30175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516368" y="27980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822960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01568"/>
            <a:ext cx="82296" cy="694944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35661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51129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key terms migrate between subdisciplines over time?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16368" y="3602736"/>
            <a:ext cx="1005840" cy="301752"/>
          </a:xfrm>
          <a:prstGeom prst="rect">
            <a:avLst/>
          </a:prstGeom>
          <a:solidFill>
            <a:srgbClr val="DB2777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516368" y="360273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206240"/>
            <a:ext cx="82296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" y="43708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5568" y="431596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AI-human teaming look like in practice for research?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16368" y="4407408"/>
            <a:ext cx="1005840" cy="301752"/>
          </a:xfrm>
          <a:prstGeom prst="rect">
            <a:avLst/>
          </a:prstGeom>
          <a:solidFill>
            <a:srgbClr val="EA580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516368" y="440740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7220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16002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Collaboration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4440" y="24688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 co-authorship — what it looks like in practice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Did What?  (CRediT Taxonomy)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566160"/>
        </p:xfrm>
        <a:graphic>
          <a:graphicData uri="http://schemas.openxmlformats.org/drawingml/2006/table">
            <a:tbl>
              <a:tblPr/>
              <a:tblGrid>
                <a:gridCol w="3931920"/>
                <a:gridCol w="2148840"/>
                <a:gridCol w="214884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 Wong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expertise (cybernetics)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 (26 pipeline scripts)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Supporting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curation (corpus assembly)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Supporting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 (1,600+ lines)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Supporting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 &amp; Project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Lead  ·  ◆ Supporting  ·  — Not involved     |     Taxonomy proposed by Claude, reviewed and modified by Paul — expected to evolve as the work continues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CyberneticsNLP — 5 Sessions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304288"/>
            <a:ext cx="8046720" cy="54864"/>
          </a:xfrm>
          <a:prstGeom prst="rect">
            <a:avLst/>
          </a:prstGeom>
          <a:solidFill>
            <a:srgbClr val="0D9488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166420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993392"/>
            <a:ext cx="658368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v0.1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9536" y="2203704"/>
            <a:ext cx="347472" cy="347472"/>
          </a:xfrm>
          <a:prstGeom prst="ellipse">
            <a:avLst/>
          </a:prstGeom>
          <a:solidFill>
            <a:srgbClr val="1B2E4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697480"/>
            <a:ext cx="1508760" cy="2057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2697480"/>
            <a:ext cx="1508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28346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ingestion,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LDA/NMF topics,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76272" y="166420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21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59152" y="1993392"/>
            <a:ext cx="658368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359152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v0.2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23744" y="2203704"/>
            <a:ext cx="347472" cy="347472"/>
          </a:xfrm>
          <a:prstGeom prst="ellipse">
            <a:avLst/>
          </a:prstGeom>
          <a:solidFill>
            <a:srgbClr val="1B2E4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697480"/>
            <a:ext cx="1508760" cy="2057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2697480"/>
            <a:ext cx="1508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8346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grounding,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velocity,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comparison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0" y="166420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1993392"/>
            <a:ext cx="658368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v0.3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87952" y="2203704"/>
            <a:ext cx="347472" cy="347472"/>
          </a:xfrm>
          <a:prstGeom prst="ellipse">
            <a:avLst/>
          </a:prstGeom>
          <a:solidFill>
            <a:srgbClr val="1B2E4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7328" y="2697480"/>
            <a:ext cx="1508760" cy="2057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67328" y="2697480"/>
            <a:ext cx="1508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8346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network,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classifier,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04688" y="166420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27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87568" y="1993392"/>
            <a:ext cx="658368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687568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v0.4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2203704"/>
            <a:ext cx="347472" cy="347472"/>
          </a:xfrm>
          <a:prstGeom prst="ellipse">
            <a:avLst/>
          </a:prstGeom>
          <a:solidFill>
            <a:srgbClr val="1B2E4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31536" y="2697480"/>
            <a:ext cx="1508760" cy="2057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31536" y="2697480"/>
            <a:ext cx="1508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504688" y="28346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NER corrections,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 name-merge rules,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 layouts,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rewrite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68896" y="166420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30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51776" y="1993392"/>
            <a:ext cx="65836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51776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v0.5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16368" y="2203704"/>
            <a:ext cx="347472" cy="347472"/>
          </a:xfrm>
          <a:prstGeom prst="ellipse">
            <a:avLst/>
          </a:prstGeom>
          <a:solidFill>
            <a:srgbClr val="1B2E4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95744" y="2697480"/>
            <a:ext cx="1508760" cy="2057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95744" y="2697480"/>
            <a:ext cx="1508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168896" y="28346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preparation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session):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deck, PDF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extracts, AG2 review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pipeline scripts  ·  1,600+ line methodology doc  ·  900+ line decision log  ·  15 regression tests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7220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16002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4440" y="24688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15-step reproducible NLP architecture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914400"/>
            <a:ext cx="1261872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9144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316736"/>
            <a:ext cx="17373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819656" y="914400"/>
            <a:ext cx="1261872" cy="86868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19656" y="9144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81528" y="1316736"/>
            <a:ext cx="17373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3255264" y="914400"/>
            <a:ext cx="1261872" cy="86868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55264" y="9144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7136" y="1316736"/>
            <a:ext cx="17373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0872" y="914400"/>
            <a:ext cx="1261872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9144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52744" y="1316736"/>
            <a:ext cx="17373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914400"/>
            <a:ext cx="1261872" cy="868680"/>
          </a:xfrm>
          <a:prstGeom prst="rect">
            <a:avLst/>
          </a:prstGeom>
          <a:solidFill>
            <a:srgbClr val="DB2777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9144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Velocity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88352" y="1316736"/>
            <a:ext cx="17373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7562088" y="914400"/>
            <a:ext cx="1261872" cy="86868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62088" y="9144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993392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0482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0–2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204825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Cleaning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04825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CSV parse · state-machine boilerplate removal · Hunspell + regex filtering · 7–16% token removal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514600"/>
            <a:ext cx="8229600" cy="475488"/>
          </a:xfrm>
          <a:prstGeom prst="rect">
            <a:avLst/>
          </a:prstGeom>
          <a:solidFill>
            <a:srgbClr val="ED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56946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2569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256946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(7 topics, book-level, TF-IDF 3 000 features) · NMF (6 topics, chapter-level) · seed 99, stable across 4 seeds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035808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906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00200" y="3090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Summaries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30906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· 675 books · ~$25–35 · fully resumable · verbatim similarity checking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557016"/>
            <a:ext cx="8229600" cy="475488"/>
          </a:xfrm>
          <a:prstGeom prst="rect">
            <a:avLst/>
          </a:prstGeom>
          <a:solidFill>
            <a:srgbClr val="ED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118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9–12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0020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&amp; Grounding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3611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term extraction · 262 person-name merge rules · lift scores · concept density scatter · concept velocity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78224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1330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14–15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00200" y="41330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Network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49040" y="41330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NER: heuristics → spaCy → Wikidata · PMI × reliability edges · 4 node kinds · 4 graph layouts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Modelling — LDA &amp; NMF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77640" cy="3931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3977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Book-Level  ·  LDA  ·  7 Topics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3167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Dirichlet Allocation — probabilistic model that treats each document as a mixture of topics, discovering word co-occurrence patterns across the full corpus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TF-IDF · 3,000 features · 4+ char tokens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 topics selected via coherence + interpretability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27355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Topic names: API-proposed, Paul reviewed — further automation planned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Tested across 4 random seeds — additional seeds needed to validate stability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3977640" cy="3931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68680"/>
            <a:ext cx="397764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Chapter-Level  ·  NMF  ·  6 Topics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3167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Matrix Factorisation — parts-based decomposition of a term matrix; tends to produce more focused, distinct topics than LDA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Input: abstractive summaries (not raw text)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6060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 topics vs 7 (LDA): summaries are shorter &amp; denser; fewer latent dimensions emerge naturally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327355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Runs independently of book-level pipeline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941064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Chapter-level clustering analysed separately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stability across seeds is promising but requires further validation  ·  More automated naming approaches are under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7220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16002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4440" y="24688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corpus reveals about the cybernetics intellectual landscape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Intellectual Map — 7 LDA Topics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names: Claude inspected the top-20 words per topic and proposed labels; Paul reviewed and accepted or modified each. This is a provisional naming — more automated approaches are under development.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069080" cy="758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73152" cy="7589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07008"/>
            <a:ext cx="347472" cy="2468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0700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Social Experience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" y="15727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· media · technology · social · cybernetic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4069080" cy="758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9968"/>
            <a:ext cx="73152" cy="7589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21408"/>
            <a:ext cx="347472" cy="2468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2140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20848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&amp; Formal Systems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24871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· machine · mathematical · computer · 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4069080" cy="758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44368"/>
            <a:ext cx="73152" cy="7589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035808"/>
            <a:ext cx="347472" cy="2468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3580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29992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Systems Theory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24128" y="34015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· cybernetics · social · management · design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4069080" cy="758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58768"/>
            <a:ext cx="73152" cy="7589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950208"/>
            <a:ext cx="347472" cy="2468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95020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4128" y="39136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Philosophy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4128" y="43159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· human · theory · life · knowledge · philosophy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115568"/>
            <a:ext cx="4069080" cy="10515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115568"/>
            <a:ext cx="73152" cy="10515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1207008"/>
            <a:ext cx="347472" cy="246888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20700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76088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2nd-Order Cybernetics &amp; Bateson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76088" y="15727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bateson · communication · living · order · self · reality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331720"/>
            <a:ext cx="4069080" cy="10515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31720"/>
            <a:ext cx="73152" cy="1051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2423160"/>
            <a:ext cx="347472" cy="2468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42316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76088" y="238658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Theory &amp; Engineering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76088" y="27889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systems · behavior · feedback · model · function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547872"/>
            <a:ext cx="4069080" cy="10515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547872"/>
            <a:ext cx="73152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3639312"/>
            <a:ext cx="347472" cy="2468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63931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76088" y="36027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&amp; Applied Cybernetics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276088" y="400507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world · human · life · make · years · think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Field Has Evolved: 1954–2025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69080" cy="17373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06908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Era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 – 1960s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3560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theory, cybernetics, information theory born simultaneously. Wiener, Ashby, Shannon, Beer. The Macy Conferences unite biologists, engineers, and mathematicians.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4140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Dominant: T2 Mathematical · T6 Control Theory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69080" cy="17373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069080" cy="4389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6012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Wave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 – 1970s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43560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Foerster, Maturana &amp; Varela (autopoiesis), Bateson. Cybernetics turns on itself — the observer enters the system. Biology and philosophy intersect.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4140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Dominant: T5 2nd-Order · T4 History &amp; Philosophy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69080" cy="17373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406908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8036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&amp; Specialisation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 – 1990s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5584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splits into management cybernetics, biosemiotics, AI, complexity. VSM (Beer), Luhmann's social systems theory. Smaller but denser publishing.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3342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Dominant: T3 Systems Theory · T6 Control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069080" cy="17373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80360"/>
            <a:ext cx="4069080" cy="43891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88036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Revival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 – 2025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5584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science, enactivism, digital humanities, ANU School of Cybernetics. Largest publication volume. New voices, interdisciplinary reach.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43342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Dominant: T1 Human &amp; Social · T7 Popular &amp; Applied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Velocity: How Terms Migrate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33272"/>
            <a:ext cx="114300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Anchor Terms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024128"/>
            <a:ext cx="6629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pervasive — present across all topics and all decades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feedback  ·  system  ·  control  ·  information  ·  communication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density, low lift — define the field's shared vocabulary but don't discriminate between traditions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11887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04288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377440"/>
            <a:ext cx="114300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774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Signal Terms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368296"/>
            <a:ext cx="6629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discriminating — strongly associated with one tradition only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2734056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autopoiesis  ·  schismogenesis  ·  eigenform  ·  requisite variety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00837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lift within one topic — reveal the unique conceptual DNA of each intellectual tradition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8229600" cy="11887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48456"/>
            <a:ext cx="73152" cy="1188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721608"/>
            <a:ext cx="114300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7216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Frontier Terms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3712464"/>
            <a:ext cx="6629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ideas showing movement and migration across topics over time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4078224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resilience  ·  complexity  ·  emergence  ·  embodiment  ·  enactivism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35254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&gt; 0 across decades — track where the field is expanding and evolving next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in Chart 7 of the time series report (book_nlp_timeseries.html)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Entity Relational Network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65960" cy="150876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" y="146304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· Ashby · Bateson · Beer · von Foerster · Maturana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33472" y="914400"/>
            <a:ext cx="1965960" cy="15087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33472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06624" y="146304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· autopoiesis · requisite variety · entropy · homeostasis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9744" y="914400"/>
            <a:ext cx="1965960" cy="15087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9744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82896" y="146304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Macy Foundation · Tavistock Institute · Bell Labs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86016" y="914400"/>
            <a:ext cx="1965960" cy="150876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86016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9168" y="146304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· Princeton · Palo Alto · New York · London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22402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06040"/>
            <a:ext cx="82296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06040"/>
            <a:ext cx="73152" cy="2240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88336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Edges &amp; Classification 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310896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Edge weight: PMI × reliability — book-level co-occurrence adjusted for entity frequency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438144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3-stage NER pipeline: heuristics → spaCy en_core_web_sm → Wikidata REST API (2 req/s, cached permanently)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76732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121 post-audit manual overrides — e.g. 'stelarc' → person, 'digital' → concept, 'whole earth catalog' → suppress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09651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 graph layouts selectable in the UI: Force-directed · Radial · Bipartite · Circular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425696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Node-kind toggles + degree percentile filter (p75/p90/p95/p99) in the interactive report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7220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16002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CyberneticsAR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4440" y="24688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— federated AI agents meet augmented reality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CyberneticsAR — What Is It?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CyberneticsNLP: a team of federated AI agents — each contributing distinct capabilities — collaborates to produce an Augmented Reality experience grounded in the analytical insights from the NLP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93392"/>
            <a:ext cx="1554480" cy="2606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93392"/>
            <a:ext cx="15544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93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7432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analysis, reasoning, documentation, code generation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93976" y="1993392"/>
            <a:ext cx="1554480" cy="2606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93976" y="1993392"/>
            <a:ext cx="1554480" cy="3840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2139696" y="1993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9696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57984" y="27432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analysis, multilingual corpus support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76472" y="1993392"/>
            <a:ext cx="1554480" cy="2606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76472" y="1993392"/>
            <a:ext cx="155448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3822192" y="1993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22192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27432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— integrating text, images, and visual 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58968" y="1993392"/>
            <a:ext cx="1554480" cy="2606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58968" y="1993392"/>
            <a:ext cx="1554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504688" y="1993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4688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22976" y="27432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scaffolding, repository management, PR review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41464" y="1993392"/>
            <a:ext cx="1554480" cy="2606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41464" y="1993392"/>
            <a:ext cx="1554480" cy="3840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7187184" y="1993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365 Copilot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87184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05472" y="27432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workflow, integration with research artefacts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brings distinct strengths — together they form a federated team for complex research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AI–Human Teaming — The Meta-Perspective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3931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77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Projects — Different Purposes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CyberneticsNLP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— understanding an intellectual field through its literature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4942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CyberneticsAR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0545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Service/product development — building AI-assisted tools for active 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is deliberate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735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goals, different governance, no reverse dependencies between them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856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generate meta-data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0416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logs, CRediT records, overrides — data about AI–human teaming itself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023360" cy="393192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481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human direct vs. delegate? What tasks are AI-inappropriate?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139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95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verify AI-generated code, analysis, or decisions at scale?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798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054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26 scripts are Claude's code, whose intellectual property is it?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456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dynamics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712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agents on one project — how do they coordinate without conflict?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4114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4370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another team reproduce AI-assisted research without the same AI?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7220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27432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77724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1280160"/>
            <a:ext cx="128016" cy="128016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16002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Reflections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4440" y="24688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C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surprised us, and what's next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 · What Surprised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3931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77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What Worked Well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7033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Speed: full 15-step pipeline in 4 sessions — ~1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37033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Code quality: 15 regression tests, integrity checker, resumable at every step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37033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Documentation: methodology, decisions, changelog — all written by Claude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37033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Domain adaptation: cybernetics whitelist, 262 name-merge rules, NER audit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4041648"/>
            <a:ext cx="37033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Iterative co-design: Paul shaped questions; Claude coded answers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023360" cy="393192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  Surprises &amp; Limitations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481328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Entity classifier needed 121 manual overrides after automated passes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121408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OCR line-break hyphens ('feed-\nback') were a significant noise source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2761488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Topic stability held across 4 random seeds — unexpectedly robust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3401568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Wikidata API added genuine disambiguation for ambiguous names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4041648"/>
            <a:ext cx="374904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17 API summaries failed verbatim-similarity checks — needed regeneration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931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filter entity noise (OCR artefacts, suffix fragments)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396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validation: rerun LDA/NMF across more random seeds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17 missing summaries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spaCy + Wikidata entity pass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914400"/>
            <a:ext cx="2651760" cy="3931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914400"/>
            <a:ext cx="2651760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9144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14813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theses corpus: same pipeline on ~1,300 cybernetics dissertations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21396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analysis (conferences, milestones)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79806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Co-citation network from bibliographies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34564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entity analysis across decades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914400"/>
            <a:ext cx="2651760" cy="3931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914400"/>
            <a:ext cx="265176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9144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Publication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2784" y="14813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Mapping the Cybernetics Intellectual Landscape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21396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Kybernetes · DHQ · Systems Research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279806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DOI deposit + GitHub v1.0 release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34564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CyberneticsAR extension continues in parallel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22860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22860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22860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22860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22860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22860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73152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73152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73152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73152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23760" y="73152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0" y="73152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23444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23444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23444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123444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223760" y="123444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0" y="123444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173736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173736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73736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173736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173736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0" y="1737360"/>
            <a:ext cx="109728" cy="109728"/>
          </a:xfrm>
          <a:prstGeom prst="ellipse">
            <a:avLst/>
          </a:prstGeom>
          <a:solidFill>
            <a:srgbClr val="0D9488">
              <a:alpha val="3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1005840"/>
            <a:ext cx="82296" cy="3108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1005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713232" y="16916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16733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Cybernetics is an evolving intellectual tradition and practice, with different thematic emphases across time and application domains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" y="231343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88720" y="229514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velocity reveals which ideas are stable anchors and which are migrating to the frontier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" y="293522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291693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Human–AI collaboration can produce research-grade software in days, not months — Claude's claim; Paul remains healthily sceptical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3232" y="355701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88720" y="353872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CyberneticsNLP (research) and CyberneticsAR (product development) are deliberately kept separate: different goals, different governance, no reverse dependencies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3232" y="417880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88720" y="41605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still need humans to keep them honest — the AG2 framework makes that explicit through session-driven, human-mediated decisions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548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github.com/cyberneticbookshelf-stack/cyberneticsNLP  ·  paul.wong@anu.edu.au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Informetrics of Cybernetics</dc:title>
  <dc:subject>PptxGenJS Presentation</dc:subject>
  <dc:creator>Paul Wong</dc:creator>
  <cp:lastModifiedBy>Paul Wong</cp:lastModifiedBy>
  <cp:revision>1</cp:revision>
  <dcterms:created xsi:type="dcterms:W3CDTF">2026-03-30T04:43:47Z</dcterms:created>
  <dcterms:modified xsi:type="dcterms:W3CDTF">2026-03-30T04:43:47Z</dcterms:modified>
</cp:coreProperties>
</file>